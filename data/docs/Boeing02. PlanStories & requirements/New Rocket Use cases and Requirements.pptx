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98" r:id="rId5"/>
  </p:sldMasterIdLst>
  <p:notesMasterIdLst>
    <p:notesMasterId r:id="rId13"/>
  </p:notesMasterIdLst>
  <p:handoutMasterIdLst>
    <p:handoutMasterId r:id="rId14"/>
  </p:handoutMasterIdLst>
  <p:sldIdLst>
    <p:sldId id="267" r:id="rId6"/>
    <p:sldId id="289" r:id="rId7"/>
    <p:sldId id="2147483562" r:id="rId8"/>
    <p:sldId id="2147483566" r:id="rId9"/>
    <p:sldId id="2147483565" r:id="rId10"/>
    <p:sldId id="2147483563" r:id="rId11"/>
    <p:sldId id="2147483564" r:id="rId12"/>
  </p:sldIdLst>
  <p:sldSz cx="12192000" cy="6858000"/>
  <p:notesSz cx="6858000" cy="9144000"/>
  <p:embeddedFontLst>
    <p:embeddedFont>
      <p:font typeface="BoeingMeso-Regula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0B1"/>
    <a:srgbClr val="BABABA"/>
    <a:srgbClr val="2D2D2D"/>
    <a:srgbClr val="262626"/>
    <a:srgbClr val="2A2A27"/>
    <a:srgbClr val="31302D"/>
    <a:srgbClr val="292826"/>
    <a:srgbClr val="ECECEC"/>
    <a:srgbClr val="E3E3E3"/>
    <a:srgbClr val="DBD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 Sriram" userId="S::venkatesh.sriram@newrocket.com::ee95f15c-1513-487c-948e-0cee7473830b" providerId="AD" clId="Web-{7022E39C-651F-686D-7FAE-D2517D9EB58C}"/>
    <pc:docChg chg="mod">
      <pc:chgData name="Venkatesh Sriram" userId="S::venkatesh.sriram@newrocket.com::ee95f15c-1513-487c-948e-0cee7473830b" providerId="AD" clId="Web-{7022E39C-651F-686D-7FAE-D2517D9EB58C}" dt="2026-02-19T12:59:18.652" v="0" actId="33475"/>
      <pc:docMkLst>
        <pc:docMk/>
      </pc:docMkLst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04C32C-6EF5-4182-BDEF-AA45FF00FC9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10FCD95-53F7-4D00-8E30-E027BD0A4C37}">
      <dgm:prSet phldrT="[Text]"/>
      <dgm:spPr/>
      <dgm:t>
        <a:bodyPr/>
        <a:lstStyle/>
        <a:p>
          <a:pPr>
            <a:defRPr b="1"/>
          </a:pPr>
          <a:r>
            <a:rPr lang="en-US"/>
            <a:t>End User Engagement </a:t>
          </a:r>
        </a:p>
      </dgm:t>
    </dgm:pt>
    <dgm:pt modelId="{2B5C8077-BC2D-4F2E-B048-46F005FCBFA2}" type="parTrans" cxnId="{3C8F083B-9507-4082-A1AA-28F03B5EF739}">
      <dgm:prSet/>
      <dgm:spPr/>
      <dgm:t>
        <a:bodyPr/>
        <a:lstStyle/>
        <a:p>
          <a:endParaRPr lang="en-US"/>
        </a:p>
      </dgm:t>
    </dgm:pt>
    <dgm:pt modelId="{8EE1BF04-BC86-473A-9166-B9E22D080F89}" type="sibTrans" cxnId="{3C8F083B-9507-4082-A1AA-28F03B5EF739}">
      <dgm:prSet/>
      <dgm:spPr/>
      <dgm:t>
        <a:bodyPr/>
        <a:lstStyle/>
        <a:p>
          <a:endParaRPr lang="en-US"/>
        </a:p>
      </dgm:t>
    </dgm:pt>
    <dgm:pt modelId="{ADADE36B-7205-453F-8BA4-298B244D6BD7}">
      <dgm:prSet/>
      <dgm:spPr/>
      <dgm:t>
        <a:bodyPr/>
        <a:lstStyle/>
        <a:p>
          <a:r>
            <a:rPr lang="en-US"/>
            <a:t>Chatbot interface</a:t>
          </a:r>
        </a:p>
      </dgm:t>
    </dgm:pt>
    <dgm:pt modelId="{A40343C2-B49F-471F-AA51-67937D6A06D5}" type="parTrans" cxnId="{02A84223-349C-4B9B-9804-97BBD32EFB84}">
      <dgm:prSet/>
      <dgm:spPr/>
      <dgm:t>
        <a:bodyPr/>
        <a:lstStyle/>
        <a:p>
          <a:endParaRPr lang="en-US"/>
        </a:p>
      </dgm:t>
    </dgm:pt>
    <dgm:pt modelId="{0A453348-46B5-4E63-90F4-1A6791953853}" type="sibTrans" cxnId="{02A84223-349C-4B9B-9804-97BBD32EFB84}">
      <dgm:prSet/>
      <dgm:spPr/>
      <dgm:t>
        <a:bodyPr/>
        <a:lstStyle/>
        <a:p>
          <a:endParaRPr lang="en-US"/>
        </a:p>
      </dgm:t>
    </dgm:pt>
    <dgm:pt modelId="{C991A4FB-0385-43F0-B9E7-84C96D817DD4}">
      <dgm:prSet/>
      <dgm:spPr/>
      <dgm:t>
        <a:bodyPr/>
        <a:lstStyle/>
        <a:p>
          <a:r>
            <a:rPr lang="en-US"/>
            <a:t>Guided ticket submission</a:t>
          </a:r>
        </a:p>
      </dgm:t>
    </dgm:pt>
    <dgm:pt modelId="{93448AAE-A51A-4D26-B3B1-D594F296375F}" type="parTrans" cxnId="{E7540764-2C19-4792-947E-D4F1F7E6902E}">
      <dgm:prSet/>
      <dgm:spPr/>
      <dgm:t>
        <a:bodyPr/>
        <a:lstStyle/>
        <a:p>
          <a:endParaRPr lang="en-US"/>
        </a:p>
      </dgm:t>
    </dgm:pt>
    <dgm:pt modelId="{09878964-1E82-4E8F-9664-1D69B8435D19}" type="sibTrans" cxnId="{E7540764-2C19-4792-947E-D4F1F7E6902E}">
      <dgm:prSet/>
      <dgm:spPr/>
      <dgm:t>
        <a:bodyPr/>
        <a:lstStyle/>
        <a:p>
          <a:endParaRPr lang="en-US"/>
        </a:p>
      </dgm:t>
    </dgm:pt>
    <dgm:pt modelId="{49E4AFCA-8FD6-4F60-AC16-DDF92461F82B}">
      <dgm:prSet/>
      <dgm:spPr/>
      <dgm:t>
        <a:bodyPr/>
        <a:lstStyle/>
        <a:p>
          <a:r>
            <a:rPr lang="en-US"/>
            <a:t>Guided Q&amp;A</a:t>
          </a:r>
        </a:p>
      </dgm:t>
    </dgm:pt>
    <dgm:pt modelId="{F8326746-7511-400B-ADB0-A68AC678DE6D}" type="parTrans" cxnId="{01D19FE1-B74D-4F80-87D7-1630D5EE95E0}">
      <dgm:prSet/>
      <dgm:spPr/>
      <dgm:t>
        <a:bodyPr/>
        <a:lstStyle/>
        <a:p>
          <a:endParaRPr lang="en-US"/>
        </a:p>
      </dgm:t>
    </dgm:pt>
    <dgm:pt modelId="{6028CEAC-8514-411A-AAA8-C90D824D25EA}" type="sibTrans" cxnId="{01D19FE1-B74D-4F80-87D7-1630D5EE95E0}">
      <dgm:prSet/>
      <dgm:spPr/>
      <dgm:t>
        <a:bodyPr/>
        <a:lstStyle/>
        <a:p>
          <a:endParaRPr lang="en-US"/>
        </a:p>
      </dgm:t>
    </dgm:pt>
    <dgm:pt modelId="{CB359DEC-CB6C-4E9F-A8BC-11704326B55C}">
      <dgm:prSet/>
      <dgm:spPr/>
      <dgm:t>
        <a:bodyPr/>
        <a:lstStyle/>
        <a:p>
          <a:r>
            <a:rPr lang="en-US">
              <a:highlight>
                <a:srgbClr val="FFFF00"/>
              </a:highlight>
            </a:rPr>
            <a:t>Proactive Communication </a:t>
          </a:r>
        </a:p>
      </dgm:t>
    </dgm:pt>
    <dgm:pt modelId="{E4A38B3E-DE54-4EEF-B3E8-1C87AC98FFF4}" type="parTrans" cxnId="{38B8CD29-9DC6-47E6-B975-6655187BC4C2}">
      <dgm:prSet/>
      <dgm:spPr/>
      <dgm:t>
        <a:bodyPr/>
        <a:lstStyle/>
        <a:p>
          <a:endParaRPr lang="en-US"/>
        </a:p>
      </dgm:t>
    </dgm:pt>
    <dgm:pt modelId="{6A8837DF-F017-4121-9BF7-0F512C3799B9}" type="sibTrans" cxnId="{38B8CD29-9DC6-47E6-B975-6655187BC4C2}">
      <dgm:prSet/>
      <dgm:spPr/>
      <dgm:t>
        <a:bodyPr/>
        <a:lstStyle/>
        <a:p>
          <a:endParaRPr lang="en-US"/>
        </a:p>
      </dgm:t>
    </dgm:pt>
    <dgm:pt modelId="{82309D14-11EA-40C3-ABD2-11FA96432733}">
      <dgm:prSet/>
      <dgm:spPr/>
      <dgm:t>
        <a:bodyPr/>
        <a:lstStyle/>
        <a:p>
          <a:pPr>
            <a:defRPr b="1"/>
          </a:pPr>
          <a:r>
            <a:rPr lang="en-US"/>
            <a:t>Agent Efficiencies</a:t>
          </a:r>
        </a:p>
      </dgm:t>
    </dgm:pt>
    <dgm:pt modelId="{49736344-A968-4478-BC2D-C954693B7C60}" type="parTrans" cxnId="{2642C677-2976-48AB-8385-510D299BDD38}">
      <dgm:prSet/>
      <dgm:spPr/>
      <dgm:t>
        <a:bodyPr/>
        <a:lstStyle/>
        <a:p>
          <a:endParaRPr lang="en-US"/>
        </a:p>
      </dgm:t>
    </dgm:pt>
    <dgm:pt modelId="{0F187DFD-89E6-44A0-B8C6-4B72E3F201B0}" type="sibTrans" cxnId="{2642C677-2976-48AB-8385-510D299BDD38}">
      <dgm:prSet/>
      <dgm:spPr/>
      <dgm:t>
        <a:bodyPr/>
        <a:lstStyle/>
        <a:p>
          <a:endParaRPr lang="en-US"/>
        </a:p>
      </dgm:t>
    </dgm:pt>
    <dgm:pt modelId="{4A115D61-55CE-4684-A938-5B3661872855}">
      <dgm:prSet/>
      <dgm:spPr/>
      <dgm:t>
        <a:bodyPr/>
        <a:lstStyle/>
        <a:p>
          <a:r>
            <a:rPr lang="en-US">
              <a:highlight>
                <a:srgbClr val="FFFF00"/>
              </a:highlight>
            </a:rPr>
            <a:t>Summarization</a:t>
          </a:r>
        </a:p>
      </dgm:t>
    </dgm:pt>
    <dgm:pt modelId="{358A3C95-6A8A-4FE9-841C-A39E77264211}" type="parTrans" cxnId="{6E33BC26-DF6E-4D18-8FE5-02377B5F6E47}">
      <dgm:prSet/>
      <dgm:spPr/>
      <dgm:t>
        <a:bodyPr/>
        <a:lstStyle/>
        <a:p>
          <a:endParaRPr lang="en-US"/>
        </a:p>
      </dgm:t>
    </dgm:pt>
    <dgm:pt modelId="{35341815-57F2-4338-87D7-A5C963F13988}" type="sibTrans" cxnId="{6E33BC26-DF6E-4D18-8FE5-02377B5F6E47}">
      <dgm:prSet/>
      <dgm:spPr/>
      <dgm:t>
        <a:bodyPr/>
        <a:lstStyle/>
        <a:p>
          <a:endParaRPr lang="en-US"/>
        </a:p>
      </dgm:t>
    </dgm:pt>
    <dgm:pt modelId="{4FADD08C-BE6E-4619-8AAF-EB63E54A554C}">
      <dgm:prSet/>
      <dgm:spPr/>
      <dgm:t>
        <a:bodyPr/>
        <a:lstStyle/>
        <a:p>
          <a:r>
            <a:rPr lang="en-US">
              <a:highlight>
                <a:srgbClr val="FFFF00"/>
              </a:highlight>
            </a:rPr>
            <a:t>Response recommendations</a:t>
          </a:r>
        </a:p>
      </dgm:t>
    </dgm:pt>
    <dgm:pt modelId="{482F1972-EA07-4427-B0DA-C1BD9AAB9B3B}" type="parTrans" cxnId="{334C87F6-A86A-45FD-A985-1C1705D5DBE2}">
      <dgm:prSet/>
      <dgm:spPr/>
      <dgm:t>
        <a:bodyPr/>
        <a:lstStyle/>
        <a:p>
          <a:endParaRPr lang="en-US"/>
        </a:p>
      </dgm:t>
    </dgm:pt>
    <dgm:pt modelId="{B10F3903-84C6-4924-B3EE-F0A921A5292B}" type="sibTrans" cxnId="{334C87F6-A86A-45FD-A985-1C1705D5DBE2}">
      <dgm:prSet/>
      <dgm:spPr/>
      <dgm:t>
        <a:bodyPr/>
        <a:lstStyle/>
        <a:p>
          <a:endParaRPr lang="en-US"/>
        </a:p>
      </dgm:t>
    </dgm:pt>
    <dgm:pt modelId="{27AF460D-406C-4970-A5C4-0AE112749A67}">
      <dgm:prSet/>
      <dgm:spPr/>
      <dgm:t>
        <a:bodyPr/>
        <a:lstStyle/>
        <a:p>
          <a:r>
            <a:rPr lang="en-US">
              <a:highlight>
                <a:srgbClr val="FFFF00"/>
              </a:highlight>
            </a:rPr>
            <a:t>Closure </a:t>
          </a:r>
        </a:p>
      </dgm:t>
    </dgm:pt>
    <dgm:pt modelId="{8F0EFC7B-45DC-4700-B2A2-734E1599CDFD}" type="parTrans" cxnId="{3AE4BDA8-1F6D-437A-AD92-169317C6DDAA}">
      <dgm:prSet/>
      <dgm:spPr/>
      <dgm:t>
        <a:bodyPr/>
        <a:lstStyle/>
        <a:p>
          <a:endParaRPr lang="en-US"/>
        </a:p>
      </dgm:t>
    </dgm:pt>
    <dgm:pt modelId="{D66A9A26-0BD4-4E44-992C-5F61B061B786}" type="sibTrans" cxnId="{3AE4BDA8-1F6D-437A-AD92-169317C6DDAA}">
      <dgm:prSet/>
      <dgm:spPr/>
      <dgm:t>
        <a:bodyPr/>
        <a:lstStyle/>
        <a:p>
          <a:endParaRPr lang="en-US"/>
        </a:p>
      </dgm:t>
    </dgm:pt>
    <dgm:pt modelId="{E13B146D-58E7-41D4-90D6-DCE9503C02E2}">
      <dgm:prSet/>
      <dgm:spPr/>
      <dgm:t>
        <a:bodyPr/>
        <a:lstStyle/>
        <a:p>
          <a:pPr>
            <a:defRPr b="1"/>
          </a:pPr>
          <a:r>
            <a:rPr lang="en-US"/>
            <a:t>Resolution Efficiency</a:t>
          </a:r>
        </a:p>
      </dgm:t>
    </dgm:pt>
    <dgm:pt modelId="{0D709712-5DF7-4613-817C-6DF894A96B35}" type="parTrans" cxnId="{66A5489A-535D-4251-95EC-413C0C1698EF}">
      <dgm:prSet/>
      <dgm:spPr/>
      <dgm:t>
        <a:bodyPr/>
        <a:lstStyle/>
        <a:p>
          <a:endParaRPr lang="en-US"/>
        </a:p>
      </dgm:t>
    </dgm:pt>
    <dgm:pt modelId="{8F6FD06F-7B65-46DE-807E-67C09C4C4AE2}" type="sibTrans" cxnId="{66A5489A-535D-4251-95EC-413C0C1698EF}">
      <dgm:prSet/>
      <dgm:spPr/>
      <dgm:t>
        <a:bodyPr/>
        <a:lstStyle/>
        <a:p>
          <a:endParaRPr lang="en-US"/>
        </a:p>
      </dgm:t>
    </dgm:pt>
    <dgm:pt modelId="{7416591B-8F0A-442A-A8EC-B4901C966FA7}">
      <dgm:prSet/>
      <dgm:spPr/>
      <dgm:t>
        <a:bodyPr/>
        <a:lstStyle/>
        <a:p>
          <a:r>
            <a:rPr lang="en-US">
              <a:highlight>
                <a:srgbClr val="FFFF00"/>
              </a:highlight>
            </a:rPr>
            <a:t>Accurate First time routing </a:t>
          </a:r>
        </a:p>
      </dgm:t>
    </dgm:pt>
    <dgm:pt modelId="{1F254EE0-8462-4F4B-831F-70846C91FC52}" type="parTrans" cxnId="{E9CF15D4-E9C9-4A1D-A325-CCCB7214C35A}">
      <dgm:prSet/>
      <dgm:spPr/>
      <dgm:t>
        <a:bodyPr/>
        <a:lstStyle/>
        <a:p>
          <a:endParaRPr lang="en-US"/>
        </a:p>
      </dgm:t>
    </dgm:pt>
    <dgm:pt modelId="{76475D8E-64F7-41D4-AD38-697B94573CD7}" type="sibTrans" cxnId="{E9CF15D4-E9C9-4A1D-A325-CCCB7214C35A}">
      <dgm:prSet/>
      <dgm:spPr/>
      <dgm:t>
        <a:bodyPr/>
        <a:lstStyle/>
        <a:p>
          <a:endParaRPr lang="en-US"/>
        </a:p>
      </dgm:t>
    </dgm:pt>
    <dgm:pt modelId="{A59A330D-2A48-4CDF-B386-9BD2B4199A31}">
      <dgm:prSet/>
      <dgm:spPr/>
      <dgm:t>
        <a:bodyPr/>
        <a:lstStyle/>
        <a:p>
          <a:r>
            <a:rPr lang="en-US">
              <a:highlight>
                <a:srgbClr val="FFFF00"/>
              </a:highlight>
            </a:rPr>
            <a:t>Triage / Diagnosis</a:t>
          </a:r>
        </a:p>
      </dgm:t>
    </dgm:pt>
    <dgm:pt modelId="{1CE3BAA6-09A0-4EE2-B212-22D1A9BD07C2}" type="parTrans" cxnId="{3A4C0154-3E7D-4A17-9B89-D6AF399F5417}">
      <dgm:prSet/>
      <dgm:spPr/>
      <dgm:t>
        <a:bodyPr/>
        <a:lstStyle/>
        <a:p>
          <a:endParaRPr lang="en-US"/>
        </a:p>
      </dgm:t>
    </dgm:pt>
    <dgm:pt modelId="{02539B27-BF2F-46E4-8BA8-F966EA5F497A}" type="sibTrans" cxnId="{3A4C0154-3E7D-4A17-9B89-D6AF399F5417}">
      <dgm:prSet/>
      <dgm:spPr/>
      <dgm:t>
        <a:bodyPr/>
        <a:lstStyle/>
        <a:p>
          <a:endParaRPr lang="en-US"/>
        </a:p>
      </dgm:t>
    </dgm:pt>
    <dgm:pt modelId="{A997AF49-1F0A-4808-95DC-39B832D75ECB}">
      <dgm:prSet/>
      <dgm:spPr/>
      <dgm:t>
        <a:bodyPr/>
        <a:lstStyle/>
        <a:p>
          <a:r>
            <a:rPr lang="en-US">
              <a:highlight>
                <a:srgbClr val="FFFF00"/>
              </a:highlight>
            </a:rPr>
            <a:t>Resolution automation</a:t>
          </a:r>
        </a:p>
      </dgm:t>
    </dgm:pt>
    <dgm:pt modelId="{DFF8D4A6-09EB-4CB0-A043-7B5AC4800C88}" type="parTrans" cxnId="{EA96A348-B5A6-4EB2-B259-1434D87441BA}">
      <dgm:prSet/>
      <dgm:spPr/>
      <dgm:t>
        <a:bodyPr/>
        <a:lstStyle/>
        <a:p>
          <a:endParaRPr lang="en-US"/>
        </a:p>
      </dgm:t>
    </dgm:pt>
    <dgm:pt modelId="{5C82CF6F-BD91-4D08-BA13-90D17E4C2367}" type="sibTrans" cxnId="{EA96A348-B5A6-4EB2-B259-1434D87441BA}">
      <dgm:prSet/>
      <dgm:spPr/>
      <dgm:t>
        <a:bodyPr/>
        <a:lstStyle/>
        <a:p>
          <a:endParaRPr lang="en-US"/>
        </a:p>
      </dgm:t>
    </dgm:pt>
    <dgm:pt modelId="{C7DDB165-64E9-4854-8C13-9A4C5712C93A}" type="pres">
      <dgm:prSet presAssocID="{9204C32C-6EF5-4182-BDEF-AA45FF00FC90}" presName="root" presStyleCnt="0">
        <dgm:presLayoutVars>
          <dgm:dir/>
          <dgm:resizeHandles val="exact"/>
        </dgm:presLayoutVars>
      </dgm:prSet>
      <dgm:spPr/>
    </dgm:pt>
    <dgm:pt modelId="{8EA6D26D-1924-47FD-B17F-6C02C3D3665E}" type="pres">
      <dgm:prSet presAssocID="{310FCD95-53F7-4D00-8E30-E027BD0A4C37}" presName="compNode" presStyleCnt="0"/>
      <dgm:spPr/>
    </dgm:pt>
    <dgm:pt modelId="{93E8F8E1-9ECE-4295-9211-55A86C0E078A}" type="pres">
      <dgm:prSet presAssocID="{310FCD95-53F7-4D00-8E30-E027BD0A4C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 with solid fill"/>
        </a:ext>
      </dgm:extLst>
    </dgm:pt>
    <dgm:pt modelId="{E14136F7-AF0B-4E6C-9465-BC8894FA21F4}" type="pres">
      <dgm:prSet presAssocID="{310FCD95-53F7-4D00-8E30-E027BD0A4C37}" presName="iconSpace" presStyleCnt="0"/>
      <dgm:spPr/>
    </dgm:pt>
    <dgm:pt modelId="{EAA2739D-B276-485F-BF10-51582888F54E}" type="pres">
      <dgm:prSet presAssocID="{310FCD95-53F7-4D00-8E30-E027BD0A4C37}" presName="parTx" presStyleLbl="revTx" presStyleIdx="0" presStyleCnt="6">
        <dgm:presLayoutVars>
          <dgm:chMax val="0"/>
          <dgm:chPref val="0"/>
        </dgm:presLayoutVars>
      </dgm:prSet>
      <dgm:spPr/>
    </dgm:pt>
    <dgm:pt modelId="{600B4098-4AA9-40C9-AC47-01C0461640CF}" type="pres">
      <dgm:prSet presAssocID="{310FCD95-53F7-4D00-8E30-E027BD0A4C37}" presName="txSpace" presStyleCnt="0"/>
      <dgm:spPr/>
    </dgm:pt>
    <dgm:pt modelId="{8FC6BC12-620D-4752-8938-E1766C75A270}" type="pres">
      <dgm:prSet presAssocID="{310FCD95-53F7-4D00-8E30-E027BD0A4C37}" presName="desTx" presStyleLbl="revTx" presStyleIdx="1" presStyleCnt="6">
        <dgm:presLayoutVars/>
      </dgm:prSet>
      <dgm:spPr/>
    </dgm:pt>
    <dgm:pt modelId="{BDBA9A91-BF44-4FE1-BBB2-6EDF30BA74EA}" type="pres">
      <dgm:prSet presAssocID="{8EE1BF04-BC86-473A-9166-B9E22D080F89}" presName="sibTrans" presStyleCnt="0"/>
      <dgm:spPr/>
    </dgm:pt>
    <dgm:pt modelId="{CB0CA695-5020-4920-BE24-5869BFA2FC10}" type="pres">
      <dgm:prSet presAssocID="{82309D14-11EA-40C3-ABD2-11FA96432733}" presName="compNode" presStyleCnt="0"/>
      <dgm:spPr/>
    </dgm:pt>
    <dgm:pt modelId="{39922F39-29A9-4D0C-B4D6-66910E1FFF81}" type="pres">
      <dgm:prSet presAssocID="{82309D14-11EA-40C3-ABD2-11FA9643273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 with solid fill"/>
        </a:ext>
      </dgm:extLst>
    </dgm:pt>
    <dgm:pt modelId="{26BA0BF2-B73D-4994-8FAD-A10235F4F67F}" type="pres">
      <dgm:prSet presAssocID="{82309D14-11EA-40C3-ABD2-11FA96432733}" presName="iconSpace" presStyleCnt="0"/>
      <dgm:spPr/>
    </dgm:pt>
    <dgm:pt modelId="{C39AC2AF-32A8-4595-8D0A-7C9EB650018F}" type="pres">
      <dgm:prSet presAssocID="{82309D14-11EA-40C3-ABD2-11FA96432733}" presName="parTx" presStyleLbl="revTx" presStyleIdx="2" presStyleCnt="6">
        <dgm:presLayoutVars>
          <dgm:chMax val="0"/>
          <dgm:chPref val="0"/>
        </dgm:presLayoutVars>
      </dgm:prSet>
      <dgm:spPr/>
    </dgm:pt>
    <dgm:pt modelId="{220EC39F-9559-41AA-AA95-A21241CF0733}" type="pres">
      <dgm:prSet presAssocID="{82309D14-11EA-40C3-ABD2-11FA96432733}" presName="txSpace" presStyleCnt="0"/>
      <dgm:spPr/>
    </dgm:pt>
    <dgm:pt modelId="{B76B3B5E-BA58-4FA0-92EB-1D7FD456178D}" type="pres">
      <dgm:prSet presAssocID="{82309D14-11EA-40C3-ABD2-11FA96432733}" presName="desTx" presStyleLbl="revTx" presStyleIdx="3" presStyleCnt="6">
        <dgm:presLayoutVars/>
      </dgm:prSet>
      <dgm:spPr/>
    </dgm:pt>
    <dgm:pt modelId="{E61BF5C0-8FFE-4BA1-A15D-84B32416B54F}" type="pres">
      <dgm:prSet presAssocID="{0F187DFD-89E6-44A0-B8C6-4B72E3F201B0}" presName="sibTrans" presStyleCnt="0"/>
      <dgm:spPr/>
    </dgm:pt>
    <dgm:pt modelId="{70F25993-19B1-4ADD-A7DC-12201ADE83FF}" type="pres">
      <dgm:prSet presAssocID="{E13B146D-58E7-41D4-90D6-DCE9503C02E2}" presName="compNode" presStyleCnt="0"/>
      <dgm:spPr/>
    </dgm:pt>
    <dgm:pt modelId="{FCF2921E-FCD9-4515-AB8C-57E98FC492A2}" type="pres">
      <dgm:prSet presAssocID="{E13B146D-58E7-41D4-90D6-DCE9503C02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 with solid fill"/>
        </a:ext>
      </dgm:extLst>
    </dgm:pt>
    <dgm:pt modelId="{0FFA6C92-BCC4-4148-8E34-12FC450AEEF4}" type="pres">
      <dgm:prSet presAssocID="{E13B146D-58E7-41D4-90D6-DCE9503C02E2}" presName="iconSpace" presStyleCnt="0"/>
      <dgm:spPr/>
    </dgm:pt>
    <dgm:pt modelId="{23E7591D-110C-45D2-B298-3E033233DA2C}" type="pres">
      <dgm:prSet presAssocID="{E13B146D-58E7-41D4-90D6-DCE9503C02E2}" presName="parTx" presStyleLbl="revTx" presStyleIdx="4" presStyleCnt="6">
        <dgm:presLayoutVars>
          <dgm:chMax val="0"/>
          <dgm:chPref val="0"/>
        </dgm:presLayoutVars>
      </dgm:prSet>
      <dgm:spPr/>
    </dgm:pt>
    <dgm:pt modelId="{0C3D3470-D291-4CDD-B476-65127ECDA8B2}" type="pres">
      <dgm:prSet presAssocID="{E13B146D-58E7-41D4-90D6-DCE9503C02E2}" presName="txSpace" presStyleCnt="0"/>
      <dgm:spPr/>
    </dgm:pt>
    <dgm:pt modelId="{AF5C3718-ED33-4159-A942-49B6D6D590D5}" type="pres">
      <dgm:prSet presAssocID="{E13B146D-58E7-41D4-90D6-DCE9503C02E2}" presName="desTx" presStyleLbl="revTx" presStyleIdx="5" presStyleCnt="6">
        <dgm:presLayoutVars/>
      </dgm:prSet>
      <dgm:spPr/>
    </dgm:pt>
  </dgm:ptLst>
  <dgm:cxnLst>
    <dgm:cxn modelId="{C78BED02-3F41-4529-8CF9-47FEA01E9A54}" type="presOf" srcId="{C991A4FB-0385-43F0-B9E7-84C96D817DD4}" destId="{8FC6BC12-620D-4752-8938-E1766C75A270}" srcOrd="0" destOrd="1" presId="urn:microsoft.com/office/officeart/2018/2/layout/IconLabelDescriptionList"/>
    <dgm:cxn modelId="{83D1FE0A-EACE-4F62-B49B-825C3A17DA6B}" type="presOf" srcId="{27AF460D-406C-4970-A5C4-0AE112749A67}" destId="{B76B3B5E-BA58-4FA0-92EB-1D7FD456178D}" srcOrd="0" destOrd="2" presId="urn:microsoft.com/office/officeart/2018/2/layout/IconLabelDescriptionList"/>
    <dgm:cxn modelId="{2A76F60F-A2D6-417E-900A-CC85C725A6B0}" type="presOf" srcId="{82309D14-11EA-40C3-ABD2-11FA96432733}" destId="{C39AC2AF-32A8-4595-8D0A-7C9EB650018F}" srcOrd="0" destOrd="0" presId="urn:microsoft.com/office/officeart/2018/2/layout/IconLabelDescriptionList"/>
    <dgm:cxn modelId="{02A84223-349C-4B9B-9804-97BBD32EFB84}" srcId="{310FCD95-53F7-4D00-8E30-E027BD0A4C37}" destId="{ADADE36B-7205-453F-8BA4-298B244D6BD7}" srcOrd="0" destOrd="0" parTransId="{A40343C2-B49F-471F-AA51-67937D6A06D5}" sibTransId="{0A453348-46B5-4E63-90F4-1A6791953853}"/>
    <dgm:cxn modelId="{6E33BC26-DF6E-4D18-8FE5-02377B5F6E47}" srcId="{82309D14-11EA-40C3-ABD2-11FA96432733}" destId="{4A115D61-55CE-4684-A938-5B3661872855}" srcOrd="0" destOrd="0" parTransId="{358A3C95-6A8A-4FE9-841C-A39E77264211}" sibTransId="{35341815-57F2-4338-87D7-A5C963F13988}"/>
    <dgm:cxn modelId="{38B8CD29-9DC6-47E6-B975-6655187BC4C2}" srcId="{310FCD95-53F7-4D00-8E30-E027BD0A4C37}" destId="{CB359DEC-CB6C-4E9F-A8BC-11704326B55C}" srcOrd="3" destOrd="0" parTransId="{E4A38B3E-DE54-4EEF-B3E8-1C87AC98FFF4}" sibTransId="{6A8837DF-F017-4121-9BF7-0F512C3799B9}"/>
    <dgm:cxn modelId="{1702522F-1234-4268-A18F-7CD90B71F068}" type="presOf" srcId="{E13B146D-58E7-41D4-90D6-DCE9503C02E2}" destId="{23E7591D-110C-45D2-B298-3E033233DA2C}" srcOrd="0" destOrd="0" presId="urn:microsoft.com/office/officeart/2018/2/layout/IconLabelDescriptionList"/>
    <dgm:cxn modelId="{682A0A38-836A-4EC8-A994-8645202F550C}" type="presOf" srcId="{4A115D61-55CE-4684-A938-5B3661872855}" destId="{B76B3B5E-BA58-4FA0-92EB-1D7FD456178D}" srcOrd="0" destOrd="0" presId="urn:microsoft.com/office/officeart/2018/2/layout/IconLabelDescriptionList"/>
    <dgm:cxn modelId="{3C8F083B-9507-4082-A1AA-28F03B5EF739}" srcId="{9204C32C-6EF5-4182-BDEF-AA45FF00FC90}" destId="{310FCD95-53F7-4D00-8E30-E027BD0A4C37}" srcOrd="0" destOrd="0" parTransId="{2B5C8077-BC2D-4F2E-B048-46F005FCBFA2}" sibTransId="{8EE1BF04-BC86-473A-9166-B9E22D080F89}"/>
    <dgm:cxn modelId="{AE86293F-1E99-4157-A89B-F1AC86C051DB}" type="presOf" srcId="{CB359DEC-CB6C-4E9F-A8BC-11704326B55C}" destId="{8FC6BC12-620D-4752-8938-E1766C75A270}" srcOrd="0" destOrd="3" presId="urn:microsoft.com/office/officeart/2018/2/layout/IconLabelDescriptionList"/>
    <dgm:cxn modelId="{E7540764-2C19-4792-947E-D4F1F7E6902E}" srcId="{310FCD95-53F7-4D00-8E30-E027BD0A4C37}" destId="{C991A4FB-0385-43F0-B9E7-84C96D817DD4}" srcOrd="1" destOrd="0" parTransId="{93448AAE-A51A-4D26-B3B1-D594F296375F}" sibTransId="{09878964-1E82-4E8F-9664-1D69B8435D19}"/>
    <dgm:cxn modelId="{EA96A348-B5A6-4EB2-B259-1434D87441BA}" srcId="{E13B146D-58E7-41D4-90D6-DCE9503C02E2}" destId="{A997AF49-1F0A-4808-95DC-39B832D75ECB}" srcOrd="2" destOrd="0" parTransId="{DFF8D4A6-09EB-4CB0-A043-7B5AC4800C88}" sibTransId="{5C82CF6F-BD91-4D08-BA13-90D17E4C2367}"/>
    <dgm:cxn modelId="{3A4C0154-3E7D-4A17-9B89-D6AF399F5417}" srcId="{E13B146D-58E7-41D4-90D6-DCE9503C02E2}" destId="{A59A330D-2A48-4CDF-B386-9BD2B4199A31}" srcOrd="1" destOrd="0" parTransId="{1CE3BAA6-09A0-4EE2-B212-22D1A9BD07C2}" sibTransId="{02539B27-BF2F-46E4-8BA8-F966EA5F497A}"/>
    <dgm:cxn modelId="{2642C677-2976-48AB-8385-510D299BDD38}" srcId="{9204C32C-6EF5-4182-BDEF-AA45FF00FC90}" destId="{82309D14-11EA-40C3-ABD2-11FA96432733}" srcOrd="1" destOrd="0" parTransId="{49736344-A968-4478-BC2D-C954693B7C60}" sibTransId="{0F187DFD-89E6-44A0-B8C6-4B72E3F201B0}"/>
    <dgm:cxn modelId="{E7AC6E7F-4F38-44F9-9314-68B756FE710A}" type="presOf" srcId="{9204C32C-6EF5-4182-BDEF-AA45FF00FC90}" destId="{C7DDB165-64E9-4854-8C13-9A4C5712C93A}" srcOrd="0" destOrd="0" presId="urn:microsoft.com/office/officeart/2018/2/layout/IconLabelDescriptionList"/>
    <dgm:cxn modelId="{E7B35888-4AFE-43BA-8B5F-451B12BDF273}" type="presOf" srcId="{4FADD08C-BE6E-4619-8AAF-EB63E54A554C}" destId="{B76B3B5E-BA58-4FA0-92EB-1D7FD456178D}" srcOrd="0" destOrd="1" presId="urn:microsoft.com/office/officeart/2018/2/layout/IconLabelDescriptionList"/>
    <dgm:cxn modelId="{B0C2E099-3038-4FAF-9D10-DD9DB572F189}" type="presOf" srcId="{310FCD95-53F7-4D00-8E30-E027BD0A4C37}" destId="{EAA2739D-B276-485F-BF10-51582888F54E}" srcOrd="0" destOrd="0" presId="urn:microsoft.com/office/officeart/2018/2/layout/IconLabelDescriptionList"/>
    <dgm:cxn modelId="{66A5489A-535D-4251-95EC-413C0C1698EF}" srcId="{9204C32C-6EF5-4182-BDEF-AA45FF00FC90}" destId="{E13B146D-58E7-41D4-90D6-DCE9503C02E2}" srcOrd="2" destOrd="0" parTransId="{0D709712-5DF7-4613-817C-6DF894A96B35}" sibTransId="{8F6FD06F-7B65-46DE-807E-67C09C4C4AE2}"/>
    <dgm:cxn modelId="{7606599A-8118-49B6-AECC-7DA302B1D867}" type="presOf" srcId="{ADADE36B-7205-453F-8BA4-298B244D6BD7}" destId="{8FC6BC12-620D-4752-8938-E1766C75A270}" srcOrd="0" destOrd="0" presId="urn:microsoft.com/office/officeart/2018/2/layout/IconLabelDescriptionList"/>
    <dgm:cxn modelId="{3AE4BDA8-1F6D-437A-AD92-169317C6DDAA}" srcId="{82309D14-11EA-40C3-ABD2-11FA96432733}" destId="{27AF460D-406C-4970-A5C4-0AE112749A67}" srcOrd="2" destOrd="0" parTransId="{8F0EFC7B-45DC-4700-B2A2-734E1599CDFD}" sibTransId="{D66A9A26-0BD4-4E44-992C-5F61B061B786}"/>
    <dgm:cxn modelId="{BD65ECA9-115A-46BC-93D3-5351DA059CBA}" type="presOf" srcId="{49E4AFCA-8FD6-4F60-AC16-DDF92461F82B}" destId="{8FC6BC12-620D-4752-8938-E1766C75A270}" srcOrd="0" destOrd="2" presId="urn:microsoft.com/office/officeart/2018/2/layout/IconLabelDescriptionList"/>
    <dgm:cxn modelId="{9813A3AE-A31A-41EB-BA7F-12B15A1D3EB5}" type="presOf" srcId="{A997AF49-1F0A-4808-95DC-39B832D75ECB}" destId="{AF5C3718-ED33-4159-A942-49B6D6D590D5}" srcOrd="0" destOrd="2" presId="urn:microsoft.com/office/officeart/2018/2/layout/IconLabelDescriptionList"/>
    <dgm:cxn modelId="{DF87C1C4-89B2-47DA-B83B-552F31F5E8AC}" type="presOf" srcId="{A59A330D-2A48-4CDF-B386-9BD2B4199A31}" destId="{AF5C3718-ED33-4159-A942-49B6D6D590D5}" srcOrd="0" destOrd="1" presId="urn:microsoft.com/office/officeart/2018/2/layout/IconLabelDescriptionList"/>
    <dgm:cxn modelId="{C3DDC7CF-4AFA-4A90-9CDB-CDDD773CFAF7}" type="presOf" srcId="{7416591B-8F0A-442A-A8EC-B4901C966FA7}" destId="{AF5C3718-ED33-4159-A942-49B6D6D590D5}" srcOrd="0" destOrd="0" presId="urn:microsoft.com/office/officeart/2018/2/layout/IconLabelDescriptionList"/>
    <dgm:cxn modelId="{E9CF15D4-E9C9-4A1D-A325-CCCB7214C35A}" srcId="{E13B146D-58E7-41D4-90D6-DCE9503C02E2}" destId="{7416591B-8F0A-442A-A8EC-B4901C966FA7}" srcOrd="0" destOrd="0" parTransId="{1F254EE0-8462-4F4B-831F-70846C91FC52}" sibTransId="{76475D8E-64F7-41D4-AD38-697B94573CD7}"/>
    <dgm:cxn modelId="{01D19FE1-B74D-4F80-87D7-1630D5EE95E0}" srcId="{310FCD95-53F7-4D00-8E30-E027BD0A4C37}" destId="{49E4AFCA-8FD6-4F60-AC16-DDF92461F82B}" srcOrd="2" destOrd="0" parTransId="{F8326746-7511-400B-ADB0-A68AC678DE6D}" sibTransId="{6028CEAC-8514-411A-AAA8-C90D824D25EA}"/>
    <dgm:cxn modelId="{334C87F6-A86A-45FD-A985-1C1705D5DBE2}" srcId="{82309D14-11EA-40C3-ABD2-11FA96432733}" destId="{4FADD08C-BE6E-4619-8AAF-EB63E54A554C}" srcOrd="1" destOrd="0" parTransId="{482F1972-EA07-4427-B0DA-C1BD9AAB9B3B}" sibTransId="{B10F3903-84C6-4924-B3EE-F0A921A5292B}"/>
    <dgm:cxn modelId="{9BC95164-ED51-41A6-A75D-12622E91993E}" type="presParOf" srcId="{C7DDB165-64E9-4854-8C13-9A4C5712C93A}" destId="{8EA6D26D-1924-47FD-B17F-6C02C3D3665E}" srcOrd="0" destOrd="0" presId="urn:microsoft.com/office/officeart/2018/2/layout/IconLabelDescriptionList"/>
    <dgm:cxn modelId="{8C957267-94F2-453F-8196-D3442F77B8B1}" type="presParOf" srcId="{8EA6D26D-1924-47FD-B17F-6C02C3D3665E}" destId="{93E8F8E1-9ECE-4295-9211-55A86C0E078A}" srcOrd="0" destOrd="0" presId="urn:microsoft.com/office/officeart/2018/2/layout/IconLabelDescriptionList"/>
    <dgm:cxn modelId="{D5395FC3-A54C-41D2-81CD-8BB96192D538}" type="presParOf" srcId="{8EA6D26D-1924-47FD-B17F-6C02C3D3665E}" destId="{E14136F7-AF0B-4E6C-9465-BC8894FA21F4}" srcOrd="1" destOrd="0" presId="urn:microsoft.com/office/officeart/2018/2/layout/IconLabelDescriptionList"/>
    <dgm:cxn modelId="{627FBB92-3C43-44E4-91B0-11DB63D8A540}" type="presParOf" srcId="{8EA6D26D-1924-47FD-B17F-6C02C3D3665E}" destId="{EAA2739D-B276-485F-BF10-51582888F54E}" srcOrd="2" destOrd="0" presId="urn:microsoft.com/office/officeart/2018/2/layout/IconLabelDescriptionList"/>
    <dgm:cxn modelId="{68EC703C-0EE1-40E9-ABEE-603C313AD4A5}" type="presParOf" srcId="{8EA6D26D-1924-47FD-B17F-6C02C3D3665E}" destId="{600B4098-4AA9-40C9-AC47-01C0461640CF}" srcOrd="3" destOrd="0" presId="urn:microsoft.com/office/officeart/2018/2/layout/IconLabelDescriptionList"/>
    <dgm:cxn modelId="{229B9643-83D2-4FE4-A27C-1F07920A07CB}" type="presParOf" srcId="{8EA6D26D-1924-47FD-B17F-6C02C3D3665E}" destId="{8FC6BC12-620D-4752-8938-E1766C75A270}" srcOrd="4" destOrd="0" presId="urn:microsoft.com/office/officeart/2018/2/layout/IconLabelDescriptionList"/>
    <dgm:cxn modelId="{06D3DD8D-1AAD-4279-B897-C777A5D36FED}" type="presParOf" srcId="{C7DDB165-64E9-4854-8C13-9A4C5712C93A}" destId="{BDBA9A91-BF44-4FE1-BBB2-6EDF30BA74EA}" srcOrd="1" destOrd="0" presId="urn:microsoft.com/office/officeart/2018/2/layout/IconLabelDescriptionList"/>
    <dgm:cxn modelId="{4C00F2B9-3CB7-467C-A228-67B7C0644723}" type="presParOf" srcId="{C7DDB165-64E9-4854-8C13-9A4C5712C93A}" destId="{CB0CA695-5020-4920-BE24-5869BFA2FC10}" srcOrd="2" destOrd="0" presId="urn:microsoft.com/office/officeart/2018/2/layout/IconLabelDescriptionList"/>
    <dgm:cxn modelId="{8CAC82ED-051A-467A-8647-9E4996EE06B7}" type="presParOf" srcId="{CB0CA695-5020-4920-BE24-5869BFA2FC10}" destId="{39922F39-29A9-4D0C-B4D6-66910E1FFF81}" srcOrd="0" destOrd="0" presId="urn:microsoft.com/office/officeart/2018/2/layout/IconLabelDescriptionList"/>
    <dgm:cxn modelId="{8CA26C8A-BAB6-4ABE-BD84-4386B97F517D}" type="presParOf" srcId="{CB0CA695-5020-4920-BE24-5869BFA2FC10}" destId="{26BA0BF2-B73D-4994-8FAD-A10235F4F67F}" srcOrd="1" destOrd="0" presId="urn:microsoft.com/office/officeart/2018/2/layout/IconLabelDescriptionList"/>
    <dgm:cxn modelId="{BEC9E7D5-74B2-44F7-B1F0-7FF3D8A2C40C}" type="presParOf" srcId="{CB0CA695-5020-4920-BE24-5869BFA2FC10}" destId="{C39AC2AF-32A8-4595-8D0A-7C9EB650018F}" srcOrd="2" destOrd="0" presId="urn:microsoft.com/office/officeart/2018/2/layout/IconLabelDescriptionList"/>
    <dgm:cxn modelId="{B81465C3-5522-4E9F-A73A-C0C7AFA3D07D}" type="presParOf" srcId="{CB0CA695-5020-4920-BE24-5869BFA2FC10}" destId="{220EC39F-9559-41AA-AA95-A21241CF0733}" srcOrd="3" destOrd="0" presId="urn:microsoft.com/office/officeart/2018/2/layout/IconLabelDescriptionList"/>
    <dgm:cxn modelId="{FE143C62-9FA1-45D1-8F4E-14CD9D2CE9E6}" type="presParOf" srcId="{CB0CA695-5020-4920-BE24-5869BFA2FC10}" destId="{B76B3B5E-BA58-4FA0-92EB-1D7FD456178D}" srcOrd="4" destOrd="0" presId="urn:microsoft.com/office/officeart/2018/2/layout/IconLabelDescriptionList"/>
    <dgm:cxn modelId="{91932446-FF51-4122-B143-20EC0BE3E7A4}" type="presParOf" srcId="{C7DDB165-64E9-4854-8C13-9A4C5712C93A}" destId="{E61BF5C0-8FFE-4BA1-A15D-84B32416B54F}" srcOrd="3" destOrd="0" presId="urn:microsoft.com/office/officeart/2018/2/layout/IconLabelDescriptionList"/>
    <dgm:cxn modelId="{E1CCA999-AFC6-47B2-A0EE-09CAC0E1338A}" type="presParOf" srcId="{C7DDB165-64E9-4854-8C13-9A4C5712C93A}" destId="{70F25993-19B1-4ADD-A7DC-12201ADE83FF}" srcOrd="4" destOrd="0" presId="urn:microsoft.com/office/officeart/2018/2/layout/IconLabelDescriptionList"/>
    <dgm:cxn modelId="{608C325E-6B62-4CB7-8504-93AA27E1BDA5}" type="presParOf" srcId="{70F25993-19B1-4ADD-A7DC-12201ADE83FF}" destId="{FCF2921E-FCD9-4515-AB8C-57E98FC492A2}" srcOrd="0" destOrd="0" presId="urn:microsoft.com/office/officeart/2018/2/layout/IconLabelDescriptionList"/>
    <dgm:cxn modelId="{8C9881CB-F35C-4149-9721-36E4474894AC}" type="presParOf" srcId="{70F25993-19B1-4ADD-A7DC-12201ADE83FF}" destId="{0FFA6C92-BCC4-4148-8E34-12FC450AEEF4}" srcOrd="1" destOrd="0" presId="urn:microsoft.com/office/officeart/2018/2/layout/IconLabelDescriptionList"/>
    <dgm:cxn modelId="{DC40843C-28CE-44F6-AE5D-E9BE5C1BDE89}" type="presParOf" srcId="{70F25993-19B1-4ADD-A7DC-12201ADE83FF}" destId="{23E7591D-110C-45D2-B298-3E033233DA2C}" srcOrd="2" destOrd="0" presId="urn:microsoft.com/office/officeart/2018/2/layout/IconLabelDescriptionList"/>
    <dgm:cxn modelId="{A8AE272F-C942-40CA-BDE7-6754FC702AF1}" type="presParOf" srcId="{70F25993-19B1-4ADD-A7DC-12201ADE83FF}" destId="{0C3D3470-D291-4CDD-B476-65127ECDA8B2}" srcOrd="3" destOrd="0" presId="urn:microsoft.com/office/officeart/2018/2/layout/IconLabelDescriptionList"/>
    <dgm:cxn modelId="{203B9996-32BE-46DF-B81D-0694E696FFC9}" type="presParOf" srcId="{70F25993-19B1-4ADD-A7DC-12201ADE83FF}" destId="{AF5C3718-ED33-4159-A942-49B6D6D590D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8F8E1-9ECE-4295-9211-55A86C0E078A}">
      <dsp:nvSpPr>
        <dsp:cNvPr id="0" name=""/>
        <dsp:cNvSpPr/>
      </dsp:nvSpPr>
      <dsp:spPr>
        <a:xfrm>
          <a:off x="393" y="683189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2739D-B276-485F-BF10-51582888F54E}">
      <dsp:nvSpPr>
        <dsp:cNvPr id="0" name=""/>
        <dsp:cNvSpPr/>
      </dsp:nvSpPr>
      <dsp:spPr>
        <a:xfrm>
          <a:off x="393" y="1910105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End User Engagement </a:t>
          </a:r>
        </a:p>
      </dsp:txBody>
      <dsp:txXfrm>
        <a:off x="393" y="1910105"/>
        <a:ext cx="3138750" cy="470812"/>
      </dsp:txXfrm>
    </dsp:sp>
    <dsp:sp modelId="{8FC6BC12-620D-4752-8938-E1766C75A270}">
      <dsp:nvSpPr>
        <dsp:cNvPr id="0" name=""/>
        <dsp:cNvSpPr/>
      </dsp:nvSpPr>
      <dsp:spPr>
        <a:xfrm>
          <a:off x="393" y="2440617"/>
          <a:ext cx="3138750" cy="1227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Chatbot interface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Guided ticket submission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Guided Q&amp;A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ighlight>
                <a:srgbClr val="FFFF00"/>
              </a:highlight>
            </a:rPr>
            <a:t>Proactive Communication </a:t>
          </a:r>
        </a:p>
      </dsp:txBody>
      <dsp:txXfrm>
        <a:off x="393" y="2440617"/>
        <a:ext cx="3138750" cy="1227530"/>
      </dsp:txXfrm>
    </dsp:sp>
    <dsp:sp modelId="{39922F39-29A9-4D0C-B4D6-66910E1FFF81}">
      <dsp:nvSpPr>
        <dsp:cNvPr id="0" name=""/>
        <dsp:cNvSpPr/>
      </dsp:nvSpPr>
      <dsp:spPr>
        <a:xfrm>
          <a:off x="3688425" y="683189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AC2AF-32A8-4595-8D0A-7C9EB650018F}">
      <dsp:nvSpPr>
        <dsp:cNvPr id="0" name=""/>
        <dsp:cNvSpPr/>
      </dsp:nvSpPr>
      <dsp:spPr>
        <a:xfrm>
          <a:off x="3688425" y="1910105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Agent Efficiencies</a:t>
          </a:r>
        </a:p>
      </dsp:txBody>
      <dsp:txXfrm>
        <a:off x="3688425" y="1910105"/>
        <a:ext cx="3138750" cy="470812"/>
      </dsp:txXfrm>
    </dsp:sp>
    <dsp:sp modelId="{B76B3B5E-BA58-4FA0-92EB-1D7FD456178D}">
      <dsp:nvSpPr>
        <dsp:cNvPr id="0" name=""/>
        <dsp:cNvSpPr/>
      </dsp:nvSpPr>
      <dsp:spPr>
        <a:xfrm>
          <a:off x="3688425" y="2440617"/>
          <a:ext cx="3138750" cy="1227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ighlight>
                <a:srgbClr val="FFFF00"/>
              </a:highlight>
            </a:rPr>
            <a:t>Summarization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ighlight>
                <a:srgbClr val="FFFF00"/>
              </a:highlight>
            </a:rPr>
            <a:t>Response recommendations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ighlight>
                <a:srgbClr val="FFFF00"/>
              </a:highlight>
            </a:rPr>
            <a:t>Closure </a:t>
          </a:r>
        </a:p>
      </dsp:txBody>
      <dsp:txXfrm>
        <a:off x="3688425" y="2440617"/>
        <a:ext cx="3138750" cy="1227530"/>
      </dsp:txXfrm>
    </dsp:sp>
    <dsp:sp modelId="{FCF2921E-FCD9-4515-AB8C-57E98FC492A2}">
      <dsp:nvSpPr>
        <dsp:cNvPr id="0" name=""/>
        <dsp:cNvSpPr/>
      </dsp:nvSpPr>
      <dsp:spPr>
        <a:xfrm>
          <a:off x="7376456" y="683189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7591D-110C-45D2-B298-3E033233DA2C}">
      <dsp:nvSpPr>
        <dsp:cNvPr id="0" name=""/>
        <dsp:cNvSpPr/>
      </dsp:nvSpPr>
      <dsp:spPr>
        <a:xfrm>
          <a:off x="7376456" y="1910105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Resolution Efficiency</a:t>
          </a:r>
        </a:p>
      </dsp:txBody>
      <dsp:txXfrm>
        <a:off x="7376456" y="1910105"/>
        <a:ext cx="3138750" cy="470812"/>
      </dsp:txXfrm>
    </dsp:sp>
    <dsp:sp modelId="{AF5C3718-ED33-4159-A942-49B6D6D590D5}">
      <dsp:nvSpPr>
        <dsp:cNvPr id="0" name=""/>
        <dsp:cNvSpPr/>
      </dsp:nvSpPr>
      <dsp:spPr>
        <a:xfrm>
          <a:off x="7376456" y="2440617"/>
          <a:ext cx="3138750" cy="1227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ighlight>
                <a:srgbClr val="FFFF00"/>
              </a:highlight>
            </a:rPr>
            <a:t>Accurate First time routing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ighlight>
                <a:srgbClr val="FFFF00"/>
              </a:highlight>
            </a:rPr>
            <a:t>Triage / Diagnosis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ighlight>
                <a:srgbClr val="FFFF00"/>
              </a:highlight>
            </a:rPr>
            <a:t>Resolution automation</a:t>
          </a:r>
        </a:p>
      </dsp:txBody>
      <dsp:txXfrm>
        <a:off x="7376456" y="2440617"/>
        <a:ext cx="3138750" cy="1227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2CE438-3400-DAA8-F61D-0C629842B4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34C033-7972-CB97-6556-C7439123B6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7E9A4-D254-2C4E-8913-F2E1613A49A2}" type="datetimeFigureOut">
              <a:t>2/19/2026</a:t>
            </a:fld>
            <a:endParaRPr lang="en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CB98A-C0BA-96E0-E35E-B7CDC16809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41208-A0B5-89C3-F9F6-EDE82A2D7A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C9950-E758-6C49-AEF8-D704D84A4FF1}" type="slidenum"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2884460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oeingMeso-Regular" panose="02000503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oeingMeso-Regular" panose="02000503000000000000" pitchFamily="2" charset="0"/>
              </a:defRPr>
            </a:lvl1pPr>
          </a:lstStyle>
          <a:p>
            <a:fld id="{24F04914-EAB2-574E-9911-020CA276D552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oeingMeso-Regular" panose="02000503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oeingMeso-Regular" panose="02000503000000000000" pitchFamily="2" charset="0"/>
              </a:defRPr>
            </a:lvl1pPr>
          </a:lstStyle>
          <a:p>
            <a:fld id="{60F7907F-FB33-8441-AC15-D42CE99AF4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with AS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76EAB50-9B72-47AC-395E-B0B0841FD8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54011" y="374577"/>
            <a:ext cx="2294022" cy="436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D68E46-6B84-C8AD-47E2-296D01107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30" y="3221422"/>
            <a:ext cx="10972800" cy="7017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44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46B35-AD7E-F39E-E5CB-352EF59B9E84}"/>
              </a:ext>
            </a:extLst>
          </p:cNvPr>
          <p:cNvSpPr txBox="1"/>
          <p:nvPr userDrawn="1"/>
        </p:nvSpPr>
        <p:spPr>
          <a:xfrm>
            <a:off x="657930" y="2763310"/>
            <a:ext cx="9779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Digital Technology </a:t>
            </a:r>
            <a:r>
              <a:rPr 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</a:t>
            </a:r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E8CEAAE-8A38-9729-40B3-F1D039725A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7930" y="4682885"/>
            <a:ext cx="109728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00" b="0" cap="small" spc="3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DATE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B047B-F9E9-00A9-0A24-D3D2B6136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737D5-4F20-4411-5F01-E398C9CE2D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0" y="391440"/>
            <a:ext cx="1231111" cy="3077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40B36-DDE9-2A41-C2CB-D45CBC5B9B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3F68D9-DC64-E54E-8C7D-6504CE381E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269DB66F-C07F-B6D0-9C8A-56F0DB0C6E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49878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without AS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0CE52E-F7F4-69E3-F959-ACCF57F65C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0" y="391440"/>
            <a:ext cx="1231111" cy="3077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D68E46-6B84-C8AD-47E2-296D01107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30" y="3221422"/>
            <a:ext cx="10972800" cy="7017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44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46B35-AD7E-F39E-E5CB-352EF59B9E84}"/>
              </a:ext>
            </a:extLst>
          </p:cNvPr>
          <p:cNvSpPr txBox="1"/>
          <p:nvPr userDrawn="1"/>
        </p:nvSpPr>
        <p:spPr>
          <a:xfrm>
            <a:off x="657930" y="2763310"/>
            <a:ext cx="9779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Digital Technology </a:t>
            </a:r>
            <a:r>
              <a:rPr lang="en-US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</a:t>
            </a:r>
            <a:endParaRPr lang="en-US" sz="36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B047B-F9E9-00A9-0A24-D3D2B6136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993CBE3-06E6-3F75-593D-56A506053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7930" y="4682885"/>
            <a:ext cx="109728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00" b="0" cap="small" spc="3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DATE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5462DD-0059-7116-37B9-128B56A5E4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FE06D0-9E3D-FCCA-6319-DCE025347A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9B49FDAD-30C5-214A-41EC-0A2BB69566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9079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S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4EBCBA-85F9-2534-C42F-537D1455AD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0FB8EF-FC92-A0DC-B3F1-89E96B6542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9680" y="1086254"/>
            <a:ext cx="10791877" cy="5388857"/>
          </a:xfrm>
          <a:prstGeom prst="rect">
            <a:avLst/>
          </a:prstGeo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4E0A792-7FB8-E4DE-F3BC-4E798475E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4932E1-D0BA-9445-8AD7-C9649B4F53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07" b="-4754"/>
          <a:stretch>
            <a:fillRect/>
          </a:stretch>
        </p:blipFill>
        <p:spPr>
          <a:xfrm>
            <a:off x="386107" y="730909"/>
            <a:ext cx="3175107" cy="391165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A94F337-F459-77E4-9592-F95D5AA39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C41F93-B5EB-59F5-5F99-4897D06AA76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16F192-2289-C706-D969-758A1DF9D34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23DF9AB4-062F-5F2B-39BF-1E6D32155B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6803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F19F94E-FF2F-FCAD-721B-11420F4088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67" y="391439"/>
            <a:ext cx="1745443" cy="43636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4B48239-0165-8BB5-FE7D-B636D02D9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32" y="3221422"/>
            <a:ext cx="10972800" cy="7017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44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a section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53DABB-1CA5-1193-F96C-9CF3179DE5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54011" y="374577"/>
            <a:ext cx="2294022" cy="436362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9CC24EE-F2D6-5A32-5F99-B5A4CE9F9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7B928-9B75-815A-D3AE-69A3DBD550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85E899-1C68-06D6-0E04-AADBFE1FA0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4821ACE3-1E59-D069-9D85-EC281C44C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B2AE88E5-1242-C3A3-EB4A-27856E3BE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25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9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1CAE6-A96B-0023-3175-67EEA5A8C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0D2EBD-3D88-DF5B-D1C8-34B0963270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FEAEAC-9CE2-ADAF-270A-F0718DEA0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E5302786-3C8E-708F-5232-E9677B3FFC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18069DE7-4B0B-8CA7-7CDC-41F07B647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71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9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1418C5-0D78-75A4-379F-896811C52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36" y="1155917"/>
            <a:ext cx="11247120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20C1F5-0E3B-B2D3-2DAE-FA19F3AF4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D7C00E-8621-F2B8-7A40-F3142477A5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FFE488-5BEC-12EB-2580-5F091A1AC3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87181EE-4B6A-8FED-4753-BA92C1913C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3203031-CEA9-64C7-D322-4062B37E9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8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6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2DC20FF-6D8B-5DBD-6E4F-06C79F59E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9453A-25FD-1B95-3894-18CCD56A7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189255-4373-D7FD-B9E8-F2DDB23A7B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C21FDE02-3AC6-E374-9FC3-68077A3894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4C3A10F-D094-4632-40AD-39FBDBAB6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13">
            <a:extLst>
              <a:ext uri="{FF2B5EF4-FFF2-40B4-BE49-F238E27FC236}">
                <a16:creationId xmlns:a16="http://schemas.microsoft.com/office/drawing/2014/main" id="{C7B18988-4215-A2F4-2C9F-8717F5EC186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6" y="1596455"/>
            <a:ext cx="11246543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260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6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1418C5-0D78-75A4-379F-896811C52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36" y="1155917"/>
            <a:ext cx="11247120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FB92AC71-2340-39DD-9852-72798B91CF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6" y="1594130"/>
            <a:ext cx="11246543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5BDB7A-B8C0-1021-C420-80FA7EDF0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2D3632-33AB-E8B7-DE99-7CAC49C888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0ABAE-F1FD-EC32-9060-643AB07C89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745B1A76-ACCA-FB28-4C8F-77F26B6B55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69983AF-7DB4-04DE-B0C9-83356890C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1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6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1418C5-0D78-75A4-379F-896811C52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36" y="1155917"/>
            <a:ext cx="11247120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FB92AC71-2340-39DD-9852-72798B91CF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7" y="1591467"/>
            <a:ext cx="5486400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47F75A1B-A4BF-109F-77FF-377303C6D7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6556" y="1591467"/>
            <a:ext cx="5486400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C8E5F02-51A3-0DBA-D874-9E46B5971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273E1-0AD9-22D1-7FAC-CCC119160E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E2330C-5EC3-8D53-3CFB-964E26C1F31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F55A29FB-FF79-F0A3-8B65-DF83007622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3CA3561-83C2-A6C7-F242-215A8F996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Boeing logo">
            <a:extLst>
              <a:ext uri="{FF2B5EF4-FFF2-40B4-BE49-F238E27FC236}">
                <a16:creationId xmlns:a16="http://schemas.microsoft.com/office/drawing/2014/main" id="{A2175A03-6C3A-420E-7725-B1904E3FA9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5355" y="2951526"/>
            <a:ext cx="3516745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5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208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Boeing 12 column grid" hidden="1"/>
          <p:cNvGrpSpPr/>
          <p:nvPr userDrawn="1"/>
        </p:nvGrpSpPr>
        <p:grpSpPr>
          <a:xfrm>
            <a:off x="0" y="0"/>
            <a:ext cx="12195176" cy="6858000"/>
            <a:chOff x="0" y="0"/>
            <a:chExt cx="12192000" cy="6858000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0" y="0"/>
              <a:ext cx="12188825" cy="6858000"/>
              <a:chOff x="0" y="0"/>
              <a:chExt cx="12188825" cy="6858000"/>
            </a:xfrm>
          </p:grpSpPr>
          <p:grpSp>
            <p:nvGrpSpPr>
              <p:cNvPr id="20" name="Boeing 12 column grid"/>
              <p:cNvGrpSpPr/>
              <p:nvPr userDrawn="1"/>
            </p:nvGrpSpPr>
            <p:grpSpPr>
              <a:xfrm>
                <a:off x="0" y="461727"/>
                <a:ext cx="12188825" cy="5957180"/>
                <a:chOff x="129803" y="456356"/>
                <a:chExt cx="8890818" cy="5958732"/>
              </a:xfrm>
            </p:grpSpPr>
            <p:sp>
              <p:nvSpPr>
                <p:cNvPr id="35" name="Rectangle 34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799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464396" y="2136995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64396" y="2432456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459993" y="3288274"/>
                  <a:ext cx="8223097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466598" y="3583735"/>
                  <a:ext cx="821649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464396" y="4424269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62195" y="4719730"/>
                  <a:ext cx="8220896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129803" y="2284726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463550" y="3432679"/>
                  <a:ext cx="8223250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9" name="Straight Connector 38"/>
                <p:cNvCxnSpPr/>
                <p:nvPr userDrawn="1"/>
              </p:nvCxnSpPr>
              <p:spPr>
                <a:xfrm>
                  <a:off x="129803" y="4572000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0" name="Straight Connector 39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41" name="Group 40"/>
                <p:cNvGrpSpPr/>
                <p:nvPr userDrawn="1"/>
              </p:nvGrpSpPr>
              <p:grpSpPr>
                <a:xfrm>
                  <a:off x="1043681" y="457200"/>
                  <a:ext cx="7060730" cy="5957888"/>
                  <a:chOff x="1043681" y="0"/>
                  <a:chExt cx="7060730" cy="6858000"/>
                </a:xfrm>
              </p:grpSpPr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20"/>
                  <p:cNvCxnSpPr/>
                  <p:nvPr/>
                </p:nvCxnSpPr>
                <p:spPr>
                  <a:xfrm>
                    <a:off x="104368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15"/>
                  <p:cNvCxnSpPr/>
                  <p:nvPr/>
                </p:nvCxnSpPr>
                <p:spPr>
                  <a:xfrm>
                    <a:off x="11584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174150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/>
                </p:nvCxnSpPr>
                <p:spPr>
                  <a:xfrm>
                    <a:off x="243709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/>
                </p:nvCxnSpPr>
                <p:spPr>
                  <a:xfrm>
                    <a:off x="532550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/>
                </p:nvCxnSpPr>
                <p:spPr>
                  <a:xfrm>
                    <a:off x="25473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31288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324337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382641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39374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452230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462823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52137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7" name="Straight Connector 56"/>
                  <p:cNvCxnSpPr/>
                  <p:nvPr userDrawn="1"/>
                </p:nvCxnSpPr>
                <p:spPr>
                  <a:xfrm>
                    <a:off x="810441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8" name="Straight Connector 57"/>
                  <p:cNvCxnSpPr/>
                  <p:nvPr userDrawn="1"/>
                </p:nvCxnSpPr>
                <p:spPr>
                  <a:xfrm>
                    <a:off x="590715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9" name="Straight Connector 58"/>
                  <p:cNvCxnSpPr/>
                  <p:nvPr userDrawn="1"/>
                </p:nvCxnSpPr>
                <p:spPr>
                  <a:xfrm>
                    <a:off x="601976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0" name="Straight Connector 59"/>
                  <p:cNvCxnSpPr/>
                  <p:nvPr userDrawn="1"/>
                </p:nvCxnSpPr>
                <p:spPr>
                  <a:xfrm>
                    <a:off x="660501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1" name="Straight Connector 60"/>
                  <p:cNvCxnSpPr/>
                  <p:nvPr userDrawn="1"/>
                </p:nvCxnSpPr>
                <p:spPr>
                  <a:xfrm>
                    <a:off x="6713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" name="Straight Connector 63"/>
                  <p:cNvCxnSpPr/>
                  <p:nvPr userDrawn="1"/>
                </p:nvCxnSpPr>
                <p:spPr>
                  <a:xfrm>
                    <a:off x="729868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5" name="Straight Connector 64"/>
                  <p:cNvCxnSpPr/>
                  <p:nvPr userDrawn="1"/>
                </p:nvCxnSpPr>
                <p:spPr>
                  <a:xfrm>
                    <a:off x="740902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6" name="Straight Connector 65"/>
                  <p:cNvCxnSpPr/>
                  <p:nvPr userDrawn="1"/>
                </p:nvCxnSpPr>
                <p:spPr>
                  <a:xfrm>
                    <a:off x="799017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21" name="Group 41"/>
              <p:cNvGrpSpPr/>
              <p:nvPr userDrawn="1"/>
            </p:nvGrpSpPr>
            <p:grpSpPr>
              <a:xfrm>
                <a:off x="7002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22" name="Straight Connector 21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9" name="Straight Connector 18"/>
            <p:cNvCxnSpPr/>
            <p:nvPr userDrawn="1"/>
          </p:nvCxnSpPr>
          <p:spPr>
            <a:xfrm flipH="1">
              <a:off x="9599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 userDrawn="1"/>
        </p:nvSpPr>
        <p:spPr>
          <a:xfrm>
            <a:off x="2" y="6"/>
            <a:ext cx="12192000" cy="458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429880" y="2521759"/>
            <a:ext cx="10363200" cy="726353"/>
          </a:xfrm>
        </p:spPr>
        <p:txBody>
          <a:bodyPr anchor="ctr" anchorCtr="0"/>
          <a:lstStyle>
            <a:lvl1pPr>
              <a:defRPr sz="4799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429881" y="4637996"/>
            <a:ext cx="11002433" cy="387799"/>
          </a:xfrm>
        </p:spPr>
        <p:txBody>
          <a:bodyPr/>
          <a:lstStyle>
            <a:lvl1pPr marL="0" indent="0">
              <a:buFontTx/>
              <a:buNone/>
              <a:defRPr sz="2799" b="0">
                <a:solidFill>
                  <a:srgbClr val="78828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/ DELL CONFIDENTIAL | </a:t>
            </a:r>
            <a:fld id="{689318A1-174D-4DEE-8106-03A37B9BCF15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16" name="Picture 47" descr="Boeing_white_standar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1915" y="399737"/>
            <a:ext cx="1856271" cy="447675"/>
          </a:xfrm>
          <a:prstGeom prst="rect">
            <a:avLst/>
          </a:prstGeom>
          <a:noFill/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D9A049E1-654B-4BC9-ACBD-21704F26D9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715" y="512847"/>
            <a:ext cx="2368584" cy="30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2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Boeing 12 column grid" hidden="1"/>
          <p:cNvGrpSpPr/>
          <p:nvPr userDrawn="1"/>
        </p:nvGrpSpPr>
        <p:grpSpPr>
          <a:xfrm>
            <a:off x="0" y="0"/>
            <a:ext cx="12195176" cy="6858000"/>
            <a:chOff x="0" y="0"/>
            <a:chExt cx="12192000" cy="6858000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0" y="0"/>
              <a:ext cx="12188825" cy="6858000"/>
              <a:chOff x="0" y="0"/>
              <a:chExt cx="12188825" cy="6858000"/>
            </a:xfrm>
          </p:grpSpPr>
          <p:grpSp>
            <p:nvGrpSpPr>
              <p:cNvPr id="20" name="Boeing 12 column grid"/>
              <p:cNvGrpSpPr/>
              <p:nvPr userDrawn="1"/>
            </p:nvGrpSpPr>
            <p:grpSpPr>
              <a:xfrm>
                <a:off x="0" y="461727"/>
                <a:ext cx="12188825" cy="5957180"/>
                <a:chOff x="129803" y="456356"/>
                <a:chExt cx="8890818" cy="5958732"/>
              </a:xfrm>
            </p:grpSpPr>
            <p:sp>
              <p:nvSpPr>
                <p:cNvPr id="35" name="Rectangle 34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799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464396" y="2136995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64396" y="2432456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459993" y="3288274"/>
                  <a:ext cx="8223097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466598" y="3583735"/>
                  <a:ext cx="821649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464396" y="4424269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62195" y="4719730"/>
                  <a:ext cx="8220896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129803" y="2284726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463550" y="3432679"/>
                  <a:ext cx="8223250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9" name="Straight Connector 38"/>
                <p:cNvCxnSpPr/>
                <p:nvPr userDrawn="1"/>
              </p:nvCxnSpPr>
              <p:spPr>
                <a:xfrm>
                  <a:off x="129803" y="4572000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0" name="Straight Connector 39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41" name="Group 40"/>
                <p:cNvGrpSpPr/>
                <p:nvPr userDrawn="1"/>
              </p:nvGrpSpPr>
              <p:grpSpPr>
                <a:xfrm>
                  <a:off x="1043681" y="457200"/>
                  <a:ext cx="7060730" cy="5957888"/>
                  <a:chOff x="1043681" y="0"/>
                  <a:chExt cx="7060730" cy="6858000"/>
                </a:xfrm>
              </p:grpSpPr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20"/>
                  <p:cNvCxnSpPr/>
                  <p:nvPr/>
                </p:nvCxnSpPr>
                <p:spPr>
                  <a:xfrm>
                    <a:off x="104368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15"/>
                  <p:cNvCxnSpPr/>
                  <p:nvPr/>
                </p:nvCxnSpPr>
                <p:spPr>
                  <a:xfrm>
                    <a:off x="11584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174150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/>
                </p:nvCxnSpPr>
                <p:spPr>
                  <a:xfrm>
                    <a:off x="243709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/>
                </p:nvCxnSpPr>
                <p:spPr>
                  <a:xfrm>
                    <a:off x="532550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/>
                </p:nvCxnSpPr>
                <p:spPr>
                  <a:xfrm>
                    <a:off x="25473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31288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324337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382641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39374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452230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462823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52137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7" name="Straight Connector 56"/>
                  <p:cNvCxnSpPr/>
                  <p:nvPr userDrawn="1"/>
                </p:nvCxnSpPr>
                <p:spPr>
                  <a:xfrm>
                    <a:off x="810441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8" name="Straight Connector 57"/>
                  <p:cNvCxnSpPr/>
                  <p:nvPr userDrawn="1"/>
                </p:nvCxnSpPr>
                <p:spPr>
                  <a:xfrm>
                    <a:off x="590715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9" name="Straight Connector 58"/>
                  <p:cNvCxnSpPr/>
                  <p:nvPr userDrawn="1"/>
                </p:nvCxnSpPr>
                <p:spPr>
                  <a:xfrm>
                    <a:off x="601976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0" name="Straight Connector 59"/>
                  <p:cNvCxnSpPr/>
                  <p:nvPr userDrawn="1"/>
                </p:nvCxnSpPr>
                <p:spPr>
                  <a:xfrm>
                    <a:off x="660501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1" name="Straight Connector 60"/>
                  <p:cNvCxnSpPr/>
                  <p:nvPr userDrawn="1"/>
                </p:nvCxnSpPr>
                <p:spPr>
                  <a:xfrm>
                    <a:off x="6713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" name="Straight Connector 63"/>
                  <p:cNvCxnSpPr/>
                  <p:nvPr userDrawn="1"/>
                </p:nvCxnSpPr>
                <p:spPr>
                  <a:xfrm>
                    <a:off x="729868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5" name="Straight Connector 64"/>
                  <p:cNvCxnSpPr/>
                  <p:nvPr userDrawn="1"/>
                </p:nvCxnSpPr>
                <p:spPr>
                  <a:xfrm>
                    <a:off x="740902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6" name="Straight Connector 65"/>
                  <p:cNvCxnSpPr/>
                  <p:nvPr userDrawn="1"/>
                </p:nvCxnSpPr>
                <p:spPr>
                  <a:xfrm>
                    <a:off x="799017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21" name="Group 41"/>
              <p:cNvGrpSpPr/>
              <p:nvPr userDrawn="1"/>
            </p:nvGrpSpPr>
            <p:grpSpPr>
              <a:xfrm>
                <a:off x="7002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22" name="Straight Connector 21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9" name="Straight Connector 18"/>
            <p:cNvCxnSpPr/>
            <p:nvPr userDrawn="1"/>
          </p:nvCxnSpPr>
          <p:spPr>
            <a:xfrm flipH="1">
              <a:off x="9599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 userDrawn="1"/>
        </p:nvSpPr>
        <p:spPr>
          <a:xfrm>
            <a:off x="2" y="6"/>
            <a:ext cx="12192000" cy="458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429880" y="2521759"/>
            <a:ext cx="10363200" cy="726353"/>
          </a:xfrm>
        </p:spPr>
        <p:txBody>
          <a:bodyPr anchor="ctr" anchorCtr="0"/>
          <a:lstStyle>
            <a:lvl1pPr>
              <a:defRPr sz="4799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429881" y="4637996"/>
            <a:ext cx="11002433" cy="387799"/>
          </a:xfrm>
        </p:spPr>
        <p:txBody>
          <a:bodyPr/>
          <a:lstStyle>
            <a:lvl1pPr marL="0" indent="0">
              <a:buFontTx/>
              <a:buNone/>
              <a:defRPr sz="2799" b="0">
                <a:solidFill>
                  <a:srgbClr val="78828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47" descr="Boeing_white_standar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1915" y="399737"/>
            <a:ext cx="1856271" cy="447675"/>
          </a:xfrm>
          <a:prstGeom prst="rect">
            <a:avLst/>
          </a:prstGeom>
          <a:noFill/>
        </p:spPr>
      </p:pic>
      <p:sp>
        <p:nvSpPr>
          <p:cNvPr id="67" name="Rectangle 6"/>
          <p:cNvSpPr>
            <a:spLocks noChangeArrowheads="1"/>
          </p:cNvSpPr>
          <p:nvPr userDrawn="1"/>
        </p:nvSpPr>
        <p:spPr bwMode="auto">
          <a:xfrm>
            <a:off x="409738" y="6658303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2" tIns="9142" rIns="9142" bIns="9142" anchor="b">
            <a:spAutoFit/>
          </a:bodyPr>
          <a:lstStyle/>
          <a:p>
            <a:pPr defTabSz="82047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>
                <a:solidFill>
                  <a:srgbClr val="FFFFFF">
                    <a:lumMod val="50000"/>
                  </a:srgbClr>
                </a:solidFill>
              </a:rPr>
              <a:t>Copyright © 2021 Boeing. All rights reserved.</a:t>
            </a:r>
          </a:p>
        </p:txBody>
      </p:sp>
      <p:sp>
        <p:nvSpPr>
          <p:cNvPr id="71" name="TextBox 70"/>
          <p:cNvSpPr txBox="1"/>
          <p:nvPr userDrawn="1"/>
        </p:nvSpPr>
        <p:spPr>
          <a:xfrm>
            <a:off x="9461544" y="1377321"/>
            <a:ext cx="1338828" cy="307777"/>
          </a:xfrm>
          <a:prstGeom prst="rect">
            <a:avLst/>
          </a:prstGeom>
          <a:noFill/>
        </p:spPr>
        <p:txBody>
          <a:bodyPr wrap="none" lIns="91416" tIns="45708" rIns="91416" bIns="45708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FFFFFF"/>
                </a:solidFill>
              </a:rPr>
              <a:t>Operating Unit</a:t>
            </a:r>
          </a:p>
        </p:txBody>
      </p:sp>
      <p:grpSp>
        <p:nvGrpSpPr>
          <p:cNvPr id="69" name="Group 68"/>
          <p:cNvGrpSpPr/>
          <p:nvPr userDrawn="1"/>
        </p:nvGrpSpPr>
        <p:grpSpPr>
          <a:xfrm>
            <a:off x="3038125" y="6019800"/>
            <a:ext cx="6118929" cy="360400"/>
            <a:chOff x="1519007" y="5992326"/>
            <a:chExt cx="6117336" cy="360400"/>
          </a:xfrm>
        </p:grpSpPr>
        <p:sp>
          <p:nvSpPr>
            <p:cNvPr id="72" name="Rectangle 71"/>
            <p:cNvSpPr/>
            <p:nvPr/>
          </p:nvSpPr>
          <p:spPr>
            <a:xfrm>
              <a:off x="3316606" y="5996110"/>
              <a:ext cx="2606674" cy="3566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799">
                <a:solidFill>
                  <a:srgbClr val="FFFFFF"/>
                </a:solidFill>
              </a:endParaRPr>
            </a:p>
          </p:txBody>
        </p:sp>
        <p:grpSp>
          <p:nvGrpSpPr>
            <p:cNvPr id="73" name="Group 72"/>
            <p:cNvGrpSpPr>
              <a:grpSpLocks noChangeAspect="1"/>
            </p:cNvGrpSpPr>
            <p:nvPr/>
          </p:nvGrpSpPr>
          <p:grpSpPr>
            <a:xfrm>
              <a:off x="1519007" y="5992326"/>
              <a:ext cx="6117336" cy="360400"/>
              <a:chOff x="471488" y="5307013"/>
              <a:chExt cx="8218488" cy="484188"/>
            </a:xfrm>
          </p:grpSpPr>
          <p:sp>
            <p:nvSpPr>
              <p:cNvPr id="74" name="Freeform 9"/>
              <p:cNvSpPr>
                <a:spLocks/>
              </p:cNvSpPr>
              <p:nvPr/>
            </p:nvSpPr>
            <p:spPr bwMode="auto">
              <a:xfrm>
                <a:off x="6043613" y="5307013"/>
                <a:ext cx="2646363" cy="484188"/>
              </a:xfrm>
              <a:custGeom>
                <a:avLst/>
                <a:gdLst>
                  <a:gd name="T0" fmla="*/ 0 w 835"/>
                  <a:gd name="T1" fmla="*/ 0 h 153"/>
                  <a:gd name="T2" fmla="*/ 0 w 835"/>
                  <a:gd name="T3" fmla="*/ 15 h 153"/>
                  <a:gd name="T4" fmla="*/ 2 w 835"/>
                  <a:gd name="T5" fmla="*/ 16 h 153"/>
                  <a:gd name="T6" fmla="*/ 43 w 835"/>
                  <a:gd name="T7" fmla="*/ 76 h 153"/>
                  <a:gd name="T8" fmla="*/ 2 w 835"/>
                  <a:gd name="T9" fmla="*/ 137 h 153"/>
                  <a:gd name="T10" fmla="*/ 0 w 835"/>
                  <a:gd name="T11" fmla="*/ 138 h 153"/>
                  <a:gd name="T12" fmla="*/ 0 w 835"/>
                  <a:gd name="T13" fmla="*/ 153 h 153"/>
                  <a:gd name="T14" fmla="*/ 835 w 835"/>
                  <a:gd name="T15" fmla="*/ 153 h 153"/>
                  <a:gd name="T16" fmla="*/ 835 w 835"/>
                  <a:gd name="T17" fmla="*/ 0 h 153"/>
                  <a:gd name="T18" fmla="*/ 0 w 835"/>
                  <a:gd name="T19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35" h="153">
                    <a:moveTo>
                      <a:pt x="0" y="0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1" y="15"/>
                      <a:pt x="1" y="15"/>
                      <a:pt x="2" y="16"/>
                    </a:cubicBezTo>
                    <a:cubicBezTo>
                      <a:pt x="26" y="25"/>
                      <a:pt x="43" y="49"/>
                      <a:pt x="43" y="76"/>
                    </a:cubicBezTo>
                    <a:cubicBezTo>
                      <a:pt x="43" y="104"/>
                      <a:pt x="26" y="128"/>
                      <a:pt x="2" y="137"/>
                    </a:cubicBezTo>
                    <a:cubicBezTo>
                      <a:pt x="1" y="138"/>
                      <a:pt x="1" y="138"/>
                      <a:pt x="0" y="138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835" y="153"/>
                      <a:pt x="835" y="153"/>
                      <a:pt x="835" y="153"/>
                    </a:cubicBezTo>
                    <a:cubicBezTo>
                      <a:pt x="835" y="0"/>
                      <a:pt x="835" y="0"/>
                      <a:pt x="83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A21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5" name="Freeform 10"/>
              <p:cNvSpPr>
                <a:spLocks/>
              </p:cNvSpPr>
              <p:nvPr/>
            </p:nvSpPr>
            <p:spPr bwMode="auto">
              <a:xfrm>
                <a:off x="471488" y="5307013"/>
                <a:ext cx="2651125" cy="484188"/>
              </a:xfrm>
              <a:custGeom>
                <a:avLst/>
                <a:gdLst>
                  <a:gd name="T0" fmla="*/ 792 w 836"/>
                  <a:gd name="T1" fmla="*/ 76 h 153"/>
                  <a:gd name="T2" fmla="*/ 836 w 836"/>
                  <a:gd name="T3" fmla="*/ 15 h 153"/>
                  <a:gd name="T4" fmla="*/ 836 w 836"/>
                  <a:gd name="T5" fmla="*/ 0 h 153"/>
                  <a:gd name="T6" fmla="*/ 0 w 836"/>
                  <a:gd name="T7" fmla="*/ 0 h 153"/>
                  <a:gd name="T8" fmla="*/ 0 w 836"/>
                  <a:gd name="T9" fmla="*/ 153 h 153"/>
                  <a:gd name="T10" fmla="*/ 836 w 836"/>
                  <a:gd name="T11" fmla="*/ 153 h 153"/>
                  <a:gd name="T12" fmla="*/ 836 w 836"/>
                  <a:gd name="T13" fmla="*/ 138 h 153"/>
                  <a:gd name="T14" fmla="*/ 792 w 836"/>
                  <a:gd name="T15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6" h="153">
                    <a:moveTo>
                      <a:pt x="792" y="76"/>
                    </a:moveTo>
                    <a:cubicBezTo>
                      <a:pt x="792" y="48"/>
                      <a:pt x="810" y="24"/>
                      <a:pt x="836" y="15"/>
                    </a:cubicBezTo>
                    <a:cubicBezTo>
                      <a:pt x="836" y="0"/>
                      <a:pt x="836" y="0"/>
                      <a:pt x="8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836" y="153"/>
                      <a:pt x="836" y="153"/>
                      <a:pt x="836" y="153"/>
                    </a:cubicBezTo>
                    <a:cubicBezTo>
                      <a:pt x="836" y="138"/>
                      <a:pt x="836" y="138"/>
                      <a:pt x="836" y="138"/>
                    </a:cubicBezTo>
                    <a:cubicBezTo>
                      <a:pt x="810" y="129"/>
                      <a:pt x="792" y="105"/>
                      <a:pt x="792" y="76"/>
                    </a:cubicBezTo>
                  </a:path>
                </a:pathLst>
              </a:custGeom>
              <a:solidFill>
                <a:srgbClr val="81BD4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6" name="Freeform 11"/>
              <p:cNvSpPr>
                <a:spLocks/>
              </p:cNvSpPr>
              <p:nvPr/>
            </p:nvSpPr>
            <p:spPr bwMode="auto">
              <a:xfrm>
                <a:off x="3257550" y="5307013"/>
                <a:ext cx="2647950" cy="484188"/>
              </a:xfrm>
              <a:custGeom>
                <a:avLst/>
                <a:gdLst>
                  <a:gd name="T0" fmla="*/ 791 w 835"/>
                  <a:gd name="T1" fmla="*/ 76 h 153"/>
                  <a:gd name="T2" fmla="*/ 835 w 835"/>
                  <a:gd name="T3" fmla="*/ 15 h 153"/>
                  <a:gd name="T4" fmla="*/ 835 w 835"/>
                  <a:gd name="T5" fmla="*/ 0 h 153"/>
                  <a:gd name="T6" fmla="*/ 0 w 835"/>
                  <a:gd name="T7" fmla="*/ 0 h 153"/>
                  <a:gd name="T8" fmla="*/ 0 w 835"/>
                  <a:gd name="T9" fmla="*/ 15 h 153"/>
                  <a:gd name="T10" fmla="*/ 44 w 835"/>
                  <a:gd name="T11" fmla="*/ 76 h 153"/>
                  <a:gd name="T12" fmla="*/ 0 w 835"/>
                  <a:gd name="T13" fmla="*/ 138 h 153"/>
                  <a:gd name="T14" fmla="*/ 0 w 835"/>
                  <a:gd name="T15" fmla="*/ 153 h 153"/>
                  <a:gd name="T16" fmla="*/ 835 w 835"/>
                  <a:gd name="T17" fmla="*/ 153 h 153"/>
                  <a:gd name="T18" fmla="*/ 835 w 835"/>
                  <a:gd name="T19" fmla="*/ 138 h 153"/>
                  <a:gd name="T20" fmla="*/ 791 w 835"/>
                  <a:gd name="T21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5" h="153">
                    <a:moveTo>
                      <a:pt x="791" y="76"/>
                    </a:moveTo>
                    <a:cubicBezTo>
                      <a:pt x="791" y="48"/>
                      <a:pt x="810" y="24"/>
                      <a:pt x="835" y="15"/>
                    </a:cubicBezTo>
                    <a:cubicBezTo>
                      <a:pt x="835" y="0"/>
                      <a:pt x="835" y="0"/>
                      <a:pt x="83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5" y="24"/>
                      <a:pt x="44" y="48"/>
                      <a:pt x="44" y="76"/>
                    </a:cubicBezTo>
                    <a:cubicBezTo>
                      <a:pt x="44" y="105"/>
                      <a:pt x="25" y="129"/>
                      <a:pt x="0" y="138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835" y="153"/>
                      <a:pt x="835" y="153"/>
                      <a:pt x="835" y="153"/>
                    </a:cubicBezTo>
                    <a:cubicBezTo>
                      <a:pt x="835" y="138"/>
                      <a:pt x="835" y="138"/>
                      <a:pt x="835" y="138"/>
                    </a:cubicBezTo>
                    <a:cubicBezTo>
                      <a:pt x="810" y="129"/>
                      <a:pt x="791" y="105"/>
                      <a:pt x="791" y="76"/>
                    </a:cubicBezTo>
                  </a:path>
                </a:pathLst>
              </a:custGeom>
              <a:solidFill>
                <a:srgbClr val="109AD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7" name="Freeform 12"/>
              <p:cNvSpPr>
                <a:spLocks/>
              </p:cNvSpPr>
              <p:nvPr/>
            </p:nvSpPr>
            <p:spPr bwMode="auto">
              <a:xfrm>
                <a:off x="903288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4 w 86"/>
                  <a:gd name="T7" fmla="*/ 20 h 112"/>
                  <a:gd name="T8" fmla="*/ 24 w 86"/>
                  <a:gd name="T9" fmla="*/ 44 h 112"/>
                  <a:gd name="T10" fmla="*/ 78 w 86"/>
                  <a:gd name="T11" fmla="*/ 44 h 112"/>
                  <a:gd name="T12" fmla="*/ 78 w 86"/>
                  <a:gd name="T13" fmla="*/ 64 h 112"/>
                  <a:gd name="T14" fmla="*/ 24 w 86"/>
                  <a:gd name="T15" fmla="*/ 64 h 112"/>
                  <a:gd name="T16" fmla="*/ 24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8" name="Freeform 13"/>
              <p:cNvSpPr>
                <a:spLocks/>
              </p:cNvSpPr>
              <p:nvPr/>
            </p:nvSpPr>
            <p:spPr bwMode="auto">
              <a:xfrm>
                <a:off x="1068388" y="5462588"/>
                <a:ext cx="152400" cy="177800"/>
              </a:xfrm>
              <a:custGeom>
                <a:avLst/>
                <a:gdLst>
                  <a:gd name="T0" fmla="*/ 0 w 96"/>
                  <a:gd name="T1" fmla="*/ 0 h 112"/>
                  <a:gd name="T2" fmla="*/ 26 w 96"/>
                  <a:gd name="T3" fmla="*/ 0 h 112"/>
                  <a:gd name="T4" fmla="*/ 72 w 96"/>
                  <a:gd name="T5" fmla="*/ 76 h 112"/>
                  <a:gd name="T6" fmla="*/ 72 w 96"/>
                  <a:gd name="T7" fmla="*/ 76 h 112"/>
                  <a:gd name="T8" fmla="*/ 72 w 96"/>
                  <a:gd name="T9" fmla="*/ 0 h 112"/>
                  <a:gd name="T10" fmla="*/ 96 w 96"/>
                  <a:gd name="T11" fmla="*/ 0 h 112"/>
                  <a:gd name="T12" fmla="*/ 96 w 96"/>
                  <a:gd name="T13" fmla="*/ 112 h 112"/>
                  <a:gd name="T14" fmla="*/ 70 w 96"/>
                  <a:gd name="T15" fmla="*/ 112 h 112"/>
                  <a:gd name="T16" fmla="*/ 24 w 96"/>
                  <a:gd name="T17" fmla="*/ 36 h 112"/>
                  <a:gd name="T18" fmla="*/ 24 w 96"/>
                  <a:gd name="T19" fmla="*/ 36 h 112"/>
                  <a:gd name="T20" fmla="*/ 24 w 96"/>
                  <a:gd name="T21" fmla="*/ 112 h 112"/>
                  <a:gd name="T22" fmla="*/ 0 w 96"/>
                  <a:gd name="T23" fmla="*/ 112 h 112"/>
                  <a:gd name="T24" fmla="*/ 0 w 9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112">
                    <a:moveTo>
                      <a:pt x="0" y="0"/>
                    </a:moveTo>
                    <a:lnTo>
                      <a:pt x="26" y="0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6" y="0"/>
                    </a:lnTo>
                    <a:lnTo>
                      <a:pt x="96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Freeform 14"/>
              <p:cNvSpPr>
                <a:spLocks/>
              </p:cNvSpPr>
              <p:nvPr/>
            </p:nvSpPr>
            <p:spPr bwMode="auto">
              <a:xfrm>
                <a:off x="1252538" y="5459413"/>
                <a:ext cx="163513" cy="184150"/>
              </a:xfrm>
              <a:custGeom>
                <a:avLst/>
                <a:gdLst>
                  <a:gd name="T0" fmla="*/ 43 w 52"/>
                  <a:gd name="T1" fmla="*/ 51 h 58"/>
                  <a:gd name="T2" fmla="*/ 27 w 52"/>
                  <a:gd name="T3" fmla="*/ 58 h 58"/>
                  <a:gd name="T4" fmla="*/ 0 w 52"/>
                  <a:gd name="T5" fmla="*/ 29 h 58"/>
                  <a:gd name="T6" fmla="*/ 27 w 52"/>
                  <a:gd name="T7" fmla="*/ 0 h 58"/>
                  <a:gd name="T8" fmla="*/ 51 w 52"/>
                  <a:gd name="T9" fmla="*/ 19 h 58"/>
                  <a:gd name="T10" fmla="*/ 39 w 52"/>
                  <a:gd name="T11" fmla="*/ 19 h 58"/>
                  <a:gd name="T12" fmla="*/ 27 w 52"/>
                  <a:gd name="T13" fmla="*/ 10 h 58"/>
                  <a:gd name="T14" fmla="*/ 12 w 52"/>
                  <a:gd name="T15" fmla="*/ 29 h 58"/>
                  <a:gd name="T16" fmla="*/ 27 w 52"/>
                  <a:gd name="T17" fmla="*/ 48 h 58"/>
                  <a:gd name="T18" fmla="*/ 41 w 52"/>
                  <a:gd name="T19" fmla="*/ 36 h 58"/>
                  <a:gd name="T20" fmla="*/ 28 w 52"/>
                  <a:gd name="T21" fmla="*/ 36 h 58"/>
                  <a:gd name="T22" fmla="*/ 28 w 52"/>
                  <a:gd name="T23" fmla="*/ 27 h 58"/>
                  <a:gd name="T24" fmla="*/ 52 w 52"/>
                  <a:gd name="T25" fmla="*/ 27 h 58"/>
                  <a:gd name="T26" fmla="*/ 52 w 52"/>
                  <a:gd name="T27" fmla="*/ 57 h 58"/>
                  <a:gd name="T28" fmla="*/ 44 w 52"/>
                  <a:gd name="T29" fmla="*/ 57 h 58"/>
                  <a:gd name="T30" fmla="*/ 43 w 52"/>
                  <a:gd name="T31" fmla="*/ 5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58">
                    <a:moveTo>
                      <a:pt x="43" y="51"/>
                    </a:moveTo>
                    <a:cubicBezTo>
                      <a:pt x="38" y="56"/>
                      <a:pt x="33" y="58"/>
                      <a:pt x="27" y="58"/>
                    </a:cubicBezTo>
                    <a:cubicBezTo>
                      <a:pt x="10" y="58"/>
                      <a:pt x="0" y="45"/>
                      <a:pt x="0" y="29"/>
                    </a:cubicBezTo>
                    <a:cubicBezTo>
                      <a:pt x="0" y="13"/>
                      <a:pt x="10" y="0"/>
                      <a:pt x="27" y="0"/>
                    </a:cubicBezTo>
                    <a:cubicBezTo>
                      <a:pt x="39" y="0"/>
                      <a:pt x="50" y="7"/>
                      <a:pt x="51" y="19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8" y="13"/>
                      <a:pt x="33" y="10"/>
                      <a:pt x="27" y="10"/>
                    </a:cubicBezTo>
                    <a:cubicBezTo>
                      <a:pt x="16" y="10"/>
                      <a:pt x="12" y="19"/>
                      <a:pt x="12" y="29"/>
                    </a:cubicBezTo>
                    <a:cubicBezTo>
                      <a:pt x="12" y="39"/>
                      <a:pt x="16" y="48"/>
                      <a:pt x="27" y="48"/>
                    </a:cubicBezTo>
                    <a:cubicBezTo>
                      <a:pt x="35" y="48"/>
                      <a:pt x="40" y="44"/>
                      <a:pt x="41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57"/>
                      <a:pt x="52" y="57"/>
                      <a:pt x="52" y="57"/>
                    </a:cubicBezTo>
                    <a:cubicBezTo>
                      <a:pt x="44" y="57"/>
                      <a:pt x="44" y="57"/>
                      <a:pt x="44" y="57"/>
                    </a:cubicBezTo>
                    <a:lnTo>
                      <a:pt x="43" y="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0" name="Freeform 15"/>
              <p:cNvSpPr>
                <a:spLocks noEditPoints="1"/>
              </p:cNvSpPr>
              <p:nvPr/>
            </p:nvSpPr>
            <p:spPr bwMode="auto">
              <a:xfrm>
                <a:off x="1431925" y="5462588"/>
                <a:ext cx="174625" cy="177800"/>
              </a:xfrm>
              <a:custGeom>
                <a:avLst/>
                <a:gdLst>
                  <a:gd name="T0" fmla="*/ 44 w 110"/>
                  <a:gd name="T1" fmla="*/ 0 h 112"/>
                  <a:gd name="T2" fmla="*/ 68 w 110"/>
                  <a:gd name="T3" fmla="*/ 0 h 112"/>
                  <a:gd name="T4" fmla="*/ 110 w 110"/>
                  <a:gd name="T5" fmla="*/ 112 h 112"/>
                  <a:gd name="T6" fmla="*/ 86 w 110"/>
                  <a:gd name="T7" fmla="*/ 112 h 112"/>
                  <a:gd name="T8" fmla="*/ 76 w 110"/>
                  <a:gd name="T9" fmla="*/ 86 h 112"/>
                  <a:gd name="T10" fmla="*/ 34 w 110"/>
                  <a:gd name="T11" fmla="*/ 86 h 112"/>
                  <a:gd name="T12" fmla="*/ 26 w 110"/>
                  <a:gd name="T13" fmla="*/ 112 h 112"/>
                  <a:gd name="T14" fmla="*/ 0 w 110"/>
                  <a:gd name="T15" fmla="*/ 112 h 112"/>
                  <a:gd name="T16" fmla="*/ 44 w 110"/>
                  <a:gd name="T17" fmla="*/ 0 h 112"/>
                  <a:gd name="T18" fmla="*/ 42 w 110"/>
                  <a:gd name="T19" fmla="*/ 68 h 112"/>
                  <a:gd name="T20" fmla="*/ 70 w 110"/>
                  <a:gd name="T21" fmla="*/ 68 h 112"/>
                  <a:gd name="T22" fmla="*/ 56 w 110"/>
                  <a:gd name="T23" fmla="*/ 28 h 112"/>
                  <a:gd name="T24" fmla="*/ 56 w 110"/>
                  <a:gd name="T25" fmla="*/ 28 h 112"/>
                  <a:gd name="T26" fmla="*/ 42 w 110"/>
                  <a:gd name="T27" fmla="*/ 6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112">
                    <a:moveTo>
                      <a:pt x="44" y="0"/>
                    </a:moveTo>
                    <a:lnTo>
                      <a:pt x="68" y="0"/>
                    </a:lnTo>
                    <a:lnTo>
                      <a:pt x="110" y="112"/>
                    </a:lnTo>
                    <a:lnTo>
                      <a:pt x="86" y="112"/>
                    </a:lnTo>
                    <a:lnTo>
                      <a:pt x="76" y="86"/>
                    </a:lnTo>
                    <a:lnTo>
                      <a:pt x="34" y="86"/>
                    </a:lnTo>
                    <a:lnTo>
                      <a:pt x="26" y="112"/>
                    </a:lnTo>
                    <a:lnTo>
                      <a:pt x="0" y="112"/>
                    </a:lnTo>
                    <a:lnTo>
                      <a:pt x="44" y="0"/>
                    </a:lnTo>
                    <a:close/>
                    <a:moveTo>
                      <a:pt x="42" y="68"/>
                    </a:moveTo>
                    <a:lnTo>
                      <a:pt x="70" y="68"/>
                    </a:lnTo>
                    <a:lnTo>
                      <a:pt x="56" y="28"/>
                    </a:lnTo>
                    <a:lnTo>
                      <a:pt x="56" y="28"/>
                    </a:lnTo>
                    <a:lnTo>
                      <a:pt x="42" y="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1" name="Freeform 16"/>
              <p:cNvSpPr>
                <a:spLocks/>
              </p:cNvSpPr>
              <p:nvPr/>
            </p:nvSpPr>
            <p:spPr bwMode="auto">
              <a:xfrm>
                <a:off x="1619250" y="5459413"/>
                <a:ext cx="168275" cy="184150"/>
              </a:xfrm>
              <a:custGeom>
                <a:avLst/>
                <a:gdLst>
                  <a:gd name="T0" fmla="*/ 43 w 53"/>
                  <a:gd name="T1" fmla="*/ 51 h 58"/>
                  <a:gd name="T2" fmla="*/ 28 w 53"/>
                  <a:gd name="T3" fmla="*/ 58 h 58"/>
                  <a:gd name="T4" fmla="*/ 0 w 53"/>
                  <a:gd name="T5" fmla="*/ 29 h 58"/>
                  <a:gd name="T6" fmla="*/ 28 w 53"/>
                  <a:gd name="T7" fmla="*/ 0 h 58"/>
                  <a:gd name="T8" fmla="*/ 52 w 53"/>
                  <a:gd name="T9" fmla="*/ 19 h 58"/>
                  <a:gd name="T10" fmla="*/ 40 w 53"/>
                  <a:gd name="T11" fmla="*/ 19 h 58"/>
                  <a:gd name="T12" fmla="*/ 28 w 53"/>
                  <a:gd name="T13" fmla="*/ 10 h 58"/>
                  <a:gd name="T14" fmla="*/ 13 w 53"/>
                  <a:gd name="T15" fmla="*/ 29 h 58"/>
                  <a:gd name="T16" fmla="*/ 28 w 53"/>
                  <a:gd name="T17" fmla="*/ 48 h 58"/>
                  <a:gd name="T18" fmla="*/ 41 w 53"/>
                  <a:gd name="T19" fmla="*/ 36 h 58"/>
                  <a:gd name="T20" fmla="*/ 29 w 53"/>
                  <a:gd name="T21" fmla="*/ 36 h 58"/>
                  <a:gd name="T22" fmla="*/ 29 w 53"/>
                  <a:gd name="T23" fmla="*/ 27 h 58"/>
                  <a:gd name="T24" fmla="*/ 53 w 53"/>
                  <a:gd name="T25" fmla="*/ 27 h 58"/>
                  <a:gd name="T26" fmla="*/ 53 w 53"/>
                  <a:gd name="T27" fmla="*/ 57 h 58"/>
                  <a:gd name="T28" fmla="*/ 45 w 53"/>
                  <a:gd name="T29" fmla="*/ 57 h 58"/>
                  <a:gd name="T30" fmla="*/ 43 w 53"/>
                  <a:gd name="T31" fmla="*/ 5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3" h="58">
                    <a:moveTo>
                      <a:pt x="43" y="51"/>
                    </a:moveTo>
                    <a:cubicBezTo>
                      <a:pt x="39" y="56"/>
                      <a:pt x="33" y="58"/>
                      <a:pt x="28" y="58"/>
                    </a:cubicBezTo>
                    <a:cubicBezTo>
                      <a:pt x="11" y="58"/>
                      <a:pt x="0" y="45"/>
                      <a:pt x="0" y="29"/>
                    </a:cubicBezTo>
                    <a:cubicBezTo>
                      <a:pt x="0" y="13"/>
                      <a:pt x="11" y="0"/>
                      <a:pt x="28" y="0"/>
                    </a:cubicBezTo>
                    <a:cubicBezTo>
                      <a:pt x="39" y="0"/>
                      <a:pt x="50" y="7"/>
                      <a:pt x="52" y="19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38" y="13"/>
                      <a:pt x="34" y="10"/>
                      <a:pt x="28" y="10"/>
                    </a:cubicBezTo>
                    <a:cubicBezTo>
                      <a:pt x="17" y="10"/>
                      <a:pt x="13" y="19"/>
                      <a:pt x="13" y="29"/>
                    </a:cubicBezTo>
                    <a:cubicBezTo>
                      <a:pt x="13" y="39"/>
                      <a:pt x="17" y="48"/>
                      <a:pt x="28" y="48"/>
                    </a:cubicBezTo>
                    <a:cubicBezTo>
                      <a:pt x="36" y="48"/>
                      <a:pt x="41" y="44"/>
                      <a:pt x="41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57"/>
                      <a:pt x="53" y="57"/>
                      <a:pt x="53" y="57"/>
                    </a:cubicBezTo>
                    <a:cubicBezTo>
                      <a:pt x="45" y="57"/>
                      <a:pt x="45" y="57"/>
                      <a:pt x="45" y="57"/>
                    </a:cubicBezTo>
                    <a:lnTo>
                      <a:pt x="43" y="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2" name="Freeform 17"/>
              <p:cNvSpPr>
                <a:spLocks/>
              </p:cNvSpPr>
              <p:nvPr/>
            </p:nvSpPr>
            <p:spPr bwMode="auto">
              <a:xfrm>
                <a:off x="1822450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4 w 86"/>
                  <a:gd name="T7" fmla="*/ 20 h 112"/>
                  <a:gd name="T8" fmla="*/ 24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4 w 86"/>
                  <a:gd name="T15" fmla="*/ 64 h 112"/>
                  <a:gd name="T16" fmla="*/ 24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 18"/>
              <p:cNvSpPr>
                <a:spLocks/>
              </p:cNvSpPr>
              <p:nvPr/>
            </p:nvSpPr>
            <p:spPr bwMode="auto">
              <a:xfrm>
                <a:off x="1990725" y="5462588"/>
                <a:ext cx="190500" cy="177800"/>
              </a:xfrm>
              <a:custGeom>
                <a:avLst/>
                <a:gdLst>
                  <a:gd name="T0" fmla="*/ 0 w 120"/>
                  <a:gd name="T1" fmla="*/ 0 h 112"/>
                  <a:gd name="T2" fmla="*/ 34 w 120"/>
                  <a:gd name="T3" fmla="*/ 0 h 112"/>
                  <a:gd name="T4" fmla="*/ 60 w 120"/>
                  <a:gd name="T5" fmla="*/ 76 h 112"/>
                  <a:gd name="T6" fmla="*/ 60 w 120"/>
                  <a:gd name="T7" fmla="*/ 76 h 112"/>
                  <a:gd name="T8" fmla="*/ 86 w 120"/>
                  <a:gd name="T9" fmla="*/ 0 h 112"/>
                  <a:gd name="T10" fmla="*/ 120 w 120"/>
                  <a:gd name="T11" fmla="*/ 0 h 112"/>
                  <a:gd name="T12" fmla="*/ 120 w 120"/>
                  <a:gd name="T13" fmla="*/ 112 h 112"/>
                  <a:gd name="T14" fmla="*/ 96 w 120"/>
                  <a:gd name="T15" fmla="*/ 112 h 112"/>
                  <a:gd name="T16" fmla="*/ 96 w 120"/>
                  <a:gd name="T17" fmla="*/ 32 h 112"/>
                  <a:gd name="T18" fmla="*/ 96 w 120"/>
                  <a:gd name="T19" fmla="*/ 32 h 112"/>
                  <a:gd name="T20" fmla="*/ 68 w 120"/>
                  <a:gd name="T21" fmla="*/ 112 h 112"/>
                  <a:gd name="T22" fmla="*/ 50 w 120"/>
                  <a:gd name="T23" fmla="*/ 112 h 112"/>
                  <a:gd name="T24" fmla="*/ 22 w 120"/>
                  <a:gd name="T25" fmla="*/ 34 h 112"/>
                  <a:gd name="T26" fmla="*/ 22 w 120"/>
                  <a:gd name="T27" fmla="*/ 34 h 112"/>
                  <a:gd name="T28" fmla="*/ 22 w 120"/>
                  <a:gd name="T29" fmla="*/ 112 h 112"/>
                  <a:gd name="T30" fmla="*/ 0 w 120"/>
                  <a:gd name="T31" fmla="*/ 112 h 112"/>
                  <a:gd name="T32" fmla="*/ 0 w 120"/>
                  <a:gd name="T3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0" h="112">
                    <a:moveTo>
                      <a:pt x="0" y="0"/>
                    </a:moveTo>
                    <a:lnTo>
                      <a:pt x="34" y="0"/>
                    </a:lnTo>
                    <a:lnTo>
                      <a:pt x="60" y="76"/>
                    </a:lnTo>
                    <a:lnTo>
                      <a:pt x="60" y="76"/>
                    </a:lnTo>
                    <a:lnTo>
                      <a:pt x="86" y="0"/>
                    </a:lnTo>
                    <a:lnTo>
                      <a:pt x="120" y="0"/>
                    </a:lnTo>
                    <a:lnTo>
                      <a:pt x="120" y="112"/>
                    </a:lnTo>
                    <a:lnTo>
                      <a:pt x="96" y="112"/>
                    </a:lnTo>
                    <a:lnTo>
                      <a:pt x="96" y="32"/>
                    </a:lnTo>
                    <a:lnTo>
                      <a:pt x="96" y="32"/>
                    </a:lnTo>
                    <a:lnTo>
                      <a:pt x="68" y="112"/>
                    </a:lnTo>
                    <a:lnTo>
                      <a:pt x="50" y="112"/>
                    </a:lnTo>
                    <a:lnTo>
                      <a:pt x="22" y="34"/>
                    </a:lnTo>
                    <a:lnTo>
                      <a:pt x="22" y="34"/>
                    </a:lnTo>
                    <a:lnTo>
                      <a:pt x="22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 19"/>
              <p:cNvSpPr>
                <a:spLocks/>
              </p:cNvSpPr>
              <p:nvPr/>
            </p:nvSpPr>
            <p:spPr bwMode="auto">
              <a:xfrm>
                <a:off x="2219325" y="5462588"/>
                <a:ext cx="134938" cy="177800"/>
              </a:xfrm>
              <a:custGeom>
                <a:avLst/>
                <a:gdLst>
                  <a:gd name="T0" fmla="*/ 0 w 85"/>
                  <a:gd name="T1" fmla="*/ 0 h 112"/>
                  <a:gd name="T2" fmla="*/ 83 w 85"/>
                  <a:gd name="T3" fmla="*/ 0 h 112"/>
                  <a:gd name="T4" fmla="*/ 83 w 85"/>
                  <a:gd name="T5" fmla="*/ 20 h 112"/>
                  <a:gd name="T6" fmla="*/ 25 w 85"/>
                  <a:gd name="T7" fmla="*/ 20 h 112"/>
                  <a:gd name="T8" fmla="*/ 25 w 85"/>
                  <a:gd name="T9" fmla="*/ 44 h 112"/>
                  <a:gd name="T10" fmla="*/ 79 w 85"/>
                  <a:gd name="T11" fmla="*/ 44 h 112"/>
                  <a:gd name="T12" fmla="*/ 79 w 85"/>
                  <a:gd name="T13" fmla="*/ 64 h 112"/>
                  <a:gd name="T14" fmla="*/ 25 w 85"/>
                  <a:gd name="T15" fmla="*/ 64 h 112"/>
                  <a:gd name="T16" fmla="*/ 25 w 85"/>
                  <a:gd name="T17" fmla="*/ 92 h 112"/>
                  <a:gd name="T18" fmla="*/ 85 w 85"/>
                  <a:gd name="T19" fmla="*/ 92 h 112"/>
                  <a:gd name="T20" fmla="*/ 85 w 85"/>
                  <a:gd name="T21" fmla="*/ 112 h 112"/>
                  <a:gd name="T22" fmla="*/ 0 w 85"/>
                  <a:gd name="T23" fmla="*/ 112 h 112"/>
                  <a:gd name="T24" fmla="*/ 0 w 85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112">
                    <a:moveTo>
                      <a:pt x="0" y="0"/>
                    </a:moveTo>
                    <a:lnTo>
                      <a:pt x="83" y="0"/>
                    </a:lnTo>
                    <a:lnTo>
                      <a:pt x="83" y="20"/>
                    </a:lnTo>
                    <a:lnTo>
                      <a:pt x="25" y="20"/>
                    </a:lnTo>
                    <a:lnTo>
                      <a:pt x="25" y="44"/>
                    </a:lnTo>
                    <a:lnTo>
                      <a:pt x="79" y="44"/>
                    </a:lnTo>
                    <a:lnTo>
                      <a:pt x="79" y="64"/>
                    </a:lnTo>
                    <a:lnTo>
                      <a:pt x="25" y="64"/>
                    </a:lnTo>
                    <a:lnTo>
                      <a:pt x="25" y="92"/>
                    </a:lnTo>
                    <a:lnTo>
                      <a:pt x="85" y="92"/>
                    </a:lnTo>
                    <a:lnTo>
                      <a:pt x="85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 20"/>
              <p:cNvSpPr>
                <a:spLocks/>
              </p:cNvSpPr>
              <p:nvPr/>
            </p:nvSpPr>
            <p:spPr bwMode="auto">
              <a:xfrm>
                <a:off x="2386013" y="5462588"/>
                <a:ext cx="149225" cy="177800"/>
              </a:xfrm>
              <a:custGeom>
                <a:avLst/>
                <a:gdLst>
                  <a:gd name="T0" fmla="*/ 0 w 94"/>
                  <a:gd name="T1" fmla="*/ 0 h 112"/>
                  <a:gd name="T2" fmla="*/ 24 w 94"/>
                  <a:gd name="T3" fmla="*/ 0 h 112"/>
                  <a:gd name="T4" fmla="*/ 70 w 94"/>
                  <a:gd name="T5" fmla="*/ 76 h 112"/>
                  <a:gd name="T6" fmla="*/ 72 w 94"/>
                  <a:gd name="T7" fmla="*/ 76 h 112"/>
                  <a:gd name="T8" fmla="*/ 72 w 94"/>
                  <a:gd name="T9" fmla="*/ 0 h 112"/>
                  <a:gd name="T10" fmla="*/ 94 w 94"/>
                  <a:gd name="T11" fmla="*/ 0 h 112"/>
                  <a:gd name="T12" fmla="*/ 94 w 94"/>
                  <a:gd name="T13" fmla="*/ 112 h 112"/>
                  <a:gd name="T14" fmla="*/ 70 w 94"/>
                  <a:gd name="T15" fmla="*/ 112 h 112"/>
                  <a:gd name="T16" fmla="*/ 24 w 94"/>
                  <a:gd name="T17" fmla="*/ 36 h 112"/>
                  <a:gd name="T18" fmla="*/ 22 w 94"/>
                  <a:gd name="T19" fmla="*/ 36 h 112"/>
                  <a:gd name="T20" fmla="*/ 22 w 94"/>
                  <a:gd name="T21" fmla="*/ 112 h 112"/>
                  <a:gd name="T22" fmla="*/ 0 w 94"/>
                  <a:gd name="T23" fmla="*/ 112 h 112"/>
                  <a:gd name="T24" fmla="*/ 0 w 94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4" h="112">
                    <a:moveTo>
                      <a:pt x="0" y="0"/>
                    </a:moveTo>
                    <a:lnTo>
                      <a:pt x="24" y="0"/>
                    </a:lnTo>
                    <a:lnTo>
                      <a:pt x="70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4" y="0"/>
                    </a:lnTo>
                    <a:lnTo>
                      <a:pt x="94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2" y="36"/>
                    </a:lnTo>
                    <a:lnTo>
                      <a:pt x="22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 21"/>
              <p:cNvSpPr>
                <a:spLocks/>
              </p:cNvSpPr>
              <p:nvPr/>
            </p:nvSpPr>
            <p:spPr bwMode="auto">
              <a:xfrm>
                <a:off x="2560638" y="5462588"/>
                <a:ext cx="146050" cy="177800"/>
              </a:xfrm>
              <a:custGeom>
                <a:avLst/>
                <a:gdLst>
                  <a:gd name="T0" fmla="*/ 34 w 92"/>
                  <a:gd name="T1" fmla="*/ 20 h 112"/>
                  <a:gd name="T2" fmla="*/ 0 w 92"/>
                  <a:gd name="T3" fmla="*/ 20 h 112"/>
                  <a:gd name="T4" fmla="*/ 0 w 92"/>
                  <a:gd name="T5" fmla="*/ 0 h 112"/>
                  <a:gd name="T6" fmla="*/ 92 w 92"/>
                  <a:gd name="T7" fmla="*/ 0 h 112"/>
                  <a:gd name="T8" fmla="*/ 92 w 92"/>
                  <a:gd name="T9" fmla="*/ 20 h 112"/>
                  <a:gd name="T10" fmla="*/ 58 w 92"/>
                  <a:gd name="T11" fmla="*/ 20 h 112"/>
                  <a:gd name="T12" fmla="*/ 58 w 92"/>
                  <a:gd name="T13" fmla="*/ 112 h 112"/>
                  <a:gd name="T14" fmla="*/ 34 w 92"/>
                  <a:gd name="T15" fmla="*/ 112 h 112"/>
                  <a:gd name="T16" fmla="*/ 34 w 92"/>
                  <a:gd name="T17" fmla="*/ 2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112">
                    <a:moveTo>
                      <a:pt x="34" y="20"/>
                    </a:moveTo>
                    <a:lnTo>
                      <a:pt x="0" y="20"/>
                    </a:lnTo>
                    <a:lnTo>
                      <a:pt x="0" y="0"/>
                    </a:lnTo>
                    <a:lnTo>
                      <a:pt x="92" y="0"/>
                    </a:lnTo>
                    <a:lnTo>
                      <a:pt x="92" y="20"/>
                    </a:lnTo>
                    <a:lnTo>
                      <a:pt x="58" y="20"/>
                    </a:lnTo>
                    <a:lnTo>
                      <a:pt x="58" y="112"/>
                    </a:lnTo>
                    <a:lnTo>
                      <a:pt x="34" y="112"/>
                    </a:lnTo>
                    <a:lnTo>
                      <a:pt x="34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Freeform 22"/>
              <p:cNvSpPr>
                <a:spLocks/>
              </p:cNvSpPr>
              <p:nvPr/>
            </p:nvSpPr>
            <p:spPr bwMode="auto">
              <a:xfrm>
                <a:off x="3756025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6 w 86"/>
                  <a:gd name="T7" fmla="*/ 20 h 112"/>
                  <a:gd name="T8" fmla="*/ 26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6 w 86"/>
                  <a:gd name="T15" fmla="*/ 64 h 112"/>
                  <a:gd name="T16" fmla="*/ 26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6" y="20"/>
                    </a:lnTo>
                    <a:lnTo>
                      <a:pt x="26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6" y="64"/>
                    </a:lnTo>
                    <a:lnTo>
                      <a:pt x="26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 23"/>
              <p:cNvSpPr>
                <a:spLocks/>
              </p:cNvSpPr>
              <p:nvPr/>
            </p:nvSpPr>
            <p:spPr bwMode="auto">
              <a:xfrm>
                <a:off x="3905250" y="5462588"/>
                <a:ext cx="168275" cy="177800"/>
              </a:xfrm>
              <a:custGeom>
                <a:avLst/>
                <a:gdLst>
                  <a:gd name="T0" fmla="*/ 40 w 106"/>
                  <a:gd name="T1" fmla="*/ 54 h 112"/>
                  <a:gd name="T2" fmla="*/ 2 w 106"/>
                  <a:gd name="T3" fmla="*/ 0 h 112"/>
                  <a:gd name="T4" fmla="*/ 32 w 106"/>
                  <a:gd name="T5" fmla="*/ 0 h 112"/>
                  <a:gd name="T6" fmla="*/ 54 w 106"/>
                  <a:gd name="T7" fmla="*/ 36 h 112"/>
                  <a:gd name="T8" fmla="*/ 76 w 106"/>
                  <a:gd name="T9" fmla="*/ 0 h 112"/>
                  <a:gd name="T10" fmla="*/ 104 w 106"/>
                  <a:gd name="T11" fmla="*/ 0 h 112"/>
                  <a:gd name="T12" fmla="*/ 68 w 106"/>
                  <a:gd name="T13" fmla="*/ 54 h 112"/>
                  <a:gd name="T14" fmla="*/ 106 w 106"/>
                  <a:gd name="T15" fmla="*/ 112 h 112"/>
                  <a:gd name="T16" fmla="*/ 78 w 106"/>
                  <a:gd name="T17" fmla="*/ 112 h 112"/>
                  <a:gd name="T18" fmla="*/ 52 w 106"/>
                  <a:gd name="T19" fmla="*/ 74 h 112"/>
                  <a:gd name="T20" fmla="*/ 28 w 106"/>
                  <a:gd name="T21" fmla="*/ 112 h 112"/>
                  <a:gd name="T22" fmla="*/ 0 w 106"/>
                  <a:gd name="T23" fmla="*/ 112 h 112"/>
                  <a:gd name="T24" fmla="*/ 40 w 106"/>
                  <a:gd name="T25" fmla="*/ 5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6" h="112">
                    <a:moveTo>
                      <a:pt x="40" y="54"/>
                    </a:moveTo>
                    <a:lnTo>
                      <a:pt x="2" y="0"/>
                    </a:lnTo>
                    <a:lnTo>
                      <a:pt x="32" y="0"/>
                    </a:lnTo>
                    <a:lnTo>
                      <a:pt x="54" y="36"/>
                    </a:lnTo>
                    <a:lnTo>
                      <a:pt x="76" y="0"/>
                    </a:lnTo>
                    <a:lnTo>
                      <a:pt x="104" y="0"/>
                    </a:lnTo>
                    <a:lnTo>
                      <a:pt x="68" y="54"/>
                    </a:lnTo>
                    <a:lnTo>
                      <a:pt x="106" y="112"/>
                    </a:lnTo>
                    <a:lnTo>
                      <a:pt x="78" y="112"/>
                    </a:lnTo>
                    <a:lnTo>
                      <a:pt x="52" y="74"/>
                    </a:lnTo>
                    <a:lnTo>
                      <a:pt x="28" y="112"/>
                    </a:lnTo>
                    <a:lnTo>
                      <a:pt x="0" y="112"/>
                    </a:lnTo>
                    <a:lnTo>
                      <a:pt x="40" y="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 24"/>
              <p:cNvSpPr>
                <a:spLocks/>
              </p:cNvSpPr>
              <p:nvPr/>
            </p:nvSpPr>
            <p:spPr bwMode="auto">
              <a:xfrm>
                <a:off x="4086225" y="5459413"/>
                <a:ext cx="166688" cy="184150"/>
              </a:xfrm>
              <a:custGeom>
                <a:avLst/>
                <a:gdLst>
                  <a:gd name="T0" fmla="*/ 40 w 53"/>
                  <a:gd name="T1" fmla="*/ 20 h 58"/>
                  <a:gd name="T2" fmla="*/ 28 w 53"/>
                  <a:gd name="T3" fmla="*/ 10 h 58"/>
                  <a:gd name="T4" fmla="*/ 13 w 53"/>
                  <a:gd name="T5" fmla="*/ 29 h 58"/>
                  <a:gd name="T6" fmla="*/ 28 w 53"/>
                  <a:gd name="T7" fmla="*/ 48 h 58"/>
                  <a:gd name="T8" fmla="*/ 41 w 53"/>
                  <a:gd name="T9" fmla="*/ 35 h 58"/>
                  <a:gd name="T10" fmla="*/ 53 w 53"/>
                  <a:gd name="T11" fmla="*/ 35 h 58"/>
                  <a:gd name="T12" fmla="*/ 28 w 53"/>
                  <a:gd name="T13" fmla="*/ 58 h 58"/>
                  <a:gd name="T14" fmla="*/ 0 w 53"/>
                  <a:gd name="T15" fmla="*/ 29 h 58"/>
                  <a:gd name="T16" fmla="*/ 28 w 53"/>
                  <a:gd name="T17" fmla="*/ 0 h 58"/>
                  <a:gd name="T18" fmla="*/ 52 w 53"/>
                  <a:gd name="T19" fmla="*/ 20 h 58"/>
                  <a:gd name="T20" fmla="*/ 40 w 53"/>
                  <a:gd name="T21" fmla="*/ 2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" h="58">
                    <a:moveTo>
                      <a:pt x="40" y="20"/>
                    </a:moveTo>
                    <a:cubicBezTo>
                      <a:pt x="39" y="14"/>
                      <a:pt x="34" y="10"/>
                      <a:pt x="28" y="10"/>
                    </a:cubicBezTo>
                    <a:cubicBezTo>
                      <a:pt x="17" y="10"/>
                      <a:pt x="13" y="19"/>
                      <a:pt x="13" y="29"/>
                    </a:cubicBezTo>
                    <a:cubicBezTo>
                      <a:pt x="13" y="39"/>
                      <a:pt x="17" y="48"/>
                      <a:pt x="28" y="48"/>
                    </a:cubicBezTo>
                    <a:cubicBezTo>
                      <a:pt x="35" y="48"/>
                      <a:pt x="40" y="43"/>
                      <a:pt x="41" y="35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1" y="49"/>
                      <a:pt x="42" y="58"/>
                      <a:pt x="28" y="58"/>
                    </a:cubicBezTo>
                    <a:cubicBezTo>
                      <a:pt x="11" y="58"/>
                      <a:pt x="0" y="45"/>
                      <a:pt x="0" y="29"/>
                    </a:cubicBezTo>
                    <a:cubicBezTo>
                      <a:pt x="0" y="13"/>
                      <a:pt x="11" y="0"/>
                      <a:pt x="28" y="0"/>
                    </a:cubicBezTo>
                    <a:cubicBezTo>
                      <a:pt x="40" y="0"/>
                      <a:pt x="51" y="7"/>
                      <a:pt x="52" y="20"/>
                    </a:cubicBezTo>
                    <a:lnTo>
                      <a:pt x="40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 25"/>
              <p:cNvSpPr>
                <a:spLocks/>
              </p:cNvSpPr>
              <p:nvPr/>
            </p:nvSpPr>
            <p:spPr bwMode="auto">
              <a:xfrm>
                <a:off x="4284663" y="5462588"/>
                <a:ext cx="133350" cy="177800"/>
              </a:xfrm>
              <a:custGeom>
                <a:avLst/>
                <a:gdLst>
                  <a:gd name="T0" fmla="*/ 0 w 84"/>
                  <a:gd name="T1" fmla="*/ 0 h 112"/>
                  <a:gd name="T2" fmla="*/ 84 w 84"/>
                  <a:gd name="T3" fmla="*/ 0 h 112"/>
                  <a:gd name="T4" fmla="*/ 84 w 84"/>
                  <a:gd name="T5" fmla="*/ 20 h 112"/>
                  <a:gd name="T6" fmla="*/ 24 w 84"/>
                  <a:gd name="T7" fmla="*/ 20 h 112"/>
                  <a:gd name="T8" fmla="*/ 24 w 84"/>
                  <a:gd name="T9" fmla="*/ 44 h 112"/>
                  <a:gd name="T10" fmla="*/ 78 w 84"/>
                  <a:gd name="T11" fmla="*/ 44 h 112"/>
                  <a:gd name="T12" fmla="*/ 78 w 84"/>
                  <a:gd name="T13" fmla="*/ 64 h 112"/>
                  <a:gd name="T14" fmla="*/ 24 w 84"/>
                  <a:gd name="T15" fmla="*/ 64 h 112"/>
                  <a:gd name="T16" fmla="*/ 24 w 84"/>
                  <a:gd name="T17" fmla="*/ 92 h 112"/>
                  <a:gd name="T18" fmla="*/ 84 w 84"/>
                  <a:gd name="T19" fmla="*/ 92 h 112"/>
                  <a:gd name="T20" fmla="*/ 84 w 84"/>
                  <a:gd name="T21" fmla="*/ 112 h 112"/>
                  <a:gd name="T22" fmla="*/ 0 w 84"/>
                  <a:gd name="T23" fmla="*/ 112 h 112"/>
                  <a:gd name="T24" fmla="*/ 0 w 84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4" y="92"/>
                    </a:lnTo>
                    <a:lnTo>
                      <a:pt x="8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 26"/>
              <p:cNvSpPr>
                <a:spLocks/>
              </p:cNvSpPr>
              <p:nvPr/>
            </p:nvSpPr>
            <p:spPr bwMode="auto">
              <a:xfrm>
                <a:off x="4449763" y="5462588"/>
                <a:ext cx="127000" cy="177800"/>
              </a:xfrm>
              <a:custGeom>
                <a:avLst/>
                <a:gdLst>
                  <a:gd name="T0" fmla="*/ 0 w 80"/>
                  <a:gd name="T1" fmla="*/ 0 h 112"/>
                  <a:gd name="T2" fmla="*/ 24 w 80"/>
                  <a:gd name="T3" fmla="*/ 0 h 112"/>
                  <a:gd name="T4" fmla="*/ 24 w 80"/>
                  <a:gd name="T5" fmla="*/ 92 h 112"/>
                  <a:gd name="T6" fmla="*/ 80 w 80"/>
                  <a:gd name="T7" fmla="*/ 92 h 112"/>
                  <a:gd name="T8" fmla="*/ 80 w 80"/>
                  <a:gd name="T9" fmla="*/ 112 h 112"/>
                  <a:gd name="T10" fmla="*/ 0 w 80"/>
                  <a:gd name="T11" fmla="*/ 112 h 112"/>
                  <a:gd name="T12" fmla="*/ 0 w 80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12">
                    <a:moveTo>
                      <a:pt x="0" y="0"/>
                    </a:moveTo>
                    <a:lnTo>
                      <a:pt x="24" y="0"/>
                    </a:lnTo>
                    <a:lnTo>
                      <a:pt x="24" y="92"/>
                    </a:lnTo>
                    <a:lnTo>
                      <a:pt x="80" y="92"/>
                    </a:lnTo>
                    <a:lnTo>
                      <a:pt x="80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Freeform 27"/>
              <p:cNvSpPr>
                <a:spLocks/>
              </p:cNvSpPr>
              <p:nvPr/>
            </p:nvSpPr>
            <p:spPr bwMode="auto">
              <a:xfrm>
                <a:off x="4602163" y="5462588"/>
                <a:ext cx="127000" cy="177800"/>
              </a:xfrm>
              <a:custGeom>
                <a:avLst/>
                <a:gdLst>
                  <a:gd name="T0" fmla="*/ 0 w 80"/>
                  <a:gd name="T1" fmla="*/ 0 h 112"/>
                  <a:gd name="T2" fmla="*/ 26 w 80"/>
                  <a:gd name="T3" fmla="*/ 0 h 112"/>
                  <a:gd name="T4" fmla="*/ 26 w 80"/>
                  <a:gd name="T5" fmla="*/ 92 h 112"/>
                  <a:gd name="T6" fmla="*/ 80 w 80"/>
                  <a:gd name="T7" fmla="*/ 92 h 112"/>
                  <a:gd name="T8" fmla="*/ 80 w 80"/>
                  <a:gd name="T9" fmla="*/ 112 h 112"/>
                  <a:gd name="T10" fmla="*/ 0 w 80"/>
                  <a:gd name="T11" fmla="*/ 112 h 112"/>
                  <a:gd name="T12" fmla="*/ 0 w 80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12">
                    <a:moveTo>
                      <a:pt x="0" y="0"/>
                    </a:moveTo>
                    <a:lnTo>
                      <a:pt x="26" y="0"/>
                    </a:lnTo>
                    <a:lnTo>
                      <a:pt x="26" y="92"/>
                    </a:lnTo>
                    <a:lnTo>
                      <a:pt x="80" y="92"/>
                    </a:lnTo>
                    <a:lnTo>
                      <a:pt x="80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 28"/>
              <p:cNvSpPr>
                <a:spLocks/>
              </p:cNvSpPr>
              <p:nvPr/>
            </p:nvSpPr>
            <p:spPr bwMode="auto">
              <a:xfrm>
                <a:off x="4754563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6 w 86"/>
                  <a:gd name="T7" fmla="*/ 20 h 112"/>
                  <a:gd name="T8" fmla="*/ 26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6 w 86"/>
                  <a:gd name="T15" fmla="*/ 64 h 112"/>
                  <a:gd name="T16" fmla="*/ 26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6" y="20"/>
                    </a:lnTo>
                    <a:lnTo>
                      <a:pt x="26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6" y="64"/>
                    </a:lnTo>
                    <a:lnTo>
                      <a:pt x="26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 29"/>
              <p:cNvSpPr>
                <a:spLocks/>
              </p:cNvSpPr>
              <p:nvPr/>
            </p:nvSpPr>
            <p:spPr bwMode="auto">
              <a:xfrm>
                <a:off x="4922838" y="5462588"/>
                <a:ext cx="147638" cy="177800"/>
              </a:xfrm>
              <a:custGeom>
                <a:avLst/>
                <a:gdLst>
                  <a:gd name="T0" fmla="*/ 0 w 93"/>
                  <a:gd name="T1" fmla="*/ 0 h 112"/>
                  <a:gd name="T2" fmla="*/ 24 w 93"/>
                  <a:gd name="T3" fmla="*/ 0 h 112"/>
                  <a:gd name="T4" fmla="*/ 71 w 93"/>
                  <a:gd name="T5" fmla="*/ 76 h 112"/>
                  <a:gd name="T6" fmla="*/ 71 w 93"/>
                  <a:gd name="T7" fmla="*/ 76 h 112"/>
                  <a:gd name="T8" fmla="*/ 71 w 93"/>
                  <a:gd name="T9" fmla="*/ 0 h 112"/>
                  <a:gd name="T10" fmla="*/ 93 w 93"/>
                  <a:gd name="T11" fmla="*/ 0 h 112"/>
                  <a:gd name="T12" fmla="*/ 93 w 93"/>
                  <a:gd name="T13" fmla="*/ 112 h 112"/>
                  <a:gd name="T14" fmla="*/ 69 w 93"/>
                  <a:gd name="T15" fmla="*/ 112 h 112"/>
                  <a:gd name="T16" fmla="*/ 24 w 93"/>
                  <a:gd name="T17" fmla="*/ 36 h 112"/>
                  <a:gd name="T18" fmla="*/ 22 w 93"/>
                  <a:gd name="T19" fmla="*/ 36 h 112"/>
                  <a:gd name="T20" fmla="*/ 22 w 93"/>
                  <a:gd name="T21" fmla="*/ 112 h 112"/>
                  <a:gd name="T22" fmla="*/ 0 w 93"/>
                  <a:gd name="T23" fmla="*/ 112 h 112"/>
                  <a:gd name="T24" fmla="*/ 0 w 93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112">
                    <a:moveTo>
                      <a:pt x="0" y="0"/>
                    </a:moveTo>
                    <a:lnTo>
                      <a:pt x="24" y="0"/>
                    </a:lnTo>
                    <a:lnTo>
                      <a:pt x="71" y="76"/>
                    </a:lnTo>
                    <a:lnTo>
                      <a:pt x="71" y="76"/>
                    </a:lnTo>
                    <a:lnTo>
                      <a:pt x="71" y="0"/>
                    </a:lnTo>
                    <a:lnTo>
                      <a:pt x="93" y="0"/>
                    </a:lnTo>
                    <a:lnTo>
                      <a:pt x="93" y="112"/>
                    </a:lnTo>
                    <a:lnTo>
                      <a:pt x="69" y="112"/>
                    </a:lnTo>
                    <a:lnTo>
                      <a:pt x="24" y="36"/>
                    </a:lnTo>
                    <a:lnTo>
                      <a:pt x="22" y="36"/>
                    </a:lnTo>
                    <a:lnTo>
                      <a:pt x="22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 30"/>
              <p:cNvSpPr>
                <a:spLocks/>
              </p:cNvSpPr>
              <p:nvPr/>
            </p:nvSpPr>
            <p:spPr bwMode="auto">
              <a:xfrm>
                <a:off x="5102225" y="5459413"/>
                <a:ext cx="165100" cy="184150"/>
              </a:xfrm>
              <a:custGeom>
                <a:avLst/>
                <a:gdLst>
                  <a:gd name="T0" fmla="*/ 40 w 52"/>
                  <a:gd name="T1" fmla="*/ 20 h 58"/>
                  <a:gd name="T2" fmla="*/ 28 w 52"/>
                  <a:gd name="T3" fmla="*/ 10 h 58"/>
                  <a:gd name="T4" fmla="*/ 13 w 52"/>
                  <a:gd name="T5" fmla="*/ 29 h 58"/>
                  <a:gd name="T6" fmla="*/ 28 w 52"/>
                  <a:gd name="T7" fmla="*/ 48 h 58"/>
                  <a:gd name="T8" fmla="*/ 41 w 52"/>
                  <a:gd name="T9" fmla="*/ 35 h 58"/>
                  <a:gd name="T10" fmla="*/ 52 w 52"/>
                  <a:gd name="T11" fmla="*/ 35 h 58"/>
                  <a:gd name="T12" fmla="*/ 28 w 52"/>
                  <a:gd name="T13" fmla="*/ 58 h 58"/>
                  <a:gd name="T14" fmla="*/ 0 w 52"/>
                  <a:gd name="T15" fmla="*/ 29 h 58"/>
                  <a:gd name="T16" fmla="*/ 28 w 52"/>
                  <a:gd name="T17" fmla="*/ 0 h 58"/>
                  <a:gd name="T18" fmla="*/ 52 w 52"/>
                  <a:gd name="T19" fmla="*/ 20 h 58"/>
                  <a:gd name="T20" fmla="*/ 40 w 52"/>
                  <a:gd name="T21" fmla="*/ 2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" h="58">
                    <a:moveTo>
                      <a:pt x="40" y="20"/>
                    </a:moveTo>
                    <a:cubicBezTo>
                      <a:pt x="39" y="14"/>
                      <a:pt x="34" y="10"/>
                      <a:pt x="28" y="10"/>
                    </a:cubicBezTo>
                    <a:cubicBezTo>
                      <a:pt x="17" y="10"/>
                      <a:pt x="13" y="19"/>
                      <a:pt x="13" y="29"/>
                    </a:cubicBezTo>
                    <a:cubicBezTo>
                      <a:pt x="13" y="39"/>
                      <a:pt x="17" y="48"/>
                      <a:pt x="28" y="48"/>
                    </a:cubicBezTo>
                    <a:cubicBezTo>
                      <a:pt x="35" y="48"/>
                      <a:pt x="40" y="43"/>
                      <a:pt x="41" y="35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1" y="49"/>
                      <a:pt x="42" y="58"/>
                      <a:pt x="28" y="58"/>
                    </a:cubicBezTo>
                    <a:cubicBezTo>
                      <a:pt x="10" y="58"/>
                      <a:pt x="0" y="45"/>
                      <a:pt x="0" y="29"/>
                    </a:cubicBezTo>
                    <a:cubicBezTo>
                      <a:pt x="0" y="13"/>
                      <a:pt x="10" y="0"/>
                      <a:pt x="28" y="0"/>
                    </a:cubicBezTo>
                    <a:cubicBezTo>
                      <a:pt x="40" y="0"/>
                      <a:pt x="51" y="7"/>
                      <a:pt x="52" y="20"/>
                    </a:cubicBezTo>
                    <a:lnTo>
                      <a:pt x="40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 31"/>
              <p:cNvSpPr>
                <a:spLocks/>
              </p:cNvSpPr>
              <p:nvPr/>
            </p:nvSpPr>
            <p:spPr bwMode="auto">
              <a:xfrm>
                <a:off x="5299075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6 w 86"/>
                  <a:gd name="T7" fmla="*/ 20 h 112"/>
                  <a:gd name="T8" fmla="*/ 26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6 w 86"/>
                  <a:gd name="T15" fmla="*/ 64 h 112"/>
                  <a:gd name="T16" fmla="*/ 26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6" y="20"/>
                    </a:lnTo>
                    <a:lnTo>
                      <a:pt x="26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6" y="64"/>
                    </a:lnTo>
                    <a:lnTo>
                      <a:pt x="26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 32"/>
              <p:cNvSpPr>
                <a:spLocks/>
              </p:cNvSpPr>
              <p:nvPr/>
            </p:nvSpPr>
            <p:spPr bwMode="auto">
              <a:xfrm>
                <a:off x="6497638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4 w 86"/>
                  <a:gd name="T7" fmla="*/ 20 h 112"/>
                  <a:gd name="T8" fmla="*/ 24 w 86"/>
                  <a:gd name="T9" fmla="*/ 44 h 112"/>
                  <a:gd name="T10" fmla="*/ 78 w 86"/>
                  <a:gd name="T11" fmla="*/ 44 h 112"/>
                  <a:gd name="T12" fmla="*/ 78 w 86"/>
                  <a:gd name="T13" fmla="*/ 64 h 112"/>
                  <a:gd name="T14" fmla="*/ 24 w 86"/>
                  <a:gd name="T15" fmla="*/ 64 h 112"/>
                  <a:gd name="T16" fmla="*/ 24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 33"/>
              <p:cNvSpPr>
                <a:spLocks/>
              </p:cNvSpPr>
              <p:nvPr/>
            </p:nvSpPr>
            <p:spPr bwMode="auto">
              <a:xfrm>
                <a:off x="6662738" y="5462588"/>
                <a:ext cx="152400" cy="177800"/>
              </a:xfrm>
              <a:custGeom>
                <a:avLst/>
                <a:gdLst>
                  <a:gd name="T0" fmla="*/ 0 w 96"/>
                  <a:gd name="T1" fmla="*/ 0 h 112"/>
                  <a:gd name="T2" fmla="*/ 26 w 96"/>
                  <a:gd name="T3" fmla="*/ 0 h 112"/>
                  <a:gd name="T4" fmla="*/ 72 w 96"/>
                  <a:gd name="T5" fmla="*/ 76 h 112"/>
                  <a:gd name="T6" fmla="*/ 72 w 96"/>
                  <a:gd name="T7" fmla="*/ 76 h 112"/>
                  <a:gd name="T8" fmla="*/ 72 w 96"/>
                  <a:gd name="T9" fmla="*/ 0 h 112"/>
                  <a:gd name="T10" fmla="*/ 96 w 96"/>
                  <a:gd name="T11" fmla="*/ 0 h 112"/>
                  <a:gd name="T12" fmla="*/ 96 w 96"/>
                  <a:gd name="T13" fmla="*/ 112 h 112"/>
                  <a:gd name="T14" fmla="*/ 70 w 96"/>
                  <a:gd name="T15" fmla="*/ 112 h 112"/>
                  <a:gd name="T16" fmla="*/ 24 w 96"/>
                  <a:gd name="T17" fmla="*/ 36 h 112"/>
                  <a:gd name="T18" fmla="*/ 24 w 96"/>
                  <a:gd name="T19" fmla="*/ 36 h 112"/>
                  <a:gd name="T20" fmla="*/ 24 w 96"/>
                  <a:gd name="T21" fmla="*/ 112 h 112"/>
                  <a:gd name="T22" fmla="*/ 0 w 96"/>
                  <a:gd name="T23" fmla="*/ 112 h 112"/>
                  <a:gd name="T24" fmla="*/ 0 w 9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112">
                    <a:moveTo>
                      <a:pt x="0" y="0"/>
                    </a:moveTo>
                    <a:lnTo>
                      <a:pt x="26" y="0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6" y="0"/>
                    </a:lnTo>
                    <a:lnTo>
                      <a:pt x="96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 34"/>
              <p:cNvSpPr>
                <a:spLocks noEditPoints="1"/>
              </p:cNvSpPr>
              <p:nvPr/>
            </p:nvSpPr>
            <p:spPr bwMode="auto">
              <a:xfrm>
                <a:off x="6834188" y="5462588"/>
                <a:ext cx="173038" cy="177800"/>
              </a:xfrm>
              <a:custGeom>
                <a:avLst/>
                <a:gdLst>
                  <a:gd name="T0" fmla="*/ 41 w 109"/>
                  <a:gd name="T1" fmla="*/ 0 h 112"/>
                  <a:gd name="T2" fmla="*/ 67 w 109"/>
                  <a:gd name="T3" fmla="*/ 0 h 112"/>
                  <a:gd name="T4" fmla="*/ 109 w 109"/>
                  <a:gd name="T5" fmla="*/ 112 h 112"/>
                  <a:gd name="T6" fmla="*/ 83 w 109"/>
                  <a:gd name="T7" fmla="*/ 112 h 112"/>
                  <a:gd name="T8" fmla="*/ 75 w 109"/>
                  <a:gd name="T9" fmla="*/ 86 h 112"/>
                  <a:gd name="T10" fmla="*/ 33 w 109"/>
                  <a:gd name="T11" fmla="*/ 86 h 112"/>
                  <a:gd name="T12" fmla="*/ 25 w 109"/>
                  <a:gd name="T13" fmla="*/ 112 h 112"/>
                  <a:gd name="T14" fmla="*/ 0 w 109"/>
                  <a:gd name="T15" fmla="*/ 112 h 112"/>
                  <a:gd name="T16" fmla="*/ 41 w 109"/>
                  <a:gd name="T17" fmla="*/ 0 h 112"/>
                  <a:gd name="T18" fmla="*/ 39 w 109"/>
                  <a:gd name="T19" fmla="*/ 68 h 112"/>
                  <a:gd name="T20" fmla="*/ 69 w 109"/>
                  <a:gd name="T21" fmla="*/ 68 h 112"/>
                  <a:gd name="T22" fmla="*/ 55 w 109"/>
                  <a:gd name="T23" fmla="*/ 28 h 112"/>
                  <a:gd name="T24" fmla="*/ 55 w 109"/>
                  <a:gd name="T25" fmla="*/ 28 h 112"/>
                  <a:gd name="T26" fmla="*/ 39 w 109"/>
                  <a:gd name="T27" fmla="*/ 6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9" h="112">
                    <a:moveTo>
                      <a:pt x="41" y="0"/>
                    </a:moveTo>
                    <a:lnTo>
                      <a:pt x="67" y="0"/>
                    </a:lnTo>
                    <a:lnTo>
                      <a:pt x="109" y="112"/>
                    </a:lnTo>
                    <a:lnTo>
                      <a:pt x="83" y="112"/>
                    </a:lnTo>
                    <a:lnTo>
                      <a:pt x="75" y="86"/>
                    </a:lnTo>
                    <a:lnTo>
                      <a:pt x="33" y="86"/>
                    </a:lnTo>
                    <a:lnTo>
                      <a:pt x="25" y="112"/>
                    </a:lnTo>
                    <a:lnTo>
                      <a:pt x="0" y="112"/>
                    </a:lnTo>
                    <a:lnTo>
                      <a:pt x="41" y="0"/>
                    </a:lnTo>
                    <a:close/>
                    <a:moveTo>
                      <a:pt x="39" y="68"/>
                    </a:moveTo>
                    <a:lnTo>
                      <a:pt x="69" y="68"/>
                    </a:lnTo>
                    <a:lnTo>
                      <a:pt x="55" y="28"/>
                    </a:lnTo>
                    <a:lnTo>
                      <a:pt x="55" y="28"/>
                    </a:lnTo>
                    <a:lnTo>
                      <a:pt x="39" y="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Freeform 35"/>
              <p:cNvSpPr>
                <a:spLocks noEditPoints="1"/>
              </p:cNvSpPr>
              <p:nvPr/>
            </p:nvSpPr>
            <p:spPr bwMode="auto">
              <a:xfrm>
                <a:off x="7029450" y="5462588"/>
                <a:ext cx="149225" cy="177800"/>
              </a:xfrm>
              <a:custGeom>
                <a:avLst/>
                <a:gdLst>
                  <a:gd name="T0" fmla="*/ 0 w 47"/>
                  <a:gd name="T1" fmla="*/ 0 h 56"/>
                  <a:gd name="T2" fmla="*/ 26 w 47"/>
                  <a:gd name="T3" fmla="*/ 0 h 56"/>
                  <a:gd name="T4" fmla="*/ 44 w 47"/>
                  <a:gd name="T5" fmla="*/ 14 h 56"/>
                  <a:gd name="T6" fmla="*/ 36 w 47"/>
                  <a:gd name="T7" fmla="*/ 26 h 56"/>
                  <a:gd name="T8" fmla="*/ 47 w 47"/>
                  <a:gd name="T9" fmla="*/ 40 h 56"/>
                  <a:gd name="T10" fmla="*/ 27 w 47"/>
                  <a:gd name="T11" fmla="*/ 56 h 56"/>
                  <a:gd name="T12" fmla="*/ 0 w 47"/>
                  <a:gd name="T13" fmla="*/ 56 h 56"/>
                  <a:gd name="T14" fmla="*/ 0 w 47"/>
                  <a:gd name="T15" fmla="*/ 0 h 56"/>
                  <a:gd name="T16" fmla="*/ 12 w 47"/>
                  <a:gd name="T17" fmla="*/ 23 h 56"/>
                  <a:gd name="T18" fmla="*/ 24 w 47"/>
                  <a:gd name="T19" fmla="*/ 23 h 56"/>
                  <a:gd name="T20" fmla="*/ 32 w 47"/>
                  <a:gd name="T21" fmla="*/ 16 h 56"/>
                  <a:gd name="T22" fmla="*/ 23 w 47"/>
                  <a:gd name="T23" fmla="*/ 9 h 56"/>
                  <a:gd name="T24" fmla="*/ 12 w 47"/>
                  <a:gd name="T25" fmla="*/ 9 h 56"/>
                  <a:gd name="T26" fmla="*/ 12 w 47"/>
                  <a:gd name="T27" fmla="*/ 23 h 56"/>
                  <a:gd name="T28" fmla="*/ 12 w 47"/>
                  <a:gd name="T29" fmla="*/ 46 h 56"/>
                  <a:gd name="T30" fmla="*/ 25 w 47"/>
                  <a:gd name="T31" fmla="*/ 46 h 56"/>
                  <a:gd name="T32" fmla="*/ 34 w 47"/>
                  <a:gd name="T33" fmla="*/ 39 h 56"/>
                  <a:gd name="T34" fmla="*/ 25 w 47"/>
                  <a:gd name="T35" fmla="*/ 31 h 56"/>
                  <a:gd name="T36" fmla="*/ 12 w 47"/>
                  <a:gd name="T37" fmla="*/ 31 h 56"/>
                  <a:gd name="T38" fmla="*/ 12 w 47"/>
                  <a:gd name="T39" fmla="*/ 4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7" h="56">
                    <a:moveTo>
                      <a:pt x="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37" y="0"/>
                      <a:pt x="44" y="3"/>
                      <a:pt x="44" y="14"/>
                    </a:cubicBezTo>
                    <a:cubicBezTo>
                      <a:pt x="44" y="19"/>
                      <a:pt x="41" y="23"/>
                      <a:pt x="36" y="26"/>
                    </a:cubicBezTo>
                    <a:cubicBezTo>
                      <a:pt x="43" y="27"/>
                      <a:pt x="47" y="33"/>
                      <a:pt x="47" y="40"/>
                    </a:cubicBezTo>
                    <a:cubicBezTo>
                      <a:pt x="47" y="51"/>
                      <a:pt x="37" y="56"/>
                      <a:pt x="27" y="56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0" y="0"/>
                    </a:lnTo>
                    <a:close/>
                    <a:moveTo>
                      <a:pt x="12" y="23"/>
                    </a:moveTo>
                    <a:cubicBezTo>
                      <a:pt x="24" y="23"/>
                      <a:pt x="24" y="23"/>
                      <a:pt x="24" y="23"/>
                    </a:cubicBezTo>
                    <a:cubicBezTo>
                      <a:pt x="29" y="23"/>
                      <a:pt x="32" y="21"/>
                      <a:pt x="32" y="16"/>
                    </a:cubicBezTo>
                    <a:cubicBezTo>
                      <a:pt x="32" y="11"/>
                      <a:pt x="28" y="9"/>
                      <a:pt x="23" y="9"/>
                    </a:cubicBezTo>
                    <a:cubicBezTo>
                      <a:pt x="12" y="9"/>
                      <a:pt x="12" y="9"/>
                      <a:pt x="12" y="9"/>
                    </a:cubicBezTo>
                    <a:lnTo>
                      <a:pt x="12" y="23"/>
                    </a:lnTo>
                    <a:close/>
                    <a:moveTo>
                      <a:pt x="12" y="46"/>
                    </a:moveTo>
                    <a:cubicBezTo>
                      <a:pt x="25" y="46"/>
                      <a:pt x="25" y="46"/>
                      <a:pt x="25" y="46"/>
                    </a:cubicBezTo>
                    <a:cubicBezTo>
                      <a:pt x="30" y="46"/>
                      <a:pt x="34" y="45"/>
                      <a:pt x="34" y="39"/>
                    </a:cubicBezTo>
                    <a:cubicBezTo>
                      <a:pt x="34" y="33"/>
                      <a:pt x="31" y="31"/>
                      <a:pt x="25" y="31"/>
                    </a:cubicBezTo>
                    <a:cubicBezTo>
                      <a:pt x="12" y="31"/>
                      <a:pt x="12" y="31"/>
                      <a:pt x="12" y="31"/>
                    </a:cubicBezTo>
                    <a:lnTo>
                      <a:pt x="12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Freeform 36"/>
              <p:cNvSpPr>
                <a:spLocks/>
              </p:cNvSpPr>
              <p:nvPr/>
            </p:nvSpPr>
            <p:spPr bwMode="auto">
              <a:xfrm>
                <a:off x="7207250" y="5462588"/>
                <a:ext cx="127000" cy="177800"/>
              </a:xfrm>
              <a:custGeom>
                <a:avLst/>
                <a:gdLst>
                  <a:gd name="T0" fmla="*/ 0 w 80"/>
                  <a:gd name="T1" fmla="*/ 0 h 112"/>
                  <a:gd name="T2" fmla="*/ 26 w 80"/>
                  <a:gd name="T3" fmla="*/ 0 h 112"/>
                  <a:gd name="T4" fmla="*/ 26 w 80"/>
                  <a:gd name="T5" fmla="*/ 92 h 112"/>
                  <a:gd name="T6" fmla="*/ 80 w 80"/>
                  <a:gd name="T7" fmla="*/ 92 h 112"/>
                  <a:gd name="T8" fmla="*/ 80 w 80"/>
                  <a:gd name="T9" fmla="*/ 112 h 112"/>
                  <a:gd name="T10" fmla="*/ 0 w 80"/>
                  <a:gd name="T11" fmla="*/ 112 h 112"/>
                  <a:gd name="T12" fmla="*/ 0 w 80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12">
                    <a:moveTo>
                      <a:pt x="0" y="0"/>
                    </a:moveTo>
                    <a:lnTo>
                      <a:pt x="26" y="0"/>
                    </a:lnTo>
                    <a:lnTo>
                      <a:pt x="26" y="92"/>
                    </a:lnTo>
                    <a:lnTo>
                      <a:pt x="80" y="92"/>
                    </a:lnTo>
                    <a:lnTo>
                      <a:pt x="80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Freeform 37"/>
              <p:cNvSpPr>
                <a:spLocks/>
              </p:cNvSpPr>
              <p:nvPr/>
            </p:nvSpPr>
            <p:spPr bwMode="auto">
              <a:xfrm>
                <a:off x="7362825" y="5462588"/>
                <a:ext cx="133350" cy="177800"/>
              </a:xfrm>
              <a:custGeom>
                <a:avLst/>
                <a:gdLst>
                  <a:gd name="T0" fmla="*/ 0 w 84"/>
                  <a:gd name="T1" fmla="*/ 0 h 112"/>
                  <a:gd name="T2" fmla="*/ 84 w 84"/>
                  <a:gd name="T3" fmla="*/ 0 h 112"/>
                  <a:gd name="T4" fmla="*/ 84 w 84"/>
                  <a:gd name="T5" fmla="*/ 20 h 112"/>
                  <a:gd name="T6" fmla="*/ 24 w 84"/>
                  <a:gd name="T7" fmla="*/ 20 h 112"/>
                  <a:gd name="T8" fmla="*/ 24 w 84"/>
                  <a:gd name="T9" fmla="*/ 44 h 112"/>
                  <a:gd name="T10" fmla="*/ 78 w 84"/>
                  <a:gd name="T11" fmla="*/ 44 h 112"/>
                  <a:gd name="T12" fmla="*/ 78 w 84"/>
                  <a:gd name="T13" fmla="*/ 64 h 112"/>
                  <a:gd name="T14" fmla="*/ 24 w 84"/>
                  <a:gd name="T15" fmla="*/ 64 h 112"/>
                  <a:gd name="T16" fmla="*/ 24 w 84"/>
                  <a:gd name="T17" fmla="*/ 92 h 112"/>
                  <a:gd name="T18" fmla="*/ 84 w 84"/>
                  <a:gd name="T19" fmla="*/ 92 h 112"/>
                  <a:gd name="T20" fmla="*/ 84 w 84"/>
                  <a:gd name="T21" fmla="*/ 112 h 112"/>
                  <a:gd name="T22" fmla="*/ 0 w 84"/>
                  <a:gd name="T23" fmla="*/ 112 h 112"/>
                  <a:gd name="T24" fmla="*/ 0 w 84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4" y="92"/>
                    </a:lnTo>
                    <a:lnTo>
                      <a:pt x="8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Freeform 38"/>
              <p:cNvSpPr>
                <a:spLocks/>
              </p:cNvSpPr>
              <p:nvPr/>
            </p:nvSpPr>
            <p:spPr bwMode="auto">
              <a:xfrm>
                <a:off x="7527925" y="5462588"/>
                <a:ext cx="190500" cy="177800"/>
              </a:xfrm>
              <a:custGeom>
                <a:avLst/>
                <a:gdLst>
                  <a:gd name="T0" fmla="*/ 0 w 120"/>
                  <a:gd name="T1" fmla="*/ 0 h 112"/>
                  <a:gd name="T2" fmla="*/ 34 w 120"/>
                  <a:gd name="T3" fmla="*/ 0 h 112"/>
                  <a:gd name="T4" fmla="*/ 62 w 120"/>
                  <a:gd name="T5" fmla="*/ 76 h 112"/>
                  <a:gd name="T6" fmla="*/ 62 w 120"/>
                  <a:gd name="T7" fmla="*/ 76 h 112"/>
                  <a:gd name="T8" fmla="*/ 86 w 120"/>
                  <a:gd name="T9" fmla="*/ 0 h 112"/>
                  <a:gd name="T10" fmla="*/ 120 w 120"/>
                  <a:gd name="T11" fmla="*/ 0 h 112"/>
                  <a:gd name="T12" fmla="*/ 120 w 120"/>
                  <a:gd name="T13" fmla="*/ 112 h 112"/>
                  <a:gd name="T14" fmla="*/ 98 w 120"/>
                  <a:gd name="T15" fmla="*/ 112 h 112"/>
                  <a:gd name="T16" fmla="*/ 98 w 120"/>
                  <a:gd name="T17" fmla="*/ 32 h 112"/>
                  <a:gd name="T18" fmla="*/ 98 w 120"/>
                  <a:gd name="T19" fmla="*/ 32 h 112"/>
                  <a:gd name="T20" fmla="*/ 70 w 120"/>
                  <a:gd name="T21" fmla="*/ 112 h 112"/>
                  <a:gd name="T22" fmla="*/ 52 w 120"/>
                  <a:gd name="T23" fmla="*/ 112 h 112"/>
                  <a:gd name="T24" fmla="*/ 24 w 120"/>
                  <a:gd name="T25" fmla="*/ 34 h 112"/>
                  <a:gd name="T26" fmla="*/ 24 w 120"/>
                  <a:gd name="T27" fmla="*/ 34 h 112"/>
                  <a:gd name="T28" fmla="*/ 24 w 120"/>
                  <a:gd name="T29" fmla="*/ 112 h 112"/>
                  <a:gd name="T30" fmla="*/ 0 w 120"/>
                  <a:gd name="T31" fmla="*/ 112 h 112"/>
                  <a:gd name="T32" fmla="*/ 0 w 120"/>
                  <a:gd name="T3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0" h="112">
                    <a:moveTo>
                      <a:pt x="0" y="0"/>
                    </a:moveTo>
                    <a:lnTo>
                      <a:pt x="34" y="0"/>
                    </a:lnTo>
                    <a:lnTo>
                      <a:pt x="62" y="76"/>
                    </a:lnTo>
                    <a:lnTo>
                      <a:pt x="62" y="76"/>
                    </a:lnTo>
                    <a:lnTo>
                      <a:pt x="86" y="0"/>
                    </a:lnTo>
                    <a:lnTo>
                      <a:pt x="120" y="0"/>
                    </a:lnTo>
                    <a:lnTo>
                      <a:pt x="120" y="112"/>
                    </a:lnTo>
                    <a:lnTo>
                      <a:pt x="98" y="112"/>
                    </a:lnTo>
                    <a:lnTo>
                      <a:pt x="98" y="32"/>
                    </a:lnTo>
                    <a:lnTo>
                      <a:pt x="98" y="32"/>
                    </a:lnTo>
                    <a:lnTo>
                      <a:pt x="70" y="112"/>
                    </a:lnTo>
                    <a:lnTo>
                      <a:pt x="52" y="112"/>
                    </a:lnTo>
                    <a:lnTo>
                      <a:pt x="24" y="34"/>
                    </a:lnTo>
                    <a:lnTo>
                      <a:pt x="24" y="34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4" name="Freeform 39"/>
              <p:cNvSpPr>
                <a:spLocks/>
              </p:cNvSpPr>
              <p:nvPr/>
            </p:nvSpPr>
            <p:spPr bwMode="auto">
              <a:xfrm>
                <a:off x="7759700" y="5462588"/>
                <a:ext cx="134938" cy="177800"/>
              </a:xfrm>
              <a:custGeom>
                <a:avLst/>
                <a:gdLst>
                  <a:gd name="T0" fmla="*/ 0 w 85"/>
                  <a:gd name="T1" fmla="*/ 0 h 112"/>
                  <a:gd name="T2" fmla="*/ 83 w 85"/>
                  <a:gd name="T3" fmla="*/ 0 h 112"/>
                  <a:gd name="T4" fmla="*/ 83 w 85"/>
                  <a:gd name="T5" fmla="*/ 20 h 112"/>
                  <a:gd name="T6" fmla="*/ 23 w 85"/>
                  <a:gd name="T7" fmla="*/ 20 h 112"/>
                  <a:gd name="T8" fmla="*/ 23 w 85"/>
                  <a:gd name="T9" fmla="*/ 44 h 112"/>
                  <a:gd name="T10" fmla="*/ 77 w 85"/>
                  <a:gd name="T11" fmla="*/ 44 h 112"/>
                  <a:gd name="T12" fmla="*/ 77 w 85"/>
                  <a:gd name="T13" fmla="*/ 64 h 112"/>
                  <a:gd name="T14" fmla="*/ 23 w 85"/>
                  <a:gd name="T15" fmla="*/ 64 h 112"/>
                  <a:gd name="T16" fmla="*/ 23 w 85"/>
                  <a:gd name="T17" fmla="*/ 92 h 112"/>
                  <a:gd name="T18" fmla="*/ 85 w 85"/>
                  <a:gd name="T19" fmla="*/ 92 h 112"/>
                  <a:gd name="T20" fmla="*/ 85 w 85"/>
                  <a:gd name="T21" fmla="*/ 112 h 112"/>
                  <a:gd name="T22" fmla="*/ 0 w 85"/>
                  <a:gd name="T23" fmla="*/ 112 h 112"/>
                  <a:gd name="T24" fmla="*/ 0 w 85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112">
                    <a:moveTo>
                      <a:pt x="0" y="0"/>
                    </a:moveTo>
                    <a:lnTo>
                      <a:pt x="83" y="0"/>
                    </a:lnTo>
                    <a:lnTo>
                      <a:pt x="83" y="20"/>
                    </a:lnTo>
                    <a:lnTo>
                      <a:pt x="23" y="20"/>
                    </a:lnTo>
                    <a:lnTo>
                      <a:pt x="23" y="44"/>
                    </a:lnTo>
                    <a:lnTo>
                      <a:pt x="77" y="44"/>
                    </a:lnTo>
                    <a:lnTo>
                      <a:pt x="77" y="64"/>
                    </a:lnTo>
                    <a:lnTo>
                      <a:pt x="23" y="64"/>
                    </a:lnTo>
                    <a:lnTo>
                      <a:pt x="23" y="92"/>
                    </a:lnTo>
                    <a:lnTo>
                      <a:pt x="85" y="92"/>
                    </a:lnTo>
                    <a:lnTo>
                      <a:pt x="85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Freeform 40"/>
              <p:cNvSpPr>
                <a:spLocks/>
              </p:cNvSpPr>
              <p:nvPr/>
            </p:nvSpPr>
            <p:spPr bwMode="auto">
              <a:xfrm>
                <a:off x="7923213" y="5462588"/>
                <a:ext cx="152400" cy="177800"/>
              </a:xfrm>
              <a:custGeom>
                <a:avLst/>
                <a:gdLst>
                  <a:gd name="T0" fmla="*/ 0 w 96"/>
                  <a:gd name="T1" fmla="*/ 0 h 112"/>
                  <a:gd name="T2" fmla="*/ 26 w 96"/>
                  <a:gd name="T3" fmla="*/ 0 h 112"/>
                  <a:gd name="T4" fmla="*/ 72 w 96"/>
                  <a:gd name="T5" fmla="*/ 76 h 112"/>
                  <a:gd name="T6" fmla="*/ 72 w 96"/>
                  <a:gd name="T7" fmla="*/ 76 h 112"/>
                  <a:gd name="T8" fmla="*/ 72 w 96"/>
                  <a:gd name="T9" fmla="*/ 0 h 112"/>
                  <a:gd name="T10" fmla="*/ 96 w 96"/>
                  <a:gd name="T11" fmla="*/ 0 h 112"/>
                  <a:gd name="T12" fmla="*/ 96 w 96"/>
                  <a:gd name="T13" fmla="*/ 112 h 112"/>
                  <a:gd name="T14" fmla="*/ 70 w 96"/>
                  <a:gd name="T15" fmla="*/ 112 h 112"/>
                  <a:gd name="T16" fmla="*/ 24 w 96"/>
                  <a:gd name="T17" fmla="*/ 36 h 112"/>
                  <a:gd name="T18" fmla="*/ 24 w 96"/>
                  <a:gd name="T19" fmla="*/ 36 h 112"/>
                  <a:gd name="T20" fmla="*/ 24 w 96"/>
                  <a:gd name="T21" fmla="*/ 112 h 112"/>
                  <a:gd name="T22" fmla="*/ 0 w 96"/>
                  <a:gd name="T23" fmla="*/ 112 h 112"/>
                  <a:gd name="T24" fmla="*/ 0 w 9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112">
                    <a:moveTo>
                      <a:pt x="0" y="0"/>
                    </a:moveTo>
                    <a:lnTo>
                      <a:pt x="26" y="0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6" y="0"/>
                    </a:lnTo>
                    <a:lnTo>
                      <a:pt x="96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6" name="Freeform 41"/>
              <p:cNvSpPr>
                <a:spLocks/>
              </p:cNvSpPr>
              <p:nvPr/>
            </p:nvSpPr>
            <p:spPr bwMode="auto">
              <a:xfrm>
                <a:off x="8101013" y="5462588"/>
                <a:ext cx="146050" cy="177800"/>
              </a:xfrm>
              <a:custGeom>
                <a:avLst/>
                <a:gdLst>
                  <a:gd name="T0" fmla="*/ 34 w 92"/>
                  <a:gd name="T1" fmla="*/ 20 h 112"/>
                  <a:gd name="T2" fmla="*/ 0 w 92"/>
                  <a:gd name="T3" fmla="*/ 20 h 112"/>
                  <a:gd name="T4" fmla="*/ 0 w 92"/>
                  <a:gd name="T5" fmla="*/ 0 h 112"/>
                  <a:gd name="T6" fmla="*/ 92 w 92"/>
                  <a:gd name="T7" fmla="*/ 0 h 112"/>
                  <a:gd name="T8" fmla="*/ 92 w 92"/>
                  <a:gd name="T9" fmla="*/ 20 h 112"/>
                  <a:gd name="T10" fmla="*/ 58 w 92"/>
                  <a:gd name="T11" fmla="*/ 20 h 112"/>
                  <a:gd name="T12" fmla="*/ 58 w 92"/>
                  <a:gd name="T13" fmla="*/ 112 h 112"/>
                  <a:gd name="T14" fmla="*/ 34 w 92"/>
                  <a:gd name="T15" fmla="*/ 112 h 112"/>
                  <a:gd name="T16" fmla="*/ 34 w 92"/>
                  <a:gd name="T17" fmla="*/ 2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112">
                    <a:moveTo>
                      <a:pt x="34" y="20"/>
                    </a:moveTo>
                    <a:lnTo>
                      <a:pt x="0" y="20"/>
                    </a:lnTo>
                    <a:lnTo>
                      <a:pt x="0" y="0"/>
                    </a:lnTo>
                    <a:lnTo>
                      <a:pt x="92" y="0"/>
                    </a:lnTo>
                    <a:lnTo>
                      <a:pt x="92" y="20"/>
                    </a:lnTo>
                    <a:lnTo>
                      <a:pt x="58" y="20"/>
                    </a:lnTo>
                    <a:lnTo>
                      <a:pt x="58" y="112"/>
                    </a:lnTo>
                    <a:lnTo>
                      <a:pt x="34" y="112"/>
                    </a:lnTo>
                    <a:lnTo>
                      <a:pt x="34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7" name="Oval 42"/>
              <p:cNvSpPr>
                <a:spLocks noChangeArrowheads="1"/>
              </p:cNvSpPr>
              <p:nvPr/>
            </p:nvSpPr>
            <p:spPr bwMode="auto">
              <a:xfrm>
                <a:off x="3033713" y="5392738"/>
                <a:ext cx="312738" cy="314325"/>
              </a:xfrm>
              <a:prstGeom prst="ellipse">
                <a:avLst/>
              </a:prstGeom>
              <a:solidFill>
                <a:srgbClr val="5D677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Oval 43"/>
              <p:cNvSpPr>
                <a:spLocks noChangeArrowheads="1"/>
              </p:cNvSpPr>
              <p:nvPr/>
            </p:nvSpPr>
            <p:spPr bwMode="auto">
              <a:xfrm>
                <a:off x="5816600" y="5392738"/>
                <a:ext cx="312738" cy="314325"/>
              </a:xfrm>
              <a:prstGeom prst="ellipse">
                <a:avLst/>
              </a:prstGeom>
              <a:solidFill>
                <a:srgbClr val="5D677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Rectangle 44"/>
              <p:cNvSpPr>
                <a:spLocks noChangeArrowheads="1"/>
              </p:cNvSpPr>
              <p:nvPr/>
            </p:nvSpPr>
            <p:spPr bwMode="auto">
              <a:xfrm>
                <a:off x="3167063" y="5459413"/>
                <a:ext cx="42863" cy="1809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Rectangle 45"/>
              <p:cNvSpPr>
                <a:spLocks noChangeArrowheads="1"/>
              </p:cNvSpPr>
              <p:nvPr/>
            </p:nvSpPr>
            <p:spPr bwMode="auto">
              <a:xfrm>
                <a:off x="3100388" y="5529263"/>
                <a:ext cx="179388" cy="41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11" name="Rectangle 46"/>
              <p:cNvSpPr>
                <a:spLocks noChangeArrowheads="1"/>
              </p:cNvSpPr>
              <p:nvPr/>
            </p:nvSpPr>
            <p:spPr bwMode="auto">
              <a:xfrm>
                <a:off x="5905500" y="5491163"/>
                <a:ext cx="134938" cy="44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12" name="Rectangle 47"/>
              <p:cNvSpPr>
                <a:spLocks noChangeArrowheads="1"/>
              </p:cNvSpPr>
              <p:nvPr/>
            </p:nvSpPr>
            <p:spPr bwMode="auto">
              <a:xfrm>
                <a:off x="5905500" y="5564188"/>
                <a:ext cx="134938" cy="44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13" name="TextBox 112"/>
          <p:cNvSpPr txBox="1"/>
          <p:nvPr userDrawn="1"/>
        </p:nvSpPr>
        <p:spPr>
          <a:xfrm>
            <a:off x="5483570" y="907636"/>
            <a:ext cx="5316803" cy="564233"/>
          </a:xfrm>
          <a:prstGeom prst="rect">
            <a:avLst/>
          </a:prstGeom>
          <a:noFill/>
        </p:spPr>
        <p:txBody>
          <a:bodyPr wrap="square" lIns="91416" tIns="45708" rIns="91416" bIns="45708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FFFFFF"/>
                </a:solidFill>
              </a:rPr>
              <a:t>Information Technology </a:t>
            </a:r>
          </a:p>
          <a:p>
            <a:pPr algn="r" fontAlgn="base">
              <a:lnSpc>
                <a:spcPts val="19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FFFFFF"/>
                </a:solidFill>
              </a:rPr>
              <a:t>&amp;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66800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eing 12 column grid" hidden="1"/>
          <p:cNvGrpSpPr/>
          <p:nvPr userDrawn="1"/>
        </p:nvGrpSpPr>
        <p:grpSpPr>
          <a:xfrm>
            <a:off x="0" y="0"/>
            <a:ext cx="12195176" cy="6858000"/>
            <a:chOff x="0" y="0"/>
            <a:chExt cx="12192000" cy="6858000"/>
          </a:xfrm>
        </p:grpSpPr>
        <p:grpSp>
          <p:nvGrpSpPr>
            <p:cNvPr id="13" name="Group 12"/>
            <p:cNvGrpSpPr/>
            <p:nvPr userDrawn="1"/>
          </p:nvGrpSpPr>
          <p:grpSpPr>
            <a:xfrm>
              <a:off x="0" y="0"/>
              <a:ext cx="12188825" cy="6858000"/>
              <a:chOff x="0" y="0"/>
              <a:chExt cx="12188825" cy="6858000"/>
            </a:xfrm>
          </p:grpSpPr>
          <p:grpSp>
            <p:nvGrpSpPr>
              <p:cNvPr id="18" name="Boeing 12 column grid"/>
              <p:cNvGrpSpPr/>
              <p:nvPr userDrawn="1"/>
            </p:nvGrpSpPr>
            <p:grpSpPr>
              <a:xfrm>
                <a:off x="0" y="461727"/>
                <a:ext cx="12188825" cy="5957180"/>
                <a:chOff x="129803" y="456356"/>
                <a:chExt cx="8890818" cy="5958732"/>
              </a:xfrm>
            </p:grpSpPr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64396" y="2136995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64396" y="2432456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459993" y="3288274"/>
                  <a:ext cx="8223097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66598" y="3583735"/>
                  <a:ext cx="821649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464396" y="4424269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462195" y="4719730"/>
                  <a:ext cx="8220896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3" name="Rectangle 32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799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129803" y="2284726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463550" y="3432679"/>
                  <a:ext cx="8223250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129803" y="4572000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39" name="Group 38"/>
                <p:cNvGrpSpPr/>
                <p:nvPr userDrawn="1"/>
              </p:nvGrpSpPr>
              <p:grpSpPr>
                <a:xfrm>
                  <a:off x="1043681" y="457200"/>
                  <a:ext cx="7060730" cy="5957888"/>
                  <a:chOff x="1043681" y="0"/>
                  <a:chExt cx="7060730" cy="6858000"/>
                </a:xfrm>
              </p:grpSpPr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20"/>
                  <p:cNvCxnSpPr/>
                  <p:nvPr/>
                </p:nvCxnSpPr>
                <p:spPr>
                  <a:xfrm>
                    <a:off x="104368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15"/>
                  <p:cNvCxnSpPr/>
                  <p:nvPr/>
                </p:nvCxnSpPr>
                <p:spPr>
                  <a:xfrm>
                    <a:off x="11584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174150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243709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532550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/>
                </p:nvCxnSpPr>
                <p:spPr>
                  <a:xfrm>
                    <a:off x="25473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31288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324337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382641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39374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452230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462823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52137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810441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590715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7" name="Straight Connector 56"/>
                  <p:cNvCxnSpPr/>
                  <p:nvPr userDrawn="1"/>
                </p:nvCxnSpPr>
                <p:spPr>
                  <a:xfrm>
                    <a:off x="601976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8" name="Straight Connector 57"/>
                  <p:cNvCxnSpPr/>
                  <p:nvPr userDrawn="1"/>
                </p:nvCxnSpPr>
                <p:spPr>
                  <a:xfrm>
                    <a:off x="660501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9" name="Straight Connector 58"/>
                  <p:cNvCxnSpPr/>
                  <p:nvPr userDrawn="1"/>
                </p:nvCxnSpPr>
                <p:spPr>
                  <a:xfrm>
                    <a:off x="6713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0" name="Straight Connector 59"/>
                  <p:cNvCxnSpPr/>
                  <p:nvPr userDrawn="1"/>
                </p:nvCxnSpPr>
                <p:spPr>
                  <a:xfrm>
                    <a:off x="729868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1" name="Straight Connector 60"/>
                  <p:cNvCxnSpPr/>
                  <p:nvPr userDrawn="1"/>
                </p:nvCxnSpPr>
                <p:spPr>
                  <a:xfrm>
                    <a:off x="740902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4" name="Straight Connector 63"/>
                  <p:cNvCxnSpPr/>
                  <p:nvPr userDrawn="1"/>
                </p:nvCxnSpPr>
                <p:spPr>
                  <a:xfrm>
                    <a:off x="799017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19" name="Group 41"/>
              <p:cNvGrpSpPr/>
              <p:nvPr userDrawn="1"/>
            </p:nvGrpSpPr>
            <p:grpSpPr>
              <a:xfrm>
                <a:off x="7002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20" name="Straight Connector 19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" name="Straight Connector 16"/>
            <p:cNvCxnSpPr/>
            <p:nvPr userDrawn="1"/>
          </p:nvCxnSpPr>
          <p:spPr>
            <a:xfrm flipH="1">
              <a:off x="9599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/>
          <p:cNvSpPr/>
          <p:nvPr userDrawn="1"/>
        </p:nvSpPr>
        <p:spPr>
          <a:xfrm>
            <a:off x="2" y="4585155"/>
            <a:ext cx="121920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419861" y="2521759"/>
            <a:ext cx="10363200" cy="726353"/>
          </a:xfrm>
        </p:spPr>
        <p:txBody>
          <a:bodyPr anchor="ctr" anchorCtr="0"/>
          <a:lstStyle>
            <a:lvl1pPr>
              <a:defRPr sz="4799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429881" y="4637996"/>
            <a:ext cx="11002433" cy="387799"/>
          </a:xfrm>
        </p:spPr>
        <p:txBody>
          <a:bodyPr/>
          <a:lstStyle>
            <a:lvl1pPr marL="0" indent="0">
              <a:buFontTx/>
              <a:buNone/>
              <a:defRPr sz="2799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53" descr="Boeing_RGBblue_standard"/>
          <p:cNvPicPr preferRelativeResize="0"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6044" y="398150"/>
            <a:ext cx="1838804" cy="442913"/>
          </a:xfrm>
          <a:prstGeom prst="rect">
            <a:avLst/>
          </a:prstGeom>
          <a:noFill/>
        </p:spPr>
      </p:pic>
      <p:sp>
        <p:nvSpPr>
          <p:cNvPr id="68" name="Rectangle 6"/>
          <p:cNvSpPr>
            <a:spLocks noChangeArrowheads="1"/>
          </p:cNvSpPr>
          <p:nvPr userDrawn="1"/>
        </p:nvSpPr>
        <p:spPr bwMode="auto">
          <a:xfrm>
            <a:off x="409738" y="6658303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2" tIns="9142" rIns="9142" bIns="9142" anchor="b">
            <a:spAutoFit/>
          </a:bodyPr>
          <a:lstStyle/>
          <a:p>
            <a:pPr defTabSz="82047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>
                <a:solidFill>
                  <a:srgbClr val="FFFFFF"/>
                </a:solidFill>
              </a:rPr>
              <a:t>Copyright © 2021 Boeing. All rights reserved.</a:t>
            </a:r>
          </a:p>
        </p:txBody>
      </p:sp>
      <p:sp>
        <p:nvSpPr>
          <p:cNvPr id="81" name="TextBox 80"/>
          <p:cNvSpPr txBox="1"/>
          <p:nvPr userDrawn="1"/>
        </p:nvSpPr>
        <p:spPr>
          <a:xfrm>
            <a:off x="9461544" y="1377321"/>
            <a:ext cx="1338828" cy="307777"/>
          </a:xfrm>
          <a:prstGeom prst="rect">
            <a:avLst/>
          </a:prstGeom>
          <a:noFill/>
        </p:spPr>
        <p:txBody>
          <a:bodyPr wrap="none" lIns="91416" tIns="45708" rIns="91416" bIns="45708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39A6"/>
                </a:solidFill>
              </a:rPr>
              <a:t>Operating Unit</a:t>
            </a:r>
          </a:p>
        </p:txBody>
      </p:sp>
      <p:sp>
        <p:nvSpPr>
          <p:cNvPr id="82" name="TextBox 81"/>
          <p:cNvSpPr txBox="1"/>
          <p:nvPr userDrawn="1"/>
        </p:nvSpPr>
        <p:spPr>
          <a:xfrm>
            <a:off x="4836194" y="907636"/>
            <a:ext cx="5964179" cy="564233"/>
          </a:xfrm>
          <a:prstGeom prst="rect">
            <a:avLst/>
          </a:prstGeom>
          <a:noFill/>
        </p:spPr>
        <p:txBody>
          <a:bodyPr wrap="square" lIns="91416" tIns="45708" rIns="91416" bIns="45708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0039A6"/>
                </a:solidFill>
              </a:rPr>
              <a:t>Information Technology </a:t>
            </a:r>
          </a:p>
          <a:p>
            <a:pPr algn="r" fontAlgn="base">
              <a:lnSpc>
                <a:spcPts val="19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0039A6"/>
                </a:solidFill>
              </a:rPr>
              <a:t>&amp; Data Analytics</a:t>
            </a:r>
          </a:p>
        </p:txBody>
      </p:sp>
      <p:grpSp>
        <p:nvGrpSpPr>
          <p:cNvPr id="66" name="Group 65"/>
          <p:cNvGrpSpPr/>
          <p:nvPr userDrawn="1"/>
        </p:nvGrpSpPr>
        <p:grpSpPr>
          <a:xfrm>
            <a:off x="3038125" y="6019800"/>
            <a:ext cx="6118929" cy="360400"/>
            <a:chOff x="1519007" y="5992326"/>
            <a:chExt cx="6117336" cy="360400"/>
          </a:xfrm>
        </p:grpSpPr>
        <p:sp>
          <p:nvSpPr>
            <p:cNvPr id="67" name="Rectangle 66"/>
            <p:cNvSpPr/>
            <p:nvPr/>
          </p:nvSpPr>
          <p:spPr>
            <a:xfrm>
              <a:off x="3316606" y="5996110"/>
              <a:ext cx="2606674" cy="3566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799">
                <a:solidFill>
                  <a:srgbClr val="FFFFFF"/>
                </a:solidFill>
              </a:endParaRPr>
            </a:p>
          </p:txBody>
        </p:sp>
        <p:grpSp>
          <p:nvGrpSpPr>
            <p:cNvPr id="69" name="Group 68"/>
            <p:cNvGrpSpPr>
              <a:grpSpLocks noChangeAspect="1"/>
            </p:cNvGrpSpPr>
            <p:nvPr/>
          </p:nvGrpSpPr>
          <p:grpSpPr>
            <a:xfrm>
              <a:off x="1519007" y="5992326"/>
              <a:ext cx="6117336" cy="360400"/>
              <a:chOff x="471488" y="5307013"/>
              <a:chExt cx="8218488" cy="484188"/>
            </a:xfrm>
          </p:grpSpPr>
          <p:sp>
            <p:nvSpPr>
              <p:cNvPr id="70" name="Freeform 9"/>
              <p:cNvSpPr>
                <a:spLocks/>
              </p:cNvSpPr>
              <p:nvPr/>
            </p:nvSpPr>
            <p:spPr bwMode="auto">
              <a:xfrm>
                <a:off x="6043613" y="5307013"/>
                <a:ext cx="2646363" cy="484188"/>
              </a:xfrm>
              <a:custGeom>
                <a:avLst/>
                <a:gdLst>
                  <a:gd name="T0" fmla="*/ 0 w 835"/>
                  <a:gd name="T1" fmla="*/ 0 h 153"/>
                  <a:gd name="T2" fmla="*/ 0 w 835"/>
                  <a:gd name="T3" fmla="*/ 15 h 153"/>
                  <a:gd name="T4" fmla="*/ 2 w 835"/>
                  <a:gd name="T5" fmla="*/ 16 h 153"/>
                  <a:gd name="T6" fmla="*/ 43 w 835"/>
                  <a:gd name="T7" fmla="*/ 76 h 153"/>
                  <a:gd name="T8" fmla="*/ 2 w 835"/>
                  <a:gd name="T9" fmla="*/ 137 h 153"/>
                  <a:gd name="T10" fmla="*/ 0 w 835"/>
                  <a:gd name="T11" fmla="*/ 138 h 153"/>
                  <a:gd name="T12" fmla="*/ 0 w 835"/>
                  <a:gd name="T13" fmla="*/ 153 h 153"/>
                  <a:gd name="T14" fmla="*/ 835 w 835"/>
                  <a:gd name="T15" fmla="*/ 153 h 153"/>
                  <a:gd name="T16" fmla="*/ 835 w 835"/>
                  <a:gd name="T17" fmla="*/ 0 h 153"/>
                  <a:gd name="T18" fmla="*/ 0 w 835"/>
                  <a:gd name="T19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35" h="153">
                    <a:moveTo>
                      <a:pt x="0" y="0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1" y="15"/>
                      <a:pt x="1" y="15"/>
                      <a:pt x="2" y="16"/>
                    </a:cubicBezTo>
                    <a:cubicBezTo>
                      <a:pt x="26" y="25"/>
                      <a:pt x="43" y="49"/>
                      <a:pt x="43" y="76"/>
                    </a:cubicBezTo>
                    <a:cubicBezTo>
                      <a:pt x="43" y="104"/>
                      <a:pt x="26" y="128"/>
                      <a:pt x="2" y="137"/>
                    </a:cubicBezTo>
                    <a:cubicBezTo>
                      <a:pt x="1" y="138"/>
                      <a:pt x="1" y="138"/>
                      <a:pt x="0" y="138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835" y="153"/>
                      <a:pt x="835" y="153"/>
                      <a:pt x="835" y="153"/>
                    </a:cubicBezTo>
                    <a:cubicBezTo>
                      <a:pt x="835" y="0"/>
                      <a:pt x="835" y="0"/>
                      <a:pt x="83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A21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1" name="Freeform 10"/>
              <p:cNvSpPr>
                <a:spLocks/>
              </p:cNvSpPr>
              <p:nvPr/>
            </p:nvSpPr>
            <p:spPr bwMode="auto">
              <a:xfrm>
                <a:off x="471488" y="5307013"/>
                <a:ext cx="2651125" cy="484188"/>
              </a:xfrm>
              <a:custGeom>
                <a:avLst/>
                <a:gdLst>
                  <a:gd name="T0" fmla="*/ 792 w 836"/>
                  <a:gd name="T1" fmla="*/ 76 h 153"/>
                  <a:gd name="T2" fmla="*/ 836 w 836"/>
                  <a:gd name="T3" fmla="*/ 15 h 153"/>
                  <a:gd name="T4" fmla="*/ 836 w 836"/>
                  <a:gd name="T5" fmla="*/ 0 h 153"/>
                  <a:gd name="T6" fmla="*/ 0 w 836"/>
                  <a:gd name="T7" fmla="*/ 0 h 153"/>
                  <a:gd name="T8" fmla="*/ 0 w 836"/>
                  <a:gd name="T9" fmla="*/ 153 h 153"/>
                  <a:gd name="T10" fmla="*/ 836 w 836"/>
                  <a:gd name="T11" fmla="*/ 153 h 153"/>
                  <a:gd name="T12" fmla="*/ 836 w 836"/>
                  <a:gd name="T13" fmla="*/ 138 h 153"/>
                  <a:gd name="T14" fmla="*/ 792 w 836"/>
                  <a:gd name="T15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6" h="153">
                    <a:moveTo>
                      <a:pt x="792" y="76"/>
                    </a:moveTo>
                    <a:cubicBezTo>
                      <a:pt x="792" y="48"/>
                      <a:pt x="810" y="24"/>
                      <a:pt x="836" y="15"/>
                    </a:cubicBezTo>
                    <a:cubicBezTo>
                      <a:pt x="836" y="0"/>
                      <a:pt x="836" y="0"/>
                      <a:pt x="8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836" y="153"/>
                      <a:pt x="836" y="153"/>
                      <a:pt x="836" y="153"/>
                    </a:cubicBezTo>
                    <a:cubicBezTo>
                      <a:pt x="836" y="138"/>
                      <a:pt x="836" y="138"/>
                      <a:pt x="836" y="138"/>
                    </a:cubicBezTo>
                    <a:cubicBezTo>
                      <a:pt x="810" y="129"/>
                      <a:pt x="792" y="105"/>
                      <a:pt x="792" y="76"/>
                    </a:cubicBezTo>
                  </a:path>
                </a:pathLst>
              </a:custGeom>
              <a:solidFill>
                <a:srgbClr val="81BD4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2" name="Freeform 11"/>
              <p:cNvSpPr>
                <a:spLocks/>
              </p:cNvSpPr>
              <p:nvPr/>
            </p:nvSpPr>
            <p:spPr bwMode="auto">
              <a:xfrm>
                <a:off x="3257550" y="5307013"/>
                <a:ext cx="2647950" cy="484188"/>
              </a:xfrm>
              <a:custGeom>
                <a:avLst/>
                <a:gdLst>
                  <a:gd name="T0" fmla="*/ 791 w 835"/>
                  <a:gd name="T1" fmla="*/ 76 h 153"/>
                  <a:gd name="T2" fmla="*/ 835 w 835"/>
                  <a:gd name="T3" fmla="*/ 15 h 153"/>
                  <a:gd name="T4" fmla="*/ 835 w 835"/>
                  <a:gd name="T5" fmla="*/ 0 h 153"/>
                  <a:gd name="T6" fmla="*/ 0 w 835"/>
                  <a:gd name="T7" fmla="*/ 0 h 153"/>
                  <a:gd name="T8" fmla="*/ 0 w 835"/>
                  <a:gd name="T9" fmla="*/ 15 h 153"/>
                  <a:gd name="T10" fmla="*/ 44 w 835"/>
                  <a:gd name="T11" fmla="*/ 76 h 153"/>
                  <a:gd name="T12" fmla="*/ 0 w 835"/>
                  <a:gd name="T13" fmla="*/ 138 h 153"/>
                  <a:gd name="T14" fmla="*/ 0 w 835"/>
                  <a:gd name="T15" fmla="*/ 153 h 153"/>
                  <a:gd name="T16" fmla="*/ 835 w 835"/>
                  <a:gd name="T17" fmla="*/ 153 h 153"/>
                  <a:gd name="T18" fmla="*/ 835 w 835"/>
                  <a:gd name="T19" fmla="*/ 138 h 153"/>
                  <a:gd name="T20" fmla="*/ 791 w 835"/>
                  <a:gd name="T21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5" h="153">
                    <a:moveTo>
                      <a:pt x="791" y="76"/>
                    </a:moveTo>
                    <a:cubicBezTo>
                      <a:pt x="791" y="48"/>
                      <a:pt x="810" y="24"/>
                      <a:pt x="835" y="15"/>
                    </a:cubicBezTo>
                    <a:cubicBezTo>
                      <a:pt x="835" y="0"/>
                      <a:pt x="835" y="0"/>
                      <a:pt x="83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5" y="24"/>
                      <a:pt x="44" y="48"/>
                      <a:pt x="44" y="76"/>
                    </a:cubicBezTo>
                    <a:cubicBezTo>
                      <a:pt x="44" y="105"/>
                      <a:pt x="25" y="129"/>
                      <a:pt x="0" y="138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835" y="153"/>
                      <a:pt x="835" y="153"/>
                      <a:pt x="835" y="153"/>
                    </a:cubicBezTo>
                    <a:cubicBezTo>
                      <a:pt x="835" y="138"/>
                      <a:pt x="835" y="138"/>
                      <a:pt x="835" y="138"/>
                    </a:cubicBezTo>
                    <a:cubicBezTo>
                      <a:pt x="810" y="129"/>
                      <a:pt x="791" y="105"/>
                      <a:pt x="791" y="76"/>
                    </a:cubicBezTo>
                  </a:path>
                </a:pathLst>
              </a:custGeom>
              <a:solidFill>
                <a:srgbClr val="109AD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3" name="Freeform 12"/>
              <p:cNvSpPr>
                <a:spLocks/>
              </p:cNvSpPr>
              <p:nvPr/>
            </p:nvSpPr>
            <p:spPr bwMode="auto">
              <a:xfrm>
                <a:off x="903288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4 w 86"/>
                  <a:gd name="T7" fmla="*/ 20 h 112"/>
                  <a:gd name="T8" fmla="*/ 24 w 86"/>
                  <a:gd name="T9" fmla="*/ 44 h 112"/>
                  <a:gd name="T10" fmla="*/ 78 w 86"/>
                  <a:gd name="T11" fmla="*/ 44 h 112"/>
                  <a:gd name="T12" fmla="*/ 78 w 86"/>
                  <a:gd name="T13" fmla="*/ 64 h 112"/>
                  <a:gd name="T14" fmla="*/ 24 w 86"/>
                  <a:gd name="T15" fmla="*/ 64 h 112"/>
                  <a:gd name="T16" fmla="*/ 24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4" name="Freeform 13"/>
              <p:cNvSpPr>
                <a:spLocks/>
              </p:cNvSpPr>
              <p:nvPr/>
            </p:nvSpPr>
            <p:spPr bwMode="auto">
              <a:xfrm>
                <a:off x="1068388" y="5462588"/>
                <a:ext cx="152400" cy="177800"/>
              </a:xfrm>
              <a:custGeom>
                <a:avLst/>
                <a:gdLst>
                  <a:gd name="T0" fmla="*/ 0 w 96"/>
                  <a:gd name="T1" fmla="*/ 0 h 112"/>
                  <a:gd name="T2" fmla="*/ 26 w 96"/>
                  <a:gd name="T3" fmla="*/ 0 h 112"/>
                  <a:gd name="T4" fmla="*/ 72 w 96"/>
                  <a:gd name="T5" fmla="*/ 76 h 112"/>
                  <a:gd name="T6" fmla="*/ 72 w 96"/>
                  <a:gd name="T7" fmla="*/ 76 h 112"/>
                  <a:gd name="T8" fmla="*/ 72 w 96"/>
                  <a:gd name="T9" fmla="*/ 0 h 112"/>
                  <a:gd name="T10" fmla="*/ 96 w 96"/>
                  <a:gd name="T11" fmla="*/ 0 h 112"/>
                  <a:gd name="T12" fmla="*/ 96 w 96"/>
                  <a:gd name="T13" fmla="*/ 112 h 112"/>
                  <a:gd name="T14" fmla="*/ 70 w 96"/>
                  <a:gd name="T15" fmla="*/ 112 h 112"/>
                  <a:gd name="T16" fmla="*/ 24 w 96"/>
                  <a:gd name="T17" fmla="*/ 36 h 112"/>
                  <a:gd name="T18" fmla="*/ 24 w 96"/>
                  <a:gd name="T19" fmla="*/ 36 h 112"/>
                  <a:gd name="T20" fmla="*/ 24 w 96"/>
                  <a:gd name="T21" fmla="*/ 112 h 112"/>
                  <a:gd name="T22" fmla="*/ 0 w 96"/>
                  <a:gd name="T23" fmla="*/ 112 h 112"/>
                  <a:gd name="T24" fmla="*/ 0 w 9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112">
                    <a:moveTo>
                      <a:pt x="0" y="0"/>
                    </a:moveTo>
                    <a:lnTo>
                      <a:pt x="26" y="0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6" y="0"/>
                    </a:lnTo>
                    <a:lnTo>
                      <a:pt x="96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5" name="Freeform 14"/>
              <p:cNvSpPr>
                <a:spLocks/>
              </p:cNvSpPr>
              <p:nvPr/>
            </p:nvSpPr>
            <p:spPr bwMode="auto">
              <a:xfrm>
                <a:off x="1252538" y="5459413"/>
                <a:ext cx="163513" cy="184150"/>
              </a:xfrm>
              <a:custGeom>
                <a:avLst/>
                <a:gdLst>
                  <a:gd name="T0" fmla="*/ 43 w 52"/>
                  <a:gd name="T1" fmla="*/ 51 h 58"/>
                  <a:gd name="T2" fmla="*/ 27 w 52"/>
                  <a:gd name="T3" fmla="*/ 58 h 58"/>
                  <a:gd name="T4" fmla="*/ 0 w 52"/>
                  <a:gd name="T5" fmla="*/ 29 h 58"/>
                  <a:gd name="T6" fmla="*/ 27 w 52"/>
                  <a:gd name="T7" fmla="*/ 0 h 58"/>
                  <a:gd name="T8" fmla="*/ 51 w 52"/>
                  <a:gd name="T9" fmla="*/ 19 h 58"/>
                  <a:gd name="T10" fmla="*/ 39 w 52"/>
                  <a:gd name="T11" fmla="*/ 19 h 58"/>
                  <a:gd name="T12" fmla="*/ 27 w 52"/>
                  <a:gd name="T13" fmla="*/ 10 h 58"/>
                  <a:gd name="T14" fmla="*/ 12 w 52"/>
                  <a:gd name="T15" fmla="*/ 29 h 58"/>
                  <a:gd name="T16" fmla="*/ 27 w 52"/>
                  <a:gd name="T17" fmla="*/ 48 h 58"/>
                  <a:gd name="T18" fmla="*/ 41 w 52"/>
                  <a:gd name="T19" fmla="*/ 36 h 58"/>
                  <a:gd name="T20" fmla="*/ 28 w 52"/>
                  <a:gd name="T21" fmla="*/ 36 h 58"/>
                  <a:gd name="T22" fmla="*/ 28 w 52"/>
                  <a:gd name="T23" fmla="*/ 27 h 58"/>
                  <a:gd name="T24" fmla="*/ 52 w 52"/>
                  <a:gd name="T25" fmla="*/ 27 h 58"/>
                  <a:gd name="T26" fmla="*/ 52 w 52"/>
                  <a:gd name="T27" fmla="*/ 57 h 58"/>
                  <a:gd name="T28" fmla="*/ 44 w 52"/>
                  <a:gd name="T29" fmla="*/ 57 h 58"/>
                  <a:gd name="T30" fmla="*/ 43 w 52"/>
                  <a:gd name="T31" fmla="*/ 5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58">
                    <a:moveTo>
                      <a:pt x="43" y="51"/>
                    </a:moveTo>
                    <a:cubicBezTo>
                      <a:pt x="38" y="56"/>
                      <a:pt x="33" y="58"/>
                      <a:pt x="27" y="58"/>
                    </a:cubicBezTo>
                    <a:cubicBezTo>
                      <a:pt x="10" y="58"/>
                      <a:pt x="0" y="45"/>
                      <a:pt x="0" y="29"/>
                    </a:cubicBezTo>
                    <a:cubicBezTo>
                      <a:pt x="0" y="13"/>
                      <a:pt x="10" y="0"/>
                      <a:pt x="27" y="0"/>
                    </a:cubicBezTo>
                    <a:cubicBezTo>
                      <a:pt x="39" y="0"/>
                      <a:pt x="50" y="7"/>
                      <a:pt x="51" y="19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8" y="13"/>
                      <a:pt x="33" y="10"/>
                      <a:pt x="27" y="10"/>
                    </a:cubicBezTo>
                    <a:cubicBezTo>
                      <a:pt x="16" y="10"/>
                      <a:pt x="12" y="19"/>
                      <a:pt x="12" y="29"/>
                    </a:cubicBezTo>
                    <a:cubicBezTo>
                      <a:pt x="12" y="39"/>
                      <a:pt x="16" y="48"/>
                      <a:pt x="27" y="48"/>
                    </a:cubicBezTo>
                    <a:cubicBezTo>
                      <a:pt x="35" y="48"/>
                      <a:pt x="40" y="44"/>
                      <a:pt x="41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57"/>
                      <a:pt x="52" y="57"/>
                      <a:pt x="52" y="57"/>
                    </a:cubicBezTo>
                    <a:cubicBezTo>
                      <a:pt x="44" y="57"/>
                      <a:pt x="44" y="57"/>
                      <a:pt x="44" y="57"/>
                    </a:cubicBezTo>
                    <a:lnTo>
                      <a:pt x="43" y="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6" name="Freeform 15"/>
              <p:cNvSpPr>
                <a:spLocks noEditPoints="1"/>
              </p:cNvSpPr>
              <p:nvPr/>
            </p:nvSpPr>
            <p:spPr bwMode="auto">
              <a:xfrm>
                <a:off x="1431925" y="5462588"/>
                <a:ext cx="174625" cy="177800"/>
              </a:xfrm>
              <a:custGeom>
                <a:avLst/>
                <a:gdLst>
                  <a:gd name="T0" fmla="*/ 44 w 110"/>
                  <a:gd name="T1" fmla="*/ 0 h 112"/>
                  <a:gd name="T2" fmla="*/ 68 w 110"/>
                  <a:gd name="T3" fmla="*/ 0 h 112"/>
                  <a:gd name="T4" fmla="*/ 110 w 110"/>
                  <a:gd name="T5" fmla="*/ 112 h 112"/>
                  <a:gd name="T6" fmla="*/ 86 w 110"/>
                  <a:gd name="T7" fmla="*/ 112 h 112"/>
                  <a:gd name="T8" fmla="*/ 76 w 110"/>
                  <a:gd name="T9" fmla="*/ 86 h 112"/>
                  <a:gd name="T10" fmla="*/ 34 w 110"/>
                  <a:gd name="T11" fmla="*/ 86 h 112"/>
                  <a:gd name="T12" fmla="*/ 26 w 110"/>
                  <a:gd name="T13" fmla="*/ 112 h 112"/>
                  <a:gd name="T14" fmla="*/ 0 w 110"/>
                  <a:gd name="T15" fmla="*/ 112 h 112"/>
                  <a:gd name="T16" fmla="*/ 44 w 110"/>
                  <a:gd name="T17" fmla="*/ 0 h 112"/>
                  <a:gd name="T18" fmla="*/ 42 w 110"/>
                  <a:gd name="T19" fmla="*/ 68 h 112"/>
                  <a:gd name="T20" fmla="*/ 70 w 110"/>
                  <a:gd name="T21" fmla="*/ 68 h 112"/>
                  <a:gd name="T22" fmla="*/ 56 w 110"/>
                  <a:gd name="T23" fmla="*/ 28 h 112"/>
                  <a:gd name="T24" fmla="*/ 56 w 110"/>
                  <a:gd name="T25" fmla="*/ 28 h 112"/>
                  <a:gd name="T26" fmla="*/ 42 w 110"/>
                  <a:gd name="T27" fmla="*/ 6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112">
                    <a:moveTo>
                      <a:pt x="44" y="0"/>
                    </a:moveTo>
                    <a:lnTo>
                      <a:pt x="68" y="0"/>
                    </a:lnTo>
                    <a:lnTo>
                      <a:pt x="110" y="112"/>
                    </a:lnTo>
                    <a:lnTo>
                      <a:pt x="86" y="112"/>
                    </a:lnTo>
                    <a:lnTo>
                      <a:pt x="76" y="86"/>
                    </a:lnTo>
                    <a:lnTo>
                      <a:pt x="34" y="86"/>
                    </a:lnTo>
                    <a:lnTo>
                      <a:pt x="26" y="112"/>
                    </a:lnTo>
                    <a:lnTo>
                      <a:pt x="0" y="112"/>
                    </a:lnTo>
                    <a:lnTo>
                      <a:pt x="44" y="0"/>
                    </a:lnTo>
                    <a:close/>
                    <a:moveTo>
                      <a:pt x="42" y="68"/>
                    </a:moveTo>
                    <a:lnTo>
                      <a:pt x="70" y="68"/>
                    </a:lnTo>
                    <a:lnTo>
                      <a:pt x="56" y="28"/>
                    </a:lnTo>
                    <a:lnTo>
                      <a:pt x="56" y="28"/>
                    </a:lnTo>
                    <a:lnTo>
                      <a:pt x="42" y="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7" name="Freeform 16"/>
              <p:cNvSpPr>
                <a:spLocks/>
              </p:cNvSpPr>
              <p:nvPr/>
            </p:nvSpPr>
            <p:spPr bwMode="auto">
              <a:xfrm>
                <a:off x="1619250" y="5459413"/>
                <a:ext cx="168275" cy="184150"/>
              </a:xfrm>
              <a:custGeom>
                <a:avLst/>
                <a:gdLst>
                  <a:gd name="T0" fmla="*/ 43 w 53"/>
                  <a:gd name="T1" fmla="*/ 51 h 58"/>
                  <a:gd name="T2" fmla="*/ 28 w 53"/>
                  <a:gd name="T3" fmla="*/ 58 h 58"/>
                  <a:gd name="T4" fmla="*/ 0 w 53"/>
                  <a:gd name="T5" fmla="*/ 29 h 58"/>
                  <a:gd name="T6" fmla="*/ 28 w 53"/>
                  <a:gd name="T7" fmla="*/ 0 h 58"/>
                  <a:gd name="T8" fmla="*/ 52 w 53"/>
                  <a:gd name="T9" fmla="*/ 19 h 58"/>
                  <a:gd name="T10" fmla="*/ 40 w 53"/>
                  <a:gd name="T11" fmla="*/ 19 h 58"/>
                  <a:gd name="T12" fmla="*/ 28 w 53"/>
                  <a:gd name="T13" fmla="*/ 10 h 58"/>
                  <a:gd name="T14" fmla="*/ 13 w 53"/>
                  <a:gd name="T15" fmla="*/ 29 h 58"/>
                  <a:gd name="T16" fmla="*/ 28 w 53"/>
                  <a:gd name="T17" fmla="*/ 48 h 58"/>
                  <a:gd name="T18" fmla="*/ 41 w 53"/>
                  <a:gd name="T19" fmla="*/ 36 h 58"/>
                  <a:gd name="T20" fmla="*/ 29 w 53"/>
                  <a:gd name="T21" fmla="*/ 36 h 58"/>
                  <a:gd name="T22" fmla="*/ 29 w 53"/>
                  <a:gd name="T23" fmla="*/ 27 h 58"/>
                  <a:gd name="T24" fmla="*/ 53 w 53"/>
                  <a:gd name="T25" fmla="*/ 27 h 58"/>
                  <a:gd name="T26" fmla="*/ 53 w 53"/>
                  <a:gd name="T27" fmla="*/ 57 h 58"/>
                  <a:gd name="T28" fmla="*/ 45 w 53"/>
                  <a:gd name="T29" fmla="*/ 57 h 58"/>
                  <a:gd name="T30" fmla="*/ 43 w 53"/>
                  <a:gd name="T31" fmla="*/ 5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3" h="58">
                    <a:moveTo>
                      <a:pt x="43" y="51"/>
                    </a:moveTo>
                    <a:cubicBezTo>
                      <a:pt x="39" y="56"/>
                      <a:pt x="33" y="58"/>
                      <a:pt x="28" y="58"/>
                    </a:cubicBezTo>
                    <a:cubicBezTo>
                      <a:pt x="11" y="58"/>
                      <a:pt x="0" y="45"/>
                      <a:pt x="0" y="29"/>
                    </a:cubicBezTo>
                    <a:cubicBezTo>
                      <a:pt x="0" y="13"/>
                      <a:pt x="11" y="0"/>
                      <a:pt x="28" y="0"/>
                    </a:cubicBezTo>
                    <a:cubicBezTo>
                      <a:pt x="39" y="0"/>
                      <a:pt x="50" y="7"/>
                      <a:pt x="52" y="19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38" y="13"/>
                      <a:pt x="34" y="10"/>
                      <a:pt x="28" y="10"/>
                    </a:cubicBezTo>
                    <a:cubicBezTo>
                      <a:pt x="17" y="10"/>
                      <a:pt x="13" y="19"/>
                      <a:pt x="13" y="29"/>
                    </a:cubicBezTo>
                    <a:cubicBezTo>
                      <a:pt x="13" y="39"/>
                      <a:pt x="17" y="48"/>
                      <a:pt x="28" y="48"/>
                    </a:cubicBezTo>
                    <a:cubicBezTo>
                      <a:pt x="36" y="48"/>
                      <a:pt x="41" y="44"/>
                      <a:pt x="41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57"/>
                      <a:pt x="53" y="57"/>
                      <a:pt x="53" y="57"/>
                    </a:cubicBezTo>
                    <a:cubicBezTo>
                      <a:pt x="45" y="57"/>
                      <a:pt x="45" y="57"/>
                      <a:pt x="45" y="57"/>
                    </a:cubicBezTo>
                    <a:lnTo>
                      <a:pt x="43" y="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8" name="Freeform 17"/>
              <p:cNvSpPr>
                <a:spLocks/>
              </p:cNvSpPr>
              <p:nvPr/>
            </p:nvSpPr>
            <p:spPr bwMode="auto">
              <a:xfrm>
                <a:off x="1822450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4 w 86"/>
                  <a:gd name="T7" fmla="*/ 20 h 112"/>
                  <a:gd name="T8" fmla="*/ 24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4 w 86"/>
                  <a:gd name="T15" fmla="*/ 64 h 112"/>
                  <a:gd name="T16" fmla="*/ 24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Freeform 18"/>
              <p:cNvSpPr>
                <a:spLocks/>
              </p:cNvSpPr>
              <p:nvPr/>
            </p:nvSpPr>
            <p:spPr bwMode="auto">
              <a:xfrm>
                <a:off x="1990725" y="5462588"/>
                <a:ext cx="190500" cy="177800"/>
              </a:xfrm>
              <a:custGeom>
                <a:avLst/>
                <a:gdLst>
                  <a:gd name="T0" fmla="*/ 0 w 120"/>
                  <a:gd name="T1" fmla="*/ 0 h 112"/>
                  <a:gd name="T2" fmla="*/ 34 w 120"/>
                  <a:gd name="T3" fmla="*/ 0 h 112"/>
                  <a:gd name="T4" fmla="*/ 60 w 120"/>
                  <a:gd name="T5" fmla="*/ 76 h 112"/>
                  <a:gd name="T6" fmla="*/ 60 w 120"/>
                  <a:gd name="T7" fmla="*/ 76 h 112"/>
                  <a:gd name="T8" fmla="*/ 86 w 120"/>
                  <a:gd name="T9" fmla="*/ 0 h 112"/>
                  <a:gd name="T10" fmla="*/ 120 w 120"/>
                  <a:gd name="T11" fmla="*/ 0 h 112"/>
                  <a:gd name="T12" fmla="*/ 120 w 120"/>
                  <a:gd name="T13" fmla="*/ 112 h 112"/>
                  <a:gd name="T14" fmla="*/ 96 w 120"/>
                  <a:gd name="T15" fmla="*/ 112 h 112"/>
                  <a:gd name="T16" fmla="*/ 96 w 120"/>
                  <a:gd name="T17" fmla="*/ 32 h 112"/>
                  <a:gd name="T18" fmla="*/ 96 w 120"/>
                  <a:gd name="T19" fmla="*/ 32 h 112"/>
                  <a:gd name="T20" fmla="*/ 68 w 120"/>
                  <a:gd name="T21" fmla="*/ 112 h 112"/>
                  <a:gd name="T22" fmla="*/ 50 w 120"/>
                  <a:gd name="T23" fmla="*/ 112 h 112"/>
                  <a:gd name="T24" fmla="*/ 22 w 120"/>
                  <a:gd name="T25" fmla="*/ 34 h 112"/>
                  <a:gd name="T26" fmla="*/ 22 w 120"/>
                  <a:gd name="T27" fmla="*/ 34 h 112"/>
                  <a:gd name="T28" fmla="*/ 22 w 120"/>
                  <a:gd name="T29" fmla="*/ 112 h 112"/>
                  <a:gd name="T30" fmla="*/ 0 w 120"/>
                  <a:gd name="T31" fmla="*/ 112 h 112"/>
                  <a:gd name="T32" fmla="*/ 0 w 120"/>
                  <a:gd name="T3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0" h="112">
                    <a:moveTo>
                      <a:pt x="0" y="0"/>
                    </a:moveTo>
                    <a:lnTo>
                      <a:pt x="34" y="0"/>
                    </a:lnTo>
                    <a:lnTo>
                      <a:pt x="60" y="76"/>
                    </a:lnTo>
                    <a:lnTo>
                      <a:pt x="60" y="76"/>
                    </a:lnTo>
                    <a:lnTo>
                      <a:pt x="86" y="0"/>
                    </a:lnTo>
                    <a:lnTo>
                      <a:pt x="120" y="0"/>
                    </a:lnTo>
                    <a:lnTo>
                      <a:pt x="120" y="112"/>
                    </a:lnTo>
                    <a:lnTo>
                      <a:pt x="96" y="112"/>
                    </a:lnTo>
                    <a:lnTo>
                      <a:pt x="96" y="32"/>
                    </a:lnTo>
                    <a:lnTo>
                      <a:pt x="96" y="32"/>
                    </a:lnTo>
                    <a:lnTo>
                      <a:pt x="68" y="112"/>
                    </a:lnTo>
                    <a:lnTo>
                      <a:pt x="50" y="112"/>
                    </a:lnTo>
                    <a:lnTo>
                      <a:pt x="22" y="34"/>
                    </a:lnTo>
                    <a:lnTo>
                      <a:pt x="22" y="34"/>
                    </a:lnTo>
                    <a:lnTo>
                      <a:pt x="22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0" name="Freeform 19"/>
              <p:cNvSpPr>
                <a:spLocks/>
              </p:cNvSpPr>
              <p:nvPr/>
            </p:nvSpPr>
            <p:spPr bwMode="auto">
              <a:xfrm>
                <a:off x="2219325" y="5462588"/>
                <a:ext cx="134938" cy="177800"/>
              </a:xfrm>
              <a:custGeom>
                <a:avLst/>
                <a:gdLst>
                  <a:gd name="T0" fmla="*/ 0 w 85"/>
                  <a:gd name="T1" fmla="*/ 0 h 112"/>
                  <a:gd name="T2" fmla="*/ 83 w 85"/>
                  <a:gd name="T3" fmla="*/ 0 h 112"/>
                  <a:gd name="T4" fmla="*/ 83 w 85"/>
                  <a:gd name="T5" fmla="*/ 20 h 112"/>
                  <a:gd name="T6" fmla="*/ 25 w 85"/>
                  <a:gd name="T7" fmla="*/ 20 h 112"/>
                  <a:gd name="T8" fmla="*/ 25 w 85"/>
                  <a:gd name="T9" fmla="*/ 44 h 112"/>
                  <a:gd name="T10" fmla="*/ 79 w 85"/>
                  <a:gd name="T11" fmla="*/ 44 h 112"/>
                  <a:gd name="T12" fmla="*/ 79 w 85"/>
                  <a:gd name="T13" fmla="*/ 64 h 112"/>
                  <a:gd name="T14" fmla="*/ 25 w 85"/>
                  <a:gd name="T15" fmla="*/ 64 h 112"/>
                  <a:gd name="T16" fmla="*/ 25 w 85"/>
                  <a:gd name="T17" fmla="*/ 92 h 112"/>
                  <a:gd name="T18" fmla="*/ 85 w 85"/>
                  <a:gd name="T19" fmla="*/ 92 h 112"/>
                  <a:gd name="T20" fmla="*/ 85 w 85"/>
                  <a:gd name="T21" fmla="*/ 112 h 112"/>
                  <a:gd name="T22" fmla="*/ 0 w 85"/>
                  <a:gd name="T23" fmla="*/ 112 h 112"/>
                  <a:gd name="T24" fmla="*/ 0 w 85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112">
                    <a:moveTo>
                      <a:pt x="0" y="0"/>
                    </a:moveTo>
                    <a:lnTo>
                      <a:pt x="83" y="0"/>
                    </a:lnTo>
                    <a:lnTo>
                      <a:pt x="83" y="20"/>
                    </a:lnTo>
                    <a:lnTo>
                      <a:pt x="25" y="20"/>
                    </a:lnTo>
                    <a:lnTo>
                      <a:pt x="25" y="44"/>
                    </a:lnTo>
                    <a:lnTo>
                      <a:pt x="79" y="44"/>
                    </a:lnTo>
                    <a:lnTo>
                      <a:pt x="79" y="64"/>
                    </a:lnTo>
                    <a:lnTo>
                      <a:pt x="25" y="64"/>
                    </a:lnTo>
                    <a:lnTo>
                      <a:pt x="25" y="92"/>
                    </a:lnTo>
                    <a:lnTo>
                      <a:pt x="85" y="92"/>
                    </a:lnTo>
                    <a:lnTo>
                      <a:pt x="85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 20"/>
              <p:cNvSpPr>
                <a:spLocks/>
              </p:cNvSpPr>
              <p:nvPr/>
            </p:nvSpPr>
            <p:spPr bwMode="auto">
              <a:xfrm>
                <a:off x="2386013" y="5462588"/>
                <a:ext cx="149225" cy="177800"/>
              </a:xfrm>
              <a:custGeom>
                <a:avLst/>
                <a:gdLst>
                  <a:gd name="T0" fmla="*/ 0 w 94"/>
                  <a:gd name="T1" fmla="*/ 0 h 112"/>
                  <a:gd name="T2" fmla="*/ 24 w 94"/>
                  <a:gd name="T3" fmla="*/ 0 h 112"/>
                  <a:gd name="T4" fmla="*/ 70 w 94"/>
                  <a:gd name="T5" fmla="*/ 76 h 112"/>
                  <a:gd name="T6" fmla="*/ 72 w 94"/>
                  <a:gd name="T7" fmla="*/ 76 h 112"/>
                  <a:gd name="T8" fmla="*/ 72 w 94"/>
                  <a:gd name="T9" fmla="*/ 0 h 112"/>
                  <a:gd name="T10" fmla="*/ 94 w 94"/>
                  <a:gd name="T11" fmla="*/ 0 h 112"/>
                  <a:gd name="T12" fmla="*/ 94 w 94"/>
                  <a:gd name="T13" fmla="*/ 112 h 112"/>
                  <a:gd name="T14" fmla="*/ 70 w 94"/>
                  <a:gd name="T15" fmla="*/ 112 h 112"/>
                  <a:gd name="T16" fmla="*/ 24 w 94"/>
                  <a:gd name="T17" fmla="*/ 36 h 112"/>
                  <a:gd name="T18" fmla="*/ 22 w 94"/>
                  <a:gd name="T19" fmla="*/ 36 h 112"/>
                  <a:gd name="T20" fmla="*/ 22 w 94"/>
                  <a:gd name="T21" fmla="*/ 112 h 112"/>
                  <a:gd name="T22" fmla="*/ 0 w 94"/>
                  <a:gd name="T23" fmla="*/ 112 h 112"/>
                  <a:gd name="T24" fmla="*/ 0 w 94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4" h="112">
                    <a:moveTo>
                      <a:pt x="0" y="0"/>
                    </a:moveTo>
                    <a:lnTo>
                      <a:pt x="24" y="0"/>
                    </a:lnTo>
                    <a:lnTo>
                      <a:pt x="70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4" y="0"/>
                    </a:lnTo>
                    <a:lnTo>
                      <a:pt x="94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2" y="36"/>
                    </a:lnTo>
                    <a:lnTo>
                      <a:pt x="22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 21"/>
              <p:cNvSpPr>
                <a:spLocks/>
              </p:cNvSpPr>
              <p:nvPr/>
            </p:nvSpPr>
            <p:spPr bwMode="auto">
              <a:xfrm>
                <a:off x="2560638" y="5462588"/>
                <a:ext cx="146050" cy="177800"/>
              </a:xfrm>
              <a:custGeom>
                <a:avLst/>
                <a:gdLst>
                  <a:gd name="T0" fmla="*/ 34 w 92"/>
                  <a:gd name="T1" fmla="*/ 20 h 112"/>
                  <a:gd name="T2" fmla="*/ 0 w 92"/>
                  <a:gd name="T3" fmla="*/ 20 h 112"/>
                  <a:gd name="T4" fmla="*/ 0 w 92"/>
                  <a:gd name="T5" fmla="*/ 0 h 112"/>
                  <a:gd name="T6" fmla="*/ 92 w 92"/>
                  <a:gd name="T7" fmla="*/ 0 h 112"/>
                  <a:gd name="T8" fmla="*/ 92 w 92"/>
                  <a:gd name="T9" fmla="*/ 20 h 112"/>
                  <a:gd name="T10" fmla="*/ 58 w 92"/>
                  <a:gd name="T11" fmla="*/ 20 h 112"/>
                  <a:gd name="T12" fmla="*/ 58 w 92"/>
                  <a:gd name="T13" fmla="*/ 112 h 112"/>
                  <a:gd name="T14" fmla="*/ 34 w 92"/>
                  <a:gd name="T15" fmla="*/ 112 h 112"/>
                  <a:gd name="T16" fmla="*/ 34 w 92"/>
                  <a:gd name="T17" fmla="*/ 2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112">
                    <a:moveTo>
                      <a:pt x="34" y="20"/>
                    </a:moveTo>
                    <a:lnTo>
                      <a:pt x="0" y="20"/>
                    </a:lnTo>
                    <a:lnTo>
                      <a:pt x="0" y="0"/>
                    </a:lnTo>
                    <a:lnTo>
                      <a:pt x="92" y="0"/>
                    </a:lnTo>
                    <a:lnTo>
                      <a:pt x="92" y="20"/>
                    </a:lnTo>
                    <a:lnTo>
                      <a:pt x="58" y="20"/>
                    </a:lnTo>
                    <a:lnTo>
                      <a:pt x="58" y="112"/>
                    </a:lnTo>
                    <a:lnTo>
                      <a:pt x="34" y="112"/>
                    </a:lnTo>
                    <a:lnTo>
                      <a:pt x="34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 22"/>
              <p:cNvSpPr>
                <a:spLocks/>
              </p:cNvSpPr>
              <p:nvPr/>
            </p:nvSpPr>
            <p:spPr bwMode="auto">
              <a:xfrm>
                <a:off x="3756025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6 w 86"/>
                  <a:gd name="T7" fmla="*/ 20 h 112"/>
                  <a:gd name="T8" fmla="*/ 26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6 w 86"/>
                  <a:gd name="T15" fmla="*/ 64 h 112"/>
                  <a:gd name="T16" fmla="*/ 26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6" y="20"/>
                    </a:lnTo>
                    <a:lnTo>
                      <a:pt x="26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6" y="64"/>
                    </a:lnTo>
                    <a:lnTo>
                      <a:pt x="26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 23"/>
              <p:cNvSpPr>
                <a:spLocks/>
              </p:cNvSpPr>
              <p:nvPr/>
            </p:nvSpPr>
            <p:spPr bwMode="auto">
              <a:xfrm>
                <a:off x="3905250" y="5462588"/>
                <a:ext cx="168275" cy="177800"/>
              </a:xfrm>
              <a:custGeom>
                <a:avLst/>
                <a:gdLst>
                  <a:gd name="T0" fmla="*/ 40 w 106"/>
                  <a:gd name="T1" fmla="*/ 54 h 112"/>
                  <a:gd name="T2" fmla="*/ 2 w 106"/>
                  <a:gd name="T3" fmla="*/ 0 h 112"/>
                  <a:gd name="T4" fmla="*/ 32 w 106"/>
                  <a:gd name="T5" fmla="*/ 0 h 112"/>
                  <a:gd name="T6" fmla="*/ 54 w 106"/>
                  <a:gd name="T7" fmla="*/ 36 h 112"/>
                  <a:gd name="T8" fmla="*/ 76 w 106"/>
                  <a:gd name="T9" fmla="*/ 0 h 112"/>
                  <a:gd name="T10" fmla="*/ 104 w 106"/>
                  <a:gd name="T11" fmla="*/ 0 h 112"/>
                  <a:gd name="T12" fmla="*/ 68 w 106"/>
                  <a:gd name="T13" fmla="*/ 54 h 112"/>
                  <a:gd name="T14" fmla="*/ 106 w 106"/>
                  <a:gd name="T15" fmla="*/ 112 h 112"/>
                  <a:gd name="T16" fmla="*/ 78 w 106"/>
                  <a:gd name="T17" fmla="*/ 112 h 112"/>
                  <a:gd name="T18" fmla="*/ 52 w 106"/>
                  <a:gd name="T19" fmla="*/ 74 h 112"/>
                  <a:gd name="T20" fmla="*/ 28 w 106"/>
                  <a:gd name="T21" fmla="*/ 112 h 112"/>
                  <a:gd name="T22" fmla="*/ 0 w 106"/>
                  <a:gd name="T23" fmla="*/ 112 h 112"/>
                  <a:gd name="T24" fmla="*/ 40 w 106"/>
                  <a:gd name="T25" fmla="*/ 5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6" h="112">
                    <a:moveTo>
                      <a:pt x="40" y="54"/>
                    </a:moveTo>
                    <a:lnTo>
                      <a:pt x="2" y="0"/>
                    </a:lnTo>
                    <a:lnTo>
                      <a:pt x="32" y="0"/>
                    </a:lnTo>
                    <a:lnTo>
                      <a:pt x="54" y="36"/>
                    </a:lnTo>
                    <a:lnTo>
                      <a:pt x="76" y="0"/>
                    </a:lnTo>
                    <a:lnTo>
                      <a:pt x="104" y="0"/>
                    </a:lnTo>
                    <a:lnTo>
                      <a:pt x="68" y="54"/>
                    </a:lnTo>
                    <a:lnTo>
                      <a:pt x="106" y="112"/>
                    </a:lnTo>
                    <a:lnTo>
                      <a:pt x="78" y="112"/>
                    </a:lnTo>
                    <a:lnTo>
                      <a:pt x="52" y="74"/>
                    </a:lnTo>
                    <a:lnTo>
                      <a:pt x="28" y="112"/>
                    </a:lnTo>
                    <a:lnTo>
                      <a:pt x="0" y="112"/>
                    </a:lnTo>
                    <a:lnTo>
                      <a:pt x="40" y="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Freeform 24"/>
              <p:cNvSpPr>
                <a:spLocks/>
              </p:cNvSpPr>
              <p:nvPr/>
            </p:nvSpPr>
            <p:spPr bwMode="auto">
              <a:xfrm>
                <a:off x="4086225" y="5459413"/>
                <a:ext cx="166688" cy="184150"/>
              </a:xfrm>
              <a:custGeom>
                <a:avLst/>
                <a:gdLst>
                  <a:gd name="T0" fmla="*/ 40 w 53"/>
                  <a:gd name="T1" fmla="*/ 20 h 58"/>
                  <a:gd name="T2" fmla="*/ 28 w 53"/>
                  <a:gd name="T3" fmla="*/ 10 h 58"/>
                  <a:gd name="T4" fmla="*/ 13 w 53"/>
                  <a:gd name="T5" fmla="*/ 29 h 58"/>
                  <a:gd name="T6" fmla="*/ 28 w 53"/>
                  <a:gd name="T7" fmla="*/ 48 h 58"/>
                  <a:gd name="T8" fmla="*/ 41 w 53"/>
                  <a:gd name="T9" fmla="*/ 35 h 58"/>
                  <a:gd name="T10" fmla="*/ 53 w 53"/>
                  <a:gd name="T11" fmla="*/ 35 h 58"/>
                  <a:gd name="T12" fmla="*/ 28 w 53"/>
                  <a:gd name="T13" fmla="*/ 58 h 58"/>
                  <a:gd name="T14" fmla="*/ 0 w 53"/>
                  <a:gd name="T15" fmla="*/ 29 h 58"/>
                  <a:gd name="T16" fmla="*/ 28 w 53"/>
                  <a:gd name="T17" fmla="*/ 0 h 58"/>
                  <a:gd name="T18" fmla="*/ 52 w 53"/>
                  <a:gd name="T19" fmla="*/ 20 h 58"/>
                  <a:gd name="T20" fmla="*/ 40 w 53"/>
                  <a:gd name="T21" fmla="*/ 2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" h="58">
                    <a:moveTo>
                      <a:pt x="40" y="20"/>
                    </a:moveTo>
                    <a:cubicBezTo>
                      <a:pt x="39" y="14"/>
                      <a:pt x="34" y="10"/>
                      <a:pt x="28" y="10"/>
                    </a:cubicBezTo>
                    <a:cubicBezTo>
                      <a:pt x="17" y="10"/>
                      <a:pt x="13" y="19"/>
                      <a:pt x="13" y="29"/>
                    </a:cubicBezTo>
                    <a:cubicBezTo>
                      <a:pt x="13" y="39"/>
                      <a:pt x="17" y="48"/>
                      <a:pt x="28" y="48"/>
                    </a:cubicBezTo>
                    <a:cubicBezTo>
                      <a:pt x="35" y="48"/>
                      <a:pt x="40" y="43"/>
                      <a:pt x="41" y="35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1" y="49"/>
                      <a:pt x="42" y="58"/>
                      <a:pt x="28" y="58"/>
                    </a:cubicBezTo>
                    <a:cubicBezTo>
                      <a:pt x="11" y="58"/>
                      <a:pt x="0" y="45"/>
                      <a:pt x="0" y="29"/>
                    </a:cubicBezTo>
                    <a:cubicBezTo>
                      <a:pt x="0" y="13"/>
                      <a:pt x="11" y="0"/>
                      <a:pt x="28" y="0"/>
                    </a:cubicBezTo>
                    <a:cubicBezTo>
                      <a:pt x="40" y="0"/>
                      <a:pt x="51" y="7"/>
                      <a:pt x="52" y="20"/>
                    </a:cubicBezTo>
                    <a:lnTo>
                      <a:pt x="40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 25"/>
              <p:cNvSpPr>
                <a:spLocks/>
              </p:cNvSpPr>
              <p:nvPr/>
            </p:nvSpPr>
            <p:spPr bwMode="auto">
              <a:xfrm>
                <a:off x="4284663" y="5462588"/>
                <a:ext cx="133350" cy="177800"/>
              </a:xfrm>
              <a:custGeom>
                <a:avLst/>
                <a:gdLst>
                  <a:gd name="T0" fmla="*/ 0 w 84"/>
                  <a:gd name="T1" fmla="*/ 0 h 112"/>
                  <a:gd name="T2" fmla="*/ 84 w 84"/>
                  <a:gd name="T3" fmla="*/ 0 h 112"/>
                  <a:gd name="T4" fmla="*/ 84 w 84"/>
                  <a:gd name="T5" fmla="*/ 20 h 112"/>
                  <a:gd name="T6" fmla="*/ 24 w 84"/>
                  <a:gd name="T7" fmla="*/ 20 h 112"/>
                  <a:gd name="T8" fmla="*/ 24 w 84"/>
                  <a:gd name="T9" fmla="*/ 44 h 112"/>
                  <a:gd name="T10" fmla="*/ 78 w 84"/>
                  <a:gd name="T11" fmla="*/ 44 h 112"/>
                  <a:gd name="T12" fmla="*/ 78 w 84"/>
                  <a:gd name="T13" fmla="*/ 64 h 112"/>
                  <a:gd name="T14" fmla="*/ 24 w 84"/>
                  <a:gd name="T15" fmla="*/ 64 h 112"/>
                  <a:gd name="T16" fmla="*/ 24 w 84"/>
                  <a:gd name="T17" fmla="*/ 92 h 112"/>
                  <a:gd name="T18" fmla="*/ 84 w 84"/>
                  <a:gd name="T19" fmla="*/ 92 h 112"/>
                  <a:gd name="T20" fmla="*/ 84 w 84"/>
                  <a:gd name="T21" fmla="*/ 112 h 112"/>
                  <a:gd name="T22" fmla="*/ 0 w 84"/>
                  <a:gd name="T23" fmla="*/ 112 h 112"/>
                  <a:gd name="T24" fmla="*/ 0 w 84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4" y="92"/>
                    </a:lnTo>
                    <a:lnTo>
                      <a:pt x="8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 26"/>
              <p:cNvSpPr>
                <a:spLocks/>
              </p:cNvSpPr>
              <p:nvPr/>
            </p:nvSpPr>
            <p:spPr bwMode="auto">
              <a:xfrm>
                <a:off x="4449763" y="5462588"/>
                <a:ext cx="127000" cy="177800"/>
              </a:xfrm>
              <a:custGeom>
                <a:avLst/>
                <a:gdLst>
                  <a:gd name="T0" fmla="*/ 0 w 80"/>
                  <a:gd name="T1" fmla="*/ 0 h 112"/>
                  <a:gd name="T2" fmla="*/ 24 w 80"/>
                  <a:gd name="T3" fmla="*/ 0 h 112"/>
                  <a:gd name="T4" fmla="*/ 24 w 80"/>
                  <a:gd name="T5" fmla="*/ 92 h 112"/>
                  <a:gd name="T6" fmla="*/ 80 w 80"/>
                  <a:gd name="T7" fmla="*/ 92 h 112"/>
                  <a:gd name="T8" fmla="*/ 80 w 80"/>
                  <a:gd name="T9" fmla="*/ 112 h 112"/>
                  <a:gd name="T10" fmla="*/ 0 w 80"/>
                  <a:gd name="T11" fmla="*/ 112 h 112"/>
                  <a:gd name="T12" fmla="*/ 0 w 80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12">
                    <a:moveTo>
                      <a:pt x="0" y="0"/>
                    </a:moveTo>
                    <a:lnTo>
                      <a:pt x="24" y="0"/>
                    </a:lnTo>
                    <a:lnTo>
                      <a:pt x="24" y="92"/>
                    </a:lnTo>
                    <a:lnTo>
                      <a:pt x="80" y="92"/>
                    </a:lnTo>
                    <a:lnTo>
                      <a:pt x="80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 27"/>
              <p:cNvSpPr>
                <a:spLocks/>
              </p:cNvSpPr>
              <p:nvPr/>
            </p:nvSpPr>
            <p:spPr bwMode="auto">
              <a:xfrm>
                <a:off x="4602163" y="5462588"/>
                <a:ext cx="127000" cy="177800"/>
              </a:xfrm>
              <a:custGeom>
                <a:avLst/>
                <a:gdLst>
                  <a:gd name="T0" fmla="*/ 0 w 80"/>
                  <a:gd name="T1" fmla="*/ 0 h 112"/>
                  <a:gd name="T2" fmla="*/ 26 w 80"/>
                  <a:gd name="T3" fmla="*/ 0 h 112"/>
                  <a:gd name="T4" fmla="*/ 26 w 80"/>
                  <a:gd name="T5" fmla="*/ 92 h 112"/>
                  <a:gd name="T6" fmla="*/ 80 w 80"/>
                  <a:gd name="T7" fmla="*/ 92 h 112"/>
                  <a:gd name="T8" fmla="*/ 80 w 80"/>
                  <a:gd name="T9" fmla="*/ 112 h 112"/>
                  <a:gd name="T10" fmla="*/ 0 w 80"/>
                  <a:gd name="T11" fmla="*/ 112 h 112"/>
                  <a:gd name="T12" fmla="*/ 0 w 80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12">
                    <a:moveTo>
                      <a:pt x="0" y="0"/>
                    </a:moveTo>
                    <a:lnTo>
                      <a:pt x="26" y="0"/>
                    </a:lnTo>
                    <a:lnTo>
                      <a:pt x="26" y="92"/>
                    </a:lnTo>
                    <a:lnTo>
                      <a:pt x="80" y="92"/>
                    </a:lnTo>
                    <a:lnTo>
                      <a:pt x="80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 28"/>
              <p:cNvSpPr>
                <a:spLocks/>
              </p:cNvSpPr>
              <p:nvPr/>
            </p:nvSpPr>
            <p:spPr bwMode="auto">
              <a:xfrm>
                <a:off x="4754563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6 w 86"/>
                  <a:gd name="T7" fmla="*/ 20 h 112"/>
                  <a:gd name="T8" fmla="*/ 26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6 w 86"/>
                  <a:gd name="T15" fmla="*/ 64 h 112"/>
                  <a:gd name="T16" fmla="*/ 26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6" y="20"/>
                    </a:lnTo>
                    <a:lnTo>
                      <a:pt x="26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6" y="64"/>
                    </a:lnTo>
                    <a:lnTo>
                      <a:pt x="26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Freeform 29"/>
              <p:cNvSpPr>
                <a:spLocks/>
              </p:cNvSpPr>
              <p:nvPr/>
            </p:nvSpPr>
            <p:spPr bwMode="auto">
              <a:xfrm>
                <a:off x="4922838" y="5462588"/>
                <a:ext cx="147638" cy="177800"/>
              </a:xfrm>
              <a:custGeom>
                <a:avLst/>
                <a:gdLst>
                  <a:gd name="T0" fmla="*/ 0 w 93"/>
                  <a:gd name="T1" fmla="*/ 0 h 112"/>
                  <a:gd name="T2" fmla="*/ 24 w 93"/>
                  <a:gd name="T3" fmla="*/ 0 h 112"/>
                  <a:gd name="T4" fmla="*/ 71 w 93"/>
                  <a:gd name="T5" fmla="*/ 76 h 112"/>
                  <a:gd name="T6" fmla="*/ 71 w 93"/>
                  <a:gd name="T7" fmla="*/ 76 h 112"/>
                  <a:gd name="T8" fmla="*/ 71 w 93"/>
                  <a:gd name="T9" fmla="*/ 0 h 112"/>
                  <a:gd name="T10" fmla="*/ 93 w 93"/>
                  <a:gd name="T11" fmla="*/ 0 h 112"/>
                  <a:gd name="T12" fmla="*/ 93 w 93"/>
                  <a:gd name="T13" fmla="*/ 112 h 112"/>
                  <a:gd name="T14" fmla="*/ 69 w 93"/>
                  <a:gd name="T15" fmla="*/ 112 h 112"/>
                  <a:gd name="T16" fmla="*/ 24 w 93"/>
                  <a:gd name="T17" fmla="*/ 36 h 112"/>
                  <a:gd name="T18" fmla="*/ 22 w 93"/>
                  <a:gd name="T19" fmla="*/ 36 h 112"/>
                  <a:gd name="T20" fmla="*/ 22 w 93"/>
                  <a:gd name="T21" fmla="*/ 112 h 112"/>
                  <a:gd name="T22" fmla="*/ 0 w 93"/>
                  <a:gd name="T23" fmla="*/ 112 h 112"/>
                  <a:gd name="T24" fmla="*/ 0 w 93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112">
                    <a:moveTo>
                      <a:pt x="0" y="0"/>
                    </a:moveTo>
                    <a:lnTo>
                      <a:pt x="24" y="0"/>
                    </a:lnTo>
                    <a:lnTo>
                      <a:pt x="71" y="76"/>
                    </a:lnTo>
                    <a:lnTo>
                      <a:pt x="71" y="76"/>
                    </a:lnTo>
                    <a:lnTo>
                      <a:pt x="71" y="0"/>
                    </a:lnTo>
                    <a:lnTo>
                      <a:pt x="93" y="0"/>
                    </a:lnTo>
                    <a:lnTo>
                      <a:pt x="93" y="112"/>
                    </a:lnTo>
                    <a:lnTo>
                      <a:pt x="69" y="112"/>
                    </a:lnTo>
                    <a:lnTo>
                      <a:pt x="24" y="36"/>
                    </a:lnTo>
                    <a:lnTo>
                      <a:pt x="22" y="36"/>
                    </a:lnTo>
                    <a:lnTo>
                      <a:pt x="22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 30"/>
              <p:cNvSpPr>
                <a:spLocks/>
              </p:cNvSpPr>
              <p:nvPr/>
            </p:nvSpPr>
            <p:spPr bwMode="auto">
              <a:xfrm>
                <a:off x="5102225" y="5459413"/>
                <a:ext cx="165100" cy="184150"/>
              </a:xfrm>
              <a:custGeom>
                <a:avLst/>
                <a:gdLst>
                  <a:gd name="T0" fmla="*/ 40 w 52"/>
                  <a:gd name="T1" fmla="*/ 20 h 58"/>
                  <a:gd name="T2" fmla="*/ 28 w 52"/>
                  <a:gd name="T3" fmla="*/ 10 h 58"/>
                  <a:gd name="T4" fmla="*/ 13 w 52"/>
                  <a:gd name="T5" fmla="*/ 29 h 58"/>
                  <a:gd name="T6" fmla="*/ 28 w 52"/>
                  <a:gd name="T7" fmla="*/ 48 h 58"/>
                  <a:gd name="T8" fmla="*/ 41 w 52"/>
                  <a:gd name="T9" fmla="*/ 35 h 58"/>
                  <a:gd name="T10" fmla="*/ 52 w 52"/>
                  <a:gd name="T11" fmla="*/ 35 h 58"/>
                  <a:gd name="T12" fmla="*/ 28 w 52"/>
                  <a:gd name="T13" fmla="*/ 58 h 58"/>
                  <a:gd name="T14" fmla="*/ 0 w 52"/>
                  <a:gd name="T15" fmla="*/ 29 h 58"/>
                  <a:gd name="T16" fmla="*/ 28 w 52"/>
                  <a:gd name="T17" fmla="*/ 0 h 58"/>
                  <a:gd name="T18" fmla="*/ 52 w 52"/>
                  <a:gd name="T19" fmla="*/ 20 h 58"/>
                  <a:gd name="T20" fmla="*/ 40 w 52"/>
                  <a:gd name="T21" fmla="*/ 2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" h="58">
                    <a:moveTo>
                      <a:pt x="40" y="20"/>
                    </a:moveTo>
                    <a:cubicBezTo>
                      <a:pt x="39" y="14"/>
                      <a:pt x="34" y="10"/>
                      <a:pt x="28" y="10"/>
                    </a:cubicBezTo>
                    <a:cubicBezTo>
                      <a:pt x="17" y="10"/>
                      <a:pt x="13" y="19"/>
                      <a:pt x="13" y="29"/>
                    </a:cubicBezTo>
                    <a:cubicBezTo>
                      <a:pt x="13" y="39"/>
                      <a:pt x="17" y="48"/>
                      <a:pt x="28" y="48"/>
                    </a:cubicBezTo>
                    <a:cubicBezTo>
                      <a:pt x="35" y="48"/>
                      <a:pt x="40" y="43"/>
                      <a:pt x="41" y="35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1" y="49"/>
                      <a:pt x="42" y="58"/>
                      <a:pt x="28" y="58"/>
                    </a:cubicBezTo>
                    <a:cubicBezTo>
                      <a:pt x="10" y="58"/>
                      <a:pt x="0" y="45"/>
                      <a:pt x="0" y="29"/>
                    </a:cubicBezTo>
                    <a:cubicBezTo>
                      <a:pt x="0" y="13"/>
                      <a:pt x="10" y="0"/>
                      <a:pt x="28" y="0"/>
                    </a:cubicBezTo>
                    <a:cubicBezTo>
                      <a:pt x="40" y="0"/>
                      <a:pt x="51" y="7"/>
                      <a:pt x="52" y="20"/>
                    </a:cubicBezTo>
                    <a:lnTo>
                      <a:pt x="40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 31"/>
              <p:cNvSpPr>
                <a:spLocks/>
              </p:cNvSpPr>
              <p:nvPr/>
            </p:nvSpPr>
            <p:spPr bwMode="auto">
              <a:xfrm>
                <a:off x="5299075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6 w 86"/>
                  <a:gd name="T7" fmla="*/ 20 h 112"/>
                  <a:gd name="T8" fmla="*/ 26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6 w 86"/>
                  <a:gd name="T15" fmla="*/ 64 h 112"/>
                  <a:gd name="T16" fmla="*/ 26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6" y="20"/>
                    </a:lnTo>
                    <a:lnTo>
                      <a:pt x="26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6" y="64"/>
                    </a:lnTo>
                    <a:lnTo>
                      <a:pt x="26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 32"/>
              <p:cNvSpPr>
                <a:spLocks/>
              </p:cNvSpPr>
              <p:nvPr/>
            </p:nvSpPr>
            <p:spPr bwMode="auto">
              <a:xfrm>
                <a:off x="6497638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4 w 86"/>
                  <a:gd name="T7" fmla="*/ 20 h 112"/>
                  <a:gd name="T8" fmla="*/ 24 w 86"/>
                  <a:gd name="T9" fmla="*/ 44 h 112"/>
                  <a:gd name="T10" fmla="*/ 78 w 86"/>
                  <a:gd name="T11" fmla="*/ 44 h 112"/>
                  <a:gd name="T12" fmla="*/ 78 w 86"/>
                  <a:gd name="T13" fmla="*/ 64 h 112"/>
                  <a:gd name="T14" fmla="*/ 24 w 86"/>
                  <a:gd name="T15" fmla="*/ 64 h 112"/>
                  <a:gd name="T16" fmla="*/ 24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 33"/>
              <p:cNvSpPr>
                <a:spLocks/>
              </p:cNvSpPr>
              <p:nvPr/>
            </p:nvSpPr>
            <p:spPr bwMode="auto">
              <a:xfrm>
                <a:off x="6662738" y="5462588"/>
                <a:ext cx="152400" cy="177800"/>
              </a:xfrm>
              <a:custGeom>
                <a:avLst/>
                <a:gdLst>
                  <a:gd name="T0" fmla="*/ 0 w 96"/>
                  <a:gd name="T1" fmla="*/ 0 h 112"/>
                  <a:gd name="T2" fmla="*/ 26 w 96"/>
                  <a:gd name="T3" fmla="*/ 0 h 112"/>
                  <a:gd name="T4" fmla="*/ 72 w 96"/>
                  <a:gd name="T5" fmla="*/ 76 h 112"/>
                  <a:gd name="T6" fmla="*/ 72 w 96"/>
                  <a:gd name="T7" fmla="*/ 76 h 112"/>
                  <a:gd name="T8" fmla="*/ 72 w 96"/>
                  <a:gd name="T9" fmla="*/ 0 h 112"/>
                  <a:gd name="T10" fmla="*/ 96 w 96"/>
                  <a:gd name="T11" fmla="*/ 0 h 112"/>
                  <a:gd name="T12" fmla="*/ 96 w 96"/>
                  <a:gd name="T13" fmla="*/ 112 h 112"/>
                  <a:gd name="T14" fmla="*/ 70 w 96"/>
                  <a:gd name="T15" fmla="*/ 112 h 112"/>
                  <a:gd name="T16" fmla="*/ 24 w 96"/>
                  <a:gd name="T17" fmla="*/ 36 h 112"/>
                  <a:gd name="T18" fmla="*/ 24 w 96"/>
                  <a:gd name="T19" fmla="*/ 36 h 112"/>
                  <a:gd name="T20" fmla="*/ 24 w 96"/>
                  <a:gd name="T21" fmla="*/ 112 h 112"/>
                  <a:gd name="T22" fmla="*/ 0 w 96"/>
                  <a:gd name="T23" fmla="*/ 112 h 112"/>
                  <a:gd name="T24" fmla="*/ 0 w 9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112">
                    <a:moveTo>
                      <a:pt x="0" y="0"/>
                    </a:moveTo>
                    <a:lnTo>
                      <a:pt x="26" y="0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6" y="0"/>
                    </a:lnTo>
                    <a:lnTo>
                      <a:pt x="96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 34"/>
              <p:cNvSpPr>
                <a:spLocks noEditPoints="1"/>
              </p:cNvSpPr>
              <p:nvPr/>
            </p:nvSpPr>
            <p:spPr bwMode="auto">
              <a:xfrm>
                <a:off x="6834188" y="5462588"/>
                <a:ext cx="173038" cy="177800"/>
              </a:xfrm>
              <a:custGeom>
                <a:avLst/>
                <a:gdLst>
                  <a:gd name="T0" fmla="*/ 41 w 109"/>
                  <a:gd name="T1" fmla="*/ 0 h 112"/>
                  <a:gd name="T2" fmla="*/ 67 w 109"/>
                  <a:gd name="T3" fmla="*/ 0 h 112"/>
                  <a:gd name="T4" fmla="*/ 109 w 109"/>
                  <a:gd name="T5" fmla="*/ 112 h 112"/>
                  <a:gd name="T6" fmla="*/ 83 w 109"/>
                  <a:gd name="T7" fmla="*/ 112 h 112"/>
                  <a:gd name="T8" fmla="*/ 75 w 109"/>
                  <a:gd name="T9" fmla="*/ 86 h 112"/>
                  <a:gd name="T10" fmla="*/ 33 w 109"/>
                  <a:gd name="T11" fmla="*/ 86 h 112"/>
                  <a:gd name="T12" fmla="*/ 25 w 109"/>
                  <a:gd name="T13" fmla="*/ 112 h 112"/>
                  <a:gd name="T14" fmla="*/ 0 w 109"/>
                  <a:gd name="T15" fmla="*/ 112 h 112"/>
                  <a:gd name="T16" fmla="*/ 41 w 109"/>
                  <a:gd name="T17" fmla="*/ 0 h 112"/>
                  <a:gd name="T18" fmla="*/ 39 w 109"/>
                  <a:gd name="T19" fmla="*/ 68 h 112"/>
                  <a:gd name="T20" fmla="*/ 69 w 109"/>
                  <a:gd name="T21" fmla="*/ 68 h 112"/>
                  <a:gd name="T22" fmla="*/ 55 w 109"/>
                  <a:gd name="T23" fmla="*/ 28 h 112"/>
                  <a:gd name="T24" fmla="*/ 55 w 109"/>
                  <a:gd name="T25" fmla="*/ 28 h 112"/>
                  <a:gd name="T26" fmla="*/ 39 w 109"/>
                  <a:gd name="T27" fmla="*/ 6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9" h="112">
                    <a:moveTo>
                      <a:pt x="41" y="0"/>
                    </a:moveTo>
                    <a:lnTo>
                      <a:pt x="67" y="0"/>
                    </a:lnTo>
                    <a:lnTo>
                      <a:pt x="109" y="112"/>
                    </a:lnTo>
                    <a:lnTo>
                      <a:pt x="83" y="112"/>
                    </a:lnTo>
                    <a:lnTo>
                      <a:pt x="75" y="86"/>
                    </a:lnTo>
                    <a:lnTo>
                      <a:pt x="33" y="86"/>
                    </a:lnTo>
                    <a:lnTo>
                      <a:pt x="25" y="112"/>
                    </a:lnTo>
                    <a:lnTo>
                      <a:pt x="0" y="112"/>
                    </a:lnTo>
                    <a:lnTo>
                      <a:pt x="41" y="0"/>
                    </a:lnTo>
                    <a:close/>
                    <a:moveTo>
                      <a:pt x="39" y="68"/>
                    </a:moveTo>
                    <a:lnTo>
                      <a:pt x="69" y="68"/>
                    </a:lnTo>
                    <a:lnTo>
                      <a:pt x="55" y="28"/>
                    </a:lnTo>
                    <a:lnTo>
                      <a:pt x="55" y="28"/>
                    </a:lnTo>
                    <a:lnTo>
                      <a:pt x="39" y="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 35"/>
              <p:cNvSpPr>
                <a:spLocks noEditPoints="1"/>
              </p:cNvSpPr>
              <p:nvPr/>
            </p:nvSpPr>
            <p:spPr bwMode="auto">
              <a:xfrm>
                <a:off x="7029450" y="5462588"/>
                <a:ext cx="149225" cy="177800"/>
              </a:xfrm>
              <a:custGeom>
                <a:avLst/>
                <a:gdLst>
                  <a:gd name="T0" fmla="*/ 0 w 47"/>
                  <a:gd name="T1" fmla="*/ 0 h 56"/>
                  <a:gd name="T2" fmla="*/ 26 w 47"/>
                  <a:gd name="T3" fmla="*/ 0 h 56"/>
                  <a:gd name="T4" fmla="*/ 44 w 47"/>
                  <a:gd name="T5" fmla="*/ 14 h 56"/>
                  <a:gd name="T6" fmla="*/ 36 w 47"/>
                  <a:gd name="T7" fmla="*/ 26 h 56"/>
                  <a:gd name="T8" fmla="*/ 47 w 47"/>
                  <a:gd name="T9" fmla="*/ 40 h 56"/>
                  <a:gd name="T10" fmla="*/ 27 w 47"/>
                  <a:gd name="T11" fmla="*/ 56 h 56"/>
                  <a:gd name="T12" fmla="*/ 0 w 47"/>
                  <a:gd name="T13" fmla="*/ 56 h 56"/>
                  <a:gd name="T14" fmla="*/ 0 w 47"/>
                  <a:gd name="T15" fmla="*/ 0 h 56"/>
                  <a:gd name="T16" fmla="*/ 12 w 47"/>
                  <a:gd name="T17" fmla="*/ 23 h 56"/>
                  <a:gd name="T18" fmla="*/ 24 w 47"/>
                  <a:gd name="T19" fmla="*/ 23 h 56"/>
                  <a:gd name="T20" fmla="*/ 32 w 47"/>
                  <a:gd name="T21" fmla="*/ 16 h 56"/>
                  <a:gd name="T22" fmla="*/ 23 w 47"/>
                  <a:gd name="T23" fmla="*/ 9 h 56"/>
                  <a:gd name="T24" fmla="*/ 12 w 47"/>
                  <a:gd name="T25" fmla="*/ 9 h 56"/>
                  <a:gd name="T26" fmla="*/ 12 w 47"/>
                  <a:gd name="T27" fmla="*/ 23 h 56"/>
                  <a:gd name="T28" fmla="*/ 12 w 47"/>
                  <a:gd name="T29" fmla="*/ 46 h 56"/>
                  <a:gd name="T30" fmla="*/ 25 w 47"/>
                  <a:gd name="T31" fmla="*/ 46 h 56"/>
                  <a:gd name="T32" fmla="*/ 34 w 47"/>
                  <a:gd name="T33" fmla="*/ 39 h 56"/>
                  <a:gd name="T34" fmla="*/ 25 w 47"/>
                  <a:gd name="T35" fmla="*/ 31 h 56"/>
                  <a:gd name="T36" fmla="*/ 12 w 47"/>
                  <a:gd name="T37" fmla="*/ 31 h 56"/>
                  <a:gd name="T38" fmla="*/ 12 w 47"/>
                  <a:gd name="T39" fmla="*/ 4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7" h="56">
                    <a:moveTo>
                      <a:pt x="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37" y="0"/>
                      <a:pt x="44" y="3"/>
                      <a:pt x="44" y="14"/>
                    </a:cubicBezTo>
                    <a:cubicBezTo>
                      <a:pt x="44" y="19"/>
                      <a:pt x="41" y="23"/>
                      <a:pt x="36" y="26"/>
                    </a:cubicBezTo>
                    <a:cubicBezTo>
                      <a:pt x="43" y="27"/>
                      <a:pt x="47" y="33"/>
                      <a:pt x="47" y="40"/>
                    </a:cubicBezTo>
                    <a:cubicBezTo>
                      <a:pt x="47" y="51"/>
                      <a:pt x="37" y="56"/>
                      <a:pt x="27" y="56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0" y="0"/>
                    </a:lnTo>
                    <a:close/>
                    <a:moveTo>
                      <a:pt x="12" y="23"/>
                    </a:moveTo>
                    <a:cubicBezTo>
                      <a:pt x="24" y="23"/>
                      <a:pt x="24" y="23"/>
                      <a:pt x="24" y="23"/>
                    </a:cubicBezTo>
                    <a:cubicBezTo>
                      <a:pt x="29" y="23"/>
                      <a:pt x="32" y="21"/>
                      <a:pt x="32" y="16"/>
                    </a:cubicBezTo>
                    <a:cubicBezTo>
                      <a:pt x="32" y="11"/>
                      <a:pt x="28" y="9"/>
                      <a:pt x="23" y="9"/>
                    </a:cubicBezTo>
                    <a:cubicBezTo>
                      <a:pt x="12" y="9"/>
                      <a:pt x="12" y="9"/>
                      <a:pt x="12" y="9"/>
                    </a:cubicBezTo>
                    <a:lnTo>
                      <a:pt x="12" y="23"/>
                    </a:lnTo>
                    <a:close/>
                    <a:moveTo>
                      <a:pt x="12" y="46"/>
                    </a:moveTo>
                    <a:cubicBezTo>
                      <a:pt x="25" y="46"/>
                      <a:pt x="25" y="46"/>
                      <a:pt x="25" y="46"/>
                    </a:cubicBezTo>
                    <a:cubicBezTo>
                      <a:pt x="30" y="46"/>
                      <a:pt x="34" y="45"/>
                      <a:pt x="34" y="39"/>
                    </a:cubicBezTo>
                    <a:cubicBezTo>
                      <a:pt x="34" y="33"/>
                      <a:pt x="31" y="31"/>
                      <a:pt x="25" y="31"/>
                    </a:cubicBezTo>
                    <a:cubicBezTo>
                      <a:pt x="12" y="31"/>
                      <a:pt x="12" y="31"/>
                      <a:pt x="12" y="31"/>
                    </a:cubicBezTo>
                    <a:lnTo>
                      <a:pt x="12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 36"/>
              <p:cNvSpPr>
                <a:spLocks/>
              </p:cNvSpPr>
              <p:nvPr/>
            </p:nvSpPr>
            <p:spPr bwMode="auto">
              <a:xfrm>
                <a:off x="7207250" y="5462588"/>
                <a:ext cx="127000" cy="177800"/>
              </a:xfrm>
              <a:custGeom>
                <a:avLst/>
                <a:gdLst>
                  <a:gd name="T0" fmla="*/ 0 w 80"/>
                  <a:gd name="T1" fmla="*/ 0 h 112"/>
                  <a:gd name="T2" fmla="*/ 26 w 80"/>
                  <a:gd name="T3" fmla="*/ 0 h 112"/>
                  <a:gd name="T4" fmla="*/ 26 w 80"/>
                  <a:gd name="T5" fmla="*/ 92 h 112"/>
                  <a:gd name="T6" fmla="*/ 80 w 80"/>
                  <a:gd name="T7" fmla="*/ 92 h 112"/>
                  <a:gd name="T8" fmla="*/ 80 w 80"/>
                  <a:gd name="T9" fmla="*/ 112 h 112"/>
                  <a:gd name="T10" fmla="*/ 0 w 80"/>
                  <a:gd name="T11" fmla="*/ 112 h 112"/>
                  <a:gd name="T12" fmla="*/ 0 w 80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12">
                    <a:moveTo>
                      <a:pt x="0" y="0"/>
                    </a:moveTo>
                    <a:lnTo>
                      <a:pt x="26" y="0"/>
                    </a:lnTo>
                    <a:lnTo>
                      <a:pt x="26" y="92"/>
                    </a:lnTo>
                    <a:lnTo>
                      <a:pt x="80" y="92"/>
                    </a:lnTo>
                    <a:lnTo>
                      <a:pt x="80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Freeform 37"/>
              <p:cNvSpPr>
                <a:spLocks/>
              </p:cNvSpPr>
              <p:nvPr/>
            </p:nvSpPr>
            <p:spPr bwMode="auto">
              <a:xfrm>
                <a:off x="7362825" y="5462588"/>
                <a:ext cx="133350" cy="177800"/>
              </a:xfrm>
              <a:custGeom>
                <a:avLst/>
                <a:gdLst>
                  <a:gd name="T0" fmla="*/ 0 w 84"/>
                  <a:gd name="T1" fmla="*/ 0 h 112"/>
                  <a:gd name="T2" fmla="*/ 84 w 84"/>
                  <a:gd name="T3" fmla="*/ 0 h 112"/>
                  <a:gd name="T4" fmla="*/ 84 w 84"/>
                  <a:gd name="T5" fmla="*/ 20 h 112"/>
                  <a:gd name="T6" fmla="*/ 24 w 84"/>
                  <a:gd name="T7" fmla="*/ 20 h 112"/>
                  <a:gd name="T8" fmla="*/ 24 w 84"/>
                  <a:gd name="T9" fmla="*/ 44 h 112"/>
                  <a:gd name="T10" fmla="*/ 78 w 84"/>
                  <a:gd name="T11" fmla="*/ 44 h 112"/>
                  <a:gd name="T12" fmla="*/ 78 w 84"/>
                  <a:gd name="T13" fmla="*/ 64 h 112"/>
                  <a:gd name="T14" fmla="*/ 24 w 84"/>
                  <a:gd name="T15" fmla="*/ 64 h 112"/>
                  <a:gd name="T16" fmla="*/ 24 w 84"/>
                  <a:gd name="T17" fmla="*/ 92 h 112"/>
                  <a:gd name="T18" fmla="*/ 84 w 84"/>
                  <a:gd name="T19" fmla="*/ 92 h 112"/>
                  <a:gd name="T20" fmla="*/ 84 w 84"/>
                  <a:gd name="T21" fmla="*/ 112 h 112"/>
                  <a:gd name="T22" fmla="*/ 0 w 84"/>
                  <a:gd name="T23" fmla="*/ 112 h 112"/>
                  <a:gd name="T24" fmla="*/ 0 w 84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4" y="92"/>
                    </a:lnTo>
                    <a:lnTo>
                      <a:pt x="8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Freeform 38"/>
              <p:cNvSpPr>
                <a:spLocks/>
              </p:cNvSpPr>
              <p:nvPr/>
            </p:nvSpPr>
            <p:spPr bwMode="auto">
              <a:xfrm>
                <a:off x="7527925" y="5462588"/>
                <a:ext cx="190500" cy="177800"/>
              </a:xfrm>
              <a:custGeom>
                <a:avLst/>
                <a:gdLst>
                  <a:gd name="T0" fmla="*/ 0 w 120"/>
                  <a:gd name="T1" fmla="*/ 0 h 112"/>
                  <a:gd name="T2" fmla="*/ 34 w 120"/>
                  <a:gd name="T3" fmla="*/ 0 h 112"/>
                  <a:gd name="T4" fmla="*/ 62 w 120"/>
                  <a:gd name="T5" fmla="*/ 76 h 112"/>
                  <a:gd name="T6" fmla="*/ 62 w 120"/>
                  <a:gd name="T7" fmla="*/ 76 h 112"/>
                  <a:gd name="T8" fmla="*/ 86 w 120"/>
                  <a:gd name="T9" fmla="*/ 0 h 112"/>
                  <a:gd name="T10" fmla="*/ 120 w 120"/>
                  <a:gd name="T11" fmla="*/ 0 h 112"/>
                  <a:gd name="T12" fmla="*/ 120 w 120"/>
                  <a:gd name="T13" fmla="*/ 112 h 112"/>
                  <a:gd name="T14" fmla="*/ 98 w 120"/>
                  <a:gd name="T15" fmla="*/ 112 h 112"/>
                  <a:gd name="T16" fmla="*/ 98 w 120"/>
                  <a:gd name="T17" fmla="*/ 32 h 112"/>
                  <a:gd name="T18" fmla="*/ 98 w 120"/>
                  <a:gd name="T19" fmla="*/ 32 h 112"/>
                  <a:gd name="T20" fmla="*/ 70 w 120"/>
                  <a:gd name="T21" fmla="*/ 112 h 112"/>
                  <a:gd name="T22" fmla="*/ 52 w 120"/>
                  <a:gd name="T23" fmla="*/ 112 h 112"/>
                  <a:gd name="T24" fmla="*/ 24 w 120"/>
                  <a:gd name="T25" fmla="*/ 34 h 112"/>
                  <a:gd name="T26" fmla="*/ 24 w 120"/>
                  <a:gd name="T27" fmla="*/ 34 h 112"/>
                  <a:gd name="T28" fmla="*/ 24 w 120"/>
                  <a:gd name="T29" fmla="*/ 112 h 112"/>
                  <a:gd name="T30" fmla="*/ 0 w 120"/>
                  <a:gd name="T31" fmla="*/ 112 h 112"/>
                  <a:gd name="T32" fmla="*/ 0 w 120"/>
                  <a:gd name="T3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0" h="112">
                    <a:moveTo>
                      <a:pt x="0" y="0"/>
                    </a:moveTo>
                    <a:lnTo>
                      <a:pt x="34" y="0"/>
                    </a:lnTo>
                    <a:lnTo>
                      <a:pt x="62" y="76"/>
                    </a:lnTo>
                    <a:lnTo>
                      <a:pt x="62" y="76"/>
                    </a:lnTo>
                    <a:lnTo>
                      <a:pt x="86" y="0"/>
                    </a:lnTo>
                    <a:lnTo>
                      <a:pt x="120" y="0"/>
                    </a:lnTo>
                    <a:lnTo>
                      <a:pt x="120" y="112"/>
                    </a:lnTo>
                    <a:lnTo>
                      <a:pt x="98" y="112"/>
                    </a:lnTo>
                    <a:lnTo>
                      <a:pt x="98" y="32"/>
                    </a:lnTo>
                    <a:lnTo>
                      <a:pt x="98" y="32"/>
                    </a:lnTo>
                    <a:lnTo>
                      <a:pt x="70" y="112"/>
                    </a:lnTo>
                    <a:lnTo>
                      <a:pt x="52" y="112"/>
                    </a:lnTo>
                    <a:lnTo>
                      <a:pt x="24" y="34"/>
                    </a:lnTo>
                    <a:lnTo>
                      <a:pt x="24" y="34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Freeform 39"/>
              <p:cNvSpPr>
                <a:spLocks/>
              </p:cNvSpPr>
              <p:nvPr/>
            </p:nvSpPr>
            <p:spPr bwMode="auto">
              <a:xfrm>
                <a:off x="7759700" y="5462588"/>
                <a:ext cx="134938" cy="177800"/>
              </a:xfrm>
              <a:custGeom>
                <a:avLst/>
                <a:gdLst>
                  <a:gd name="T0" fmla="*/ 0 w 85"/>
                  <a:gd name="T1" fmla="*/ 0 h 112"/>
                  <a:gd name="T2" fmla="*/ 83 w 85"/>
                  <a:gd name="T3" fmla="*/ 0 h 112"/>
                  <a:gd name="T4" fmla="*/ 83 w 85"/>
                  <a:gd name="T5" fmla="*/ 20 h 112"/>
                  <a:gd name="T6" fmla="*/ 23 w 85"/>
                  <a:gd name="T7" fmla="*/ 20 h 112"/>
                  <a:gd name="T8" fmla="*/ 23 w 85"/>
                  <a:gd name="T9" fmla="*/ 44 h 112"/>
                  <a:gd name="T10" fmla="*/ 77 w 85"/>
                  <a:gd name="T11" fmla="*/ 44 h 112"/>
                  <a:gd name="T12" fmla="*/ 77 w 85"/>
                  <a:gd name="T13" fmla="*/ 64 h 112"/>
                  <a:gd name="T14" fmla="*/ 23 w 85"/>
                  <a:gd name="T15" fmla="*/ 64 h 112"/>
                  <a:gd name="T16" fmla="*/ 23 w 85"/>
                  <a:gd name="T17" fmla="*/ 92 h 112"/>
                  <a:gd name="T18" fmla="*/ 85 w 85"/>
                  <a:gd name="T19" fmla="*/ 92 h 112"/>
                  <a:gd name="T20" fmla="*/ 85 w 85"/>
                  <a:gd name="T21" fmla="*/ 112 h 112"/>
                  <a:gd name="T22" fmla="*/ 0 w 85"/>
                  <a:gd name="T23" fmla="*/ 112 h 112"/>
                  <a:gd name="T24" fmla="*/ 0 w 85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112">
                    <a:moveTo>
                      <a:pt x="0" y="0"/>
                    </a:moveTo>
                    <a:lnTo>
                      <a:pt x="83" y="0"/>
                    </a:lnTo>
                    <a:lnTo>
                      <a:pt x="83" y="20"/>
                    </a:lnTo>
                    <a:lnTo>
                      <a:pt x="23" y="20"/>
                    </a:lnTo>
                    <a:lnTo>
                      <a:pt x="23" y="44"/>
                    </a:lnTo>
                    <a:lnTo>
                      <a:pt x="77" y="44"/>
                    </a:lnTo>
                    <a:lnTo>
                      <a:pt x="77" y="64"/>
                    </a:lnTo>
                    <a:lnTo>
                      <a:pt x="23" y="64"/>
                    </a:lnTo>
                    <a:lnTo>
                      <a:pt x="23" y="92"/>
                    </a:lnTo>
                    <a:lnTo>
                      <a:pt x="85" y="92"/>
                    </a:lnTo>
                    <a:lnTo>
                      <a:pt x="85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Freeform 40"/>
              <p:cNvSpPr>
                <a:spLocks/>
              </p:cNvSpPr>
              <p:nvPr/>
            </p:nvSpPr>
            <p:spPr bwMode="auto">
              <a:xfrm>
                <a:off x="7923213" y="5462588"/>
                <a:ext cx="152400" cy="177800"/>
              </a:xfrm>
              <a:custGeom>
                <a:avLst/>
                <a:gdLst>
                  <a:gd name="T0" fmla="*/ 0 w 96"/>
                  <a:gd name="T1" fmla="*/ 0 h 112"/>
                  <a:gd name="T2" fmla="*/ 26 w 96"/>
                  <a:gd name="T3" fmla="*/ 0 h 112"/>
                  <a:gd name="T4" fmla="*/ 72 w 96"/>
                  <a:gd name="T5" fmla="*/ 76 h 112"/>
                  <a:gd name="T6" fmla="*/ 72 w 96"/>
                  <a:gd name="T7" fmla="*/ 76 h 112"/>
                  <a:gd name="T8" fmla="*/ 72 w 96"/>
                  <a:gd name="T9" fmla="*/ 0 h 112"/>
                  <a:gd name="T10" fmla="*/ 96 w 96"/>
                  <a:gd name="T11" fmla="*/ 0 h 112"/>
                  <a:gd name="T12" fmla="*/ 96 w 96"/>
                  <a:gd name="T13" fmla="*/ 112 h 112"/>
                  <a:gd name="T14" fmla="*/ 70 w 96"/>
                  <a:gd name="T15" fmla="*/ 112 h 112"/>
                  <a:gd name="T16" fmla="*/ 24 w 96"/>
                  <a:gd name="T17" fmla="*/ 36 h 112"/>
                  <a:gd name="T18" fmla="*/ 24 w 96"/>
                  <a:gd name="T19" fmla="*/ 36 h 112"/>
                  <a:gd name="T20" fmla="*/ 24 w 96"/>
                  <a:gd name="T21" fmla="*/ 112 h 112"/>
                  <a:gd name="T22" fmla="*/ 0 w 96"/>
                  <a:gd name="T23" fmla="*/ 112 h 112"/>
                  <a:gd name="T24" fmla="*/ 0 w 9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112">
                    <a:moveTo>
                      <a:pt x="0" y="0"/>
                    </a:moveTo>
                    <a:lnTo>
                      <a:pt x="26" y="0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6" y="0"/>
                    </a:lnTo>
                    <a:lnTo>
                      <a:pt x="96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4" name="Freeform 41"/>
              <p:cNvSpPr>
                <a:spLocks/>
              </p:cNvSpPr>
              <p:nvPr/>
            </p:nvSpPr>
            <p:spPr bwMode="auto">
              <a:xfrm>
                <a:off x="8101013" y="5462588"/>
                <a:ext cx="146050" cy="177800"/>
              </a:xfrm>
              <a:custGeom>
                <a:avLst/>
                <a:gdLst>
                  <a:gd name="T0" fmla="*/ 34 w 92"/>
                  <a:gd name="T1" fmla="*/ 20 h 112"/>
                  <a:gd name="T2" fmla="*/ 0 w 92"/>
                  <a:gd name="T3" fmla="*/ 20 h 112"/>
                  <a:gd name="T4" fmla="*/ 0 w 92"/>
                  <a:gd name="T5" fmla="*/ 0 h 112"/>
                  <a:gd name="T6" fmla="*/ 92 w 92"/>
                  <a:gd name="T7" fmla="*/ 0 h 112"/>
                  <a:gd name="T8" fmla="*/ 92 w 92"/>
                  <a:gd name="T9" fmla="*/ 20 h 112"/>
                  <a:gd name="T10" fmla="*/ 58 w 92"/>
                  <a:gd name="T11" fmla="*/ 20 h 112"/>
                  <a:gd name="T12" fmla="*/ 58 w 92"/>
                  <a:gd name="T13" fmla="*/ 112 h 112"/>
                  <a:gd name="T14" fmla="*/ 34 w 92"/>
                  <a:gd name="T15" fmla="*/ 112 h 112"/>
                  <a:gd name="T16" fmla="*/ 34 w 92"/>
                  <a:gd name="T17" fmla="*/ 2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112">
                    <a:moveTo>
                      <a:pt x="34" y="20"/>
                    </a:moveTo>
                    <a:lnTo>
                      <a:pt x="0" y="20"/>
                    </a:lnTo>
                    <a:lnTo>
                      <a:pt x="0" y="0"/>
                    </a:lnTo>
                    <a:lnTo>
                      <a:pt x="92" y="0"/>
                    </a:lnTo>
                    <a:lnTo>
                      <a:pt x="92" y="20"/>
                    </a:lnTo>
                    <a:lnTo>
                      <a:pt x="58" y="20"/>
                    </a:lnTo>
                    <a:lnTo>
                      <a:pt x="58" y="112"/>
                    </a:lnTo>
                    <a:lnTo>
                      <a:pt x="34" y="112"/>
                    </a:lnTo>
                    <a:lnTo>
                      <a:pt x="34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Oval 42"/>
              <p:cNvSpPr>
                <a:spLocks noChangeArrowheads="1"/>
              </p:cNvSpPr>
              <p:nvPr/>
            </p:nvSpPr>
            <p:spPr bwMode="auto">
              <a:xfrm>
                <a:off x="3033713" y="5392738"/>
                <a:ext cx="312738" cy="314325"/>
              </a:xfrm>
              <a:prstGeom prst="ellipse">
                <a:avLst/>
              </a:prstGeom>
              <a:solidFill>
                <a:srgbClr val="5D677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6" name="Oval 43"/>
              <p:cNvSpPr>
                <a:spLocks noChangeArrowheads="1"/>
              </p:cNvSpPr>
              <p:nvPr/>
            </p:nvSpPr>
            <p:spPr bwMode="auto">
              <a:xfrm>
                <a:off x="5816600" y="5392738"/>
                <a:ext cx="312738" cy="314325"/>
              </a:xfrm>
              <a:prstGeom prst="ellipse">
                <a:avLst/>
              </a:prstGeom>
              <a:solidFill>
                <a:srgbClr val="5D677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7" name="Rectangle 44"/>
              <p:cNvSpPr>
                <a:spLocks noChangeArrowheads="1"/>
              </p:cNvSpPr>
              <p:nvPr/>
            </p:nvSpPr>
            <p:spPr bwMode="auto">
              <a:xfrm>
                <a:off x="3167063" y="5459413"/>
                <a:ext cx="42863" cy="1809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Rectangle 45"/>
              <p:cNvSpPr>
                <a:spLocks noChangeArrowheads="1"/>
              </p:cNvSpPr>
              <p:nvPr/>
            </p:nvSpPr>
            <p:spPr bwMode="auto">
              <a:xfrm>
                <a:off x="3100388" y="5529263"/>
                <a:ext cx="179388" cy="41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Rectangle 46"/>
              <p:cNvSpPr>
                <a:spLocks noChangeArrowheads="1"/>
              </p:cNvSpPr>
              <p:nvPr/>
            </p:nvSpPr>
            <p:spPr bwMode="auto">
              <a:xfrm>
                <a:off x="5905500" y="5491163"/>
                <a:ext cx="134938" cy="44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Rectangle 47"/>
              <p:cNvSpPr>
                <a:spLocks noChangeArrowheads="1"/>
              </p:cNvSpPr>
              <p:nvPr/>
            </p:nvSpPr>
            <p:spPr bwMode="auto">
              <a:xfrm>
                <a:off x="5905500" y="5564188"/>
                <a:ext cx="134938" cy="44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222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Boeing 12 column grid" hidden="1"/>
          <p:cNvGrpSpPr/>
          <p:nvPr userDrawn="1"/>
        </p:nvGrpSpPr>
        <p:grpSpPr>
          <a:xfrm>
            <a:off x="0" y="0"/>
            <a:ext cx="12195176" cy="6858000"/>
            <a:chOff x="0" y="0"/>
            <a:chExt cx="12192000" cy="6858000"/>
          </a:xfrm>
        </p:grpSpPr>
        <p:grpSp>
          <p:nvGrpSpPr>
            <p:cNvPr id="14" name="Group 13"/>
            <p:cNvGrpSpPr/>
            <p:nvPr userDrawn="1"/>
          </p:nvGrpSpPr>
          <p:grpSpPr>
            <a:xfrm>
              <a:off x="0" y="0"/>
              <a:ext cx="12188825" cy="6858000"/>
              <a:chOff x="0" y="0"/>
              <a:chExt cx="12188825" cy="6858000"/>
            </a:xfrm>
          </p:grpSpPr>
          <p:grpSp>
            <p:nvGrpSpPr>
              <p:cNvPr id="17" name="Boeing 12 column grid"/>
              <p:cNvGrpSpPr/>
              <p:nvPr userDrawn="1"/>
            </p:nvGrpSpPr>
            <p:grpSpPr>
              <a:xfrm>
                <a:off x="0" y="461727"/>
                <a:ext cx="12188825" cy="5957180"/>
                <a:chOff x="129803" y="456356"/>
                <a:chExt cx="8890818" cy="5958732"/>
              </a:xfrm>
            </p:grpSpPr>
            <p:cxnSp>
              <p:nvCxnSpPr>
                <p:cNvPr id="22" name="Straight Connector 21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64396" y="2136995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64396" y="2432456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59993" y="3288274"/>
                  <a:ext cx="8223097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466598" y="3583735"/>
                  <a:ext cx="821649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64396" y="4424269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462195" y="4719730"/>
                  <a:ext cx="8220896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2" name="Rectangle 31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799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129803" y="2284726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463550" y="3432679"/>
                  <a:ext cx="8223250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129803" y="4572000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38" name="Group 37"/>
                <p:cNvGrpSpPr/>
                <p:nvPr userDrawn="1"/>
              </p:nvGrpSpPr>
              <p:grpSpPr>
                <a:xfrm>
                  <a:off x="1043681" y="457200"/>
                  <a:ext cx="7060730" cy="5957888"/>
                  <a:chOff x="1043681" y="0"/>
                  <a:chExt cx="7060730" cy="6858000"/>
                </a:xfrm>
              </p:grpSpPr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20"/>
                  <p:cNvCxnSpPr/>
                  <p:nvPr/>
                </p:nvCxnSpPr>
                <p:spPr>
                  <a:xfrm>
                    <a:off x="104368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15"/>
                  <p:cNvCxnSpPr/>
                  <p:nvPr/>
                </p:nvCxnSpPr>
                <p:spPr>
                  <a:xfrm>
                    <a:off x="11584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174150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/>
                </p:nvCxnSpPr>
                <p:spPr>
                  <a:xfrm>
                    <a:off x="243709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532550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25473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 userDrawn="1"/>
                </p:nvCxnSpPr>
                <p:spPr>
                  <a:xfrm>
                    <a:off x="31288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324337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382641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39374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452230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462823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52137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810441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590715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601976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7" name="Straight Connector 56"/>
                  <p:cNvCxnSpPr/>
                  <p:nvPr userDrawn="1"/>
                </p:nvCxnSpPr>
                <p:spPr>
                  <a:xfrm>
                    <a:off x="660501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8" name="Straight Connector 57"/>
                  <p:cNvCxnSpPr/>
                  <p:nvPr userDrawn="1"/>
                </p:nvCxnSpPr>
                <p:spPr>
                  <a:xfrm>
                    <a:off x="6713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9" name="Straight Connector 58"/>
                  <p:cNvCxnSpPr/>
                  <p:nvPr userDrawn="1"/>
                </p:nvCxnSpPr>
                <p:spPr>
                  <a:xfrm>
                    <a:off x="729868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0" name="Straight Connector 59"/>
                  <p:cNvCxnSpPr/>
                  <p:nvPr userDrawn="1"/>
                </p:nvCxnSpPr>
                <p:spPr>
                  <a:xfrm>
                    <a:off x="740902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61" name="Straight Connector 60"/>
                  <p:cNvCxnSpPr/>
                  <p:nvPr userDrawn="1"/>
                </p:nvCxnSpPr>
                <p:spPr>
                  <a:xfrm>
                    <a:off x="799017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18" name="Group 41"/>
              <p:cNvGrpSpPr/>
              <p:nvPr userDrawn="1"/>
            </p:nvGrpSpPr>
            <p:grpSpPr>
              <a:xfrm>
                <a:off x="7002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19" name="Straight Connector 18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6" name="Straight Connector 15"/>
            <p:cNvCxnSpPr/>
            <p:nvPr userDrawn="1"/>
          </p:nvCxnSpPr>
          <p:spPr>
            <a:xfrm flipH="1">
              <a:off x="9599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itle 1"/>
          <p:cNvSpPr>
            <a:spLocks noGrp="1"/>
          </p:cNvSpPr>
          <p:nvPr>
            <p:ph type="ctrTitle" sz="quarter"/>
          </p:nvPr>
        </p:nvSpPr>
        <p:spPr>
          <a:xfrm>
            <a:off x="429880" y="2521759"/>
            <a:ext cx="10363200" cy="726353"/>
          </a:xfrm>
        </p:spPr>
        <p:txBody>
          <a:bodyPr anchor="ctr" anchorCtr="0"/>
          <a:lstStyle>
            <a:lvl1pPr>
              <a:defRPr sz="4799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3" name="Subtitle 2"/>
          <p:cNvSpPr>
            <a:spLocks noGrp="1"/>
          </p:cNvSpPr>
          <p:nvPr>
            <p:ph type="subTitle" sz="quarter" idx="1"/>
          </p:nvPr>
        </p:nvSpPr>
        <p:spPr>
          <a:xfrm>
            <a:off x="429881" y="4637996"/>
            <a:ext cx="11002433" cy="387799"/>
          </a:xfrm>
        </p:spPr>
        <p:txBody>
          <a:bodyPr/>
          <a:lstStyle>
            <a:lvl1pPr marL="0" indent="0">
              <a:buFontTx/>
              <a:buNone/>
              <a:defRPr sz="2799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" y="4581144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64" name="Picture 53" descr="Boeing_RGBblue_standard"/>
          <p:cNvPicPr preferRelativeResize="0"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6044" y="398150"/>
            <a:ext cx="1838804" cy="442913"/>
          </a:xfrm>
          <a:prstGeom prst="rect">
            <a:avLst/>
          </a:prstGeom>
          <a:noFill/>
        </p:spPr>
      </p:pic>
      <p:sp>
        <p:nvSpPr>
          <p:cNvPr id="68" name="Rectangle 6"/>
          <p:cNvSpPr>
            <a:spLocks noChangeArrowheads="1"/>
          </p:cNvSpPr>
          <p:nvPr userDrawn="1"/>
        </p:nvSpPr>
        <p:spPr bwMode="auto">
          <a:xfrm>
            <a:off x="409738" y="6658303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2" tIns="9142" rIns="9142" bIns="9142" anchor="b">
            <a:spAutoFit/>
          </a:bodyPr>
          <a:lstStyle/>
          <a:p>
            <a:pPr defTabSz="82047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>
                <a:solidFill>
                  <a:srgbClr val="FFFFFF">
                    <a:lumMod val="50000"/>
                  </a:srgbClr>
                </a:solidFill>
              </a:rPr>
              <a:t>Copyright © 2017 Boeing. All rights reserved.</a:t>
            </a:r>
          </a:p>
        </p:txBody>
      </p:sp>
      <p:sp>
        <p:nvSpPr>
          <p:cNvPr id="65" name="TextBox 64"/>
          <p:cNvSpPr txBox="1"/>
          <p:nvPr userDrawn="1"/>
        </p:nvSpPr>
        <p:spPr>
          <a:xfrm>
            <a:off x="9302845" y="1377321"/>
            <a:ext cx="1497526" cy="307777"/>
          </a:xfrm>
          <a:prstGeom prst="rect">
            <a:avLst/>
          </a:prstGeom>
          <a:noFill/>
        </p:spPr>
        <p:txBody>
          <a:bodyPr wrap="none" lIns="91416" tIns="45708" rIns="91416" bIns="45708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39A6"/>
                </a:solidFill>
              </a:rPr>
              <a:t>Operation Name</a:t>
            </a:r>
          </a:p>
        </p:txBody>
      </p:sp>
      <p:grpSp>
        <p:nvGrpSpPr>
          <p:cNvPr id="69" name="Group 68"/>
          <p:cNvGrpSpPr/>
          <p:nvPr userDrawn="1"/>
        </p:nvGrpSpPr>
        <p:grpSpPr>
          <a:xfrm>
            <a:off x="3038125" y="6019800"/>
            <a:ext cx="6118929" cy="360400"/>
            <a:chOff x="1519007" y="5992326"/>
            <a:chExt cx="6117336" cy="360400"/>
          </a:xfrm>
        </p:grpSpPr>
        <p:sp>
          <p:nvSpPr>
            <p:cNvPr id="70" name="Rectangle 69"/>
            <p:cNvSpPr/>
            <p:nvPr/>
          </p:nvSpPr>
          <p:spPr>
            <a:xfrm>
              <a:off x="3316606" y="5996110"/>
              <a:ext cx="2606674" cy="3566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799">
                <a:solidFill>
                  <a:srgbClr val="FFFFFF"/>
                </a:solidFill>
              </a:endParaRPr>
            </a:p>
          </p:txBody>
        </p:sp>
        <p:grpSp>
          <p:nvGrpSpPr>
            <p:cNvPr id="71" name="Group 70"/>
            <p:cNvGrpSpPr>
              <a:grpSpLocks noChangeAspect="1"/>
            </p:cNvGrpSpPr>
            <p:nvPr/>
          </p:nvGrpSpPr>
          <p:grpSpPr>
            <a:xfrm>
              <a:off x="1519007" y="5992326"/>
              <a:ext cx="6117336" cy="360400"/>
              <a:chOff x="471488" y="5307013"/>
              <a:chExt cx="8218488" cy="484188"/>
            </a:xfrm>
          </p:grpSpPr>
          <p:sp>
            <p:nvSpPr>
              <p:cNvPr id="72" name="Freeform 9"/>
              <p:cNvSpPr>
                <a:spLocks/>
              </p:cNvSpPr>
              <p:nvPr/>
            </p:nvSpPr>
            <p:spPr bwMode="auto">
              <a:xfrm>
                <a:off x="6043613" y="5307013"/>
                <a:ext cx="2646363" cy="484188"/>
              </a:xfrm>
              <a:custGeom>
                <a:avLst/>
                <a:gdLst>
                  <a:gd name="T0" fmla="*/ 0 w 835"/>
                  <a:gd name="T1" fmla="*/ 0 h 153"/>
                  <a:gd name="T2" fmla="*/ 0 w 835"/>
                  <a:gd name="T3" fmla="*/ 15 h 153"/>
                  <a:gd name="T4" fmla="*/ 2 w 835"/>
                  <a:gd name="T5" fmla="*/ 16 h 153"/>
                  <a:gd name="T6" fmla="*/ 43 w 835"/>
                  <a:gd name="T7" fmla="*/ 76 h 153"/>
                  <a:gd name="T8" fmla="*/ 2 w 835"/>
                  <a:gd name="T9" fmla="*/ 137 h 153"/>
                  <a:gd name="T10" fmla="*/ 0 w 835"/>
                  <a:gd name="T11" fmla="*/ 138 h 153"/>
                  <a:gd name="T12" fmla="*/ 0 w 835"/>
                  <a:gd name="T13" fmla="*/ 153 h 153"/>
                  <a:gd name="T14" fmla="*/ 835 w 835"/>
                  <a:gd name="T15" fmla="*/ 153 h 153"/>
                  <a:gd name="T16" fmla="*/ 835 w 835"/>
                  <a:gd name="T17" fmla="*/ 0 h 153"/>
                  <a:gd name="T18" fmla="*/ 0 w 835"/>
                  <a:gd name="T19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35" h="153">
                    <a:moveTo>
                      <a:pt x="0" y="0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1" y="15"/>
                      <a:pt x="1" y="15"/>
                      <a:pt x="2" y="16"/>
                    </a:cubicBezTo>
                    <a:cubicBezTo>
                      <a:pt x="26" y="25"/>
                      <a:pt x="43" y="49"/>
                      <a:pt x="43" y="76"/>
                    </a:cubicBezTo>
                    <a:cubicBezTo>
                      <a:pt x="43" y="104"/>
                      <a:pt x="26" y="128"/>
                      <a:pt x="2" y="137"/>
                    </a:cubicBezTo>
                    <a:cubicBezTo>
                      <a:pt x="1" y="138"/>
                      <a:pt x="1" y="138"/>
                      <a:pt x="0" y="138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835" y="153"/>
                      <a:pt x="835" y="153"/>
                      <a:pt x="835" y="153"/>
                    </a:cubicBezTo>
                    <a:cubicBezTo>
                      <a:pt x="835" y="0"/>
                      <a:pt x="835" y="0"/>
                      <a:pt x="83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A21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3" name="Freeform 10"/>
              <p:cNvSpPr>
                <a:spLocks/>
              </p:cNvSpPr>
              <p:nvPr/>
            </p:nvSpPr>
            <p:spPr bwMode="auto">
              <a:xfrm>
                <a:off x="471488" y="5307013"/>
                <a:ext cx="2651125" cy="484188"/>
              </a:xfrm>
              <a:custGeom>
                <a:avLst/>
                <a:gdLst>
                  <a:gd name="T0" fmla="*/ 792 w 836"/>
                  <a:gd name="T1" fmla="*/ 76 h 153"/>
                  <a:gd name="T2" fmla="*/ 836 w 836"/>
                  <a:gd name="T3" fmla="*/ 15 h 153"/>
                  <a:gd name="T4" fmla="*/ 836 w 836"/>
                  <a:gd name="T5" fmla="*/ 0 h 153"/>
                  <a:gd name="T6" fmla="*/ 0 w 836"/>
                  <a:gd name="T7" fmla="*/ 0 h 153"/>
                  <a:gd name="T8" fmla="*/ 0 w 836"/>
                  <a:gd name="T9" fmla="*/ 153 h 153"/>
                  <a:gd name="T10" fmla="*/ 836 w 836"/>
                  <a:gd name="T11" fmla="*/ 153 h 153"/>
                  <a:gd name="T12" fmla="*/ 836 w 836"/>
                  <a:gd name="T13" fmla="*/ 138 h 153"/>
                  <a:gd name="T14" fmla="*/ 792 w 836"/>
                  <a:gd name="T15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6" h="153">
                    <a:moveTo>
                      <a:pt x="792" y="76"/>
                    </a:moveTo>
                    <a:cubicBezTo>
                      <a:pt x="792" y="48"/>
                      <a:pt x="810" y="24"/>
                      <a:pt x="836" y="15"/>
                    </a:cubicBezTo>
                    <a:cubicBezTo>
                      <a:pt x="836" y="0"/>
                      <a:pt x="836" y="0"/>
                      <a:pt x="8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836" y="153"/>
                      <a:pt x="836" y="153"/>
                      <a:pt x="836" y="153"/>
                    </a:cubicBezTo>
                    <a:cubicBezTo>
                      <a:pt x="836" y="138"/>
                      <a:pt x="836" y="138"/>
                      <a:pt x="836" y="138"/>
                    </a:cubicBezTo>
                    <a:cubicBezTo>
                      <a:pt x="810" y="129"/>
                      <a:pt x="792" y="105"/>
                      <a:pt x="792" y="76"/>
                    </a:cubicBezTo>
                  </a:path>
                </a:pathLst>
              </a:custGeom>
              <a:solidFill>
                <a:srgbClr val="81BD4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4" name="Freeform 11"/>
              <p:cNvSpPr>
                <a:spLocks/>
              </p:cNvSpPr>
              <p:nvPr/>
            </p:nvSpPr>
            <p:spPr bwMode="auto">
              <a:xfrm>
                <a:off x="3257550" y="5307013"/>
                <a:ext cx="2647950" cy="484188"/>
              </a:xfrm>
              <a:custGeom>
                <a:avLst/>
                <a:gdLst>
                  <a:gd name="T0" fmla="*/ 791 w 835"/>
                  <a:gd name="T1" fmla="*/ 76 h 153"/>
                  <a:gd name="T2" fmla="*/ 835 w 835"/>
                  <a:gd name="T3" fmla="*/ 15 h 153"/>
                  <a:gd name="T4" fmla="*/ 835 w 835"/>
                  <a:gd name="T5" fmla="*/ 0 h 153"/>
                  <a:gd name="T6" fmla="*/ 0 w 835"/>
                  <a:gd name="T7" fmla="*/ 0 h 153"/>
                  <a:gd name="T8" fmla="*/ 0 w 835"/>
                  <a:gd name="T9" fmla="*/ 15 h 153"/>
                  <a:gd name="T10" fmla="*/ 44 w 835"/>
                  <a:gd name="T11" fmla="*/ 76 h 153"/>
                  <a:gd name="T12" fmla="*/ 0 w 835"/>
                  <a:gd name="T13" fmla="*/ 138 h 153"/>
                  <a:gd name="T14" fmla="*/ 0 w 835"/>
                  <a:gd name="T15" fmla="*/ 153 h 153"/>
                  <a:gd name="T16" fmla="*/ 835 w 835"/>
                  <a:gd name="T17" fmla="*/ 153 h 153"/>
                  <a:gd name="T18" fmla="*/ 835 w 835"/>
                  <a:gd name="T19" fmla="*/ 138 h 153"/>
                  <a:gd name="T20" fmla="*/ 791 w 835"/>
                  <a:gd name="T21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5" h="153">
                    <a:moveTo>
                      <a:pt x="791" y="76"/>
                    </a:moveTo>
                    <a:cubicBezTo>
                      <a:pt x="791" y="48"/>
                      <a:pt x="810" y="24"/>
                      <a:pt x="835" y="15"/>
                    </a:cubicBezTo>
                    <a:cubicBezTo>
                      <a:pt x="835" y="0"/>
                      <a:pt x="835" y="0"/>
                      <a:pt x="83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5" y="24"/>
                      <a:pt x="44" y="48"/>
                      <a:pt x="44" y="76"/>
                    </a:cubicBezTo>
                    <a:cubicBezTo>
                      <a:pt x="44" y="105"/>
                      <a:pt x="25" y="129"/>
                      <a:pt x="0" y="138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835" y="153"/>
                      <a:pt x="835" y="153"/>
                      <a:pt x="835" y="153"/>
                    </a:cubicBezTo>
                    <a:cubicBezTo>
                      <a:pt x="835" y="138"/>
                      <a:pt x="835" y="138"/>
                      <a:pt x="835" y="138"/>
                    </a:cubicBezTo>
                    <a:cubicBezTo>
                      <a:pt x="810" y="129"/>
                      <a:pt x="791" y="105"/>
                      <a:pt x="791" y="76"/>
                    </a:cubicBezTo>
                  </a:path>
                </a:pathLst>
              </a:custGeom>
              <a:solidFill>
                <a:srgbClr val="109AD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5" name="Freeform 12"/>
              <p:cNvSpPr>
                <a:spLocks/>
              </p:cNvSpPr>
              <p:nvPr/>
            </p:nvSpPr>
            <p:spPr bwMode="auto">
              <a:xfrm>
                <a:off x="903288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4 w 86"/>
                  <a:gd name="T7" fmla="*/ 20 h 112"/>
                  <a:gd name="T8" fmla="*/ 24 w 86"/>
                  <a:gd name="T9" fmla="*/ 44 h 112"/>
                  <a:gd name="T10" fmla="*/ 78 w 86"/>
                  <a:gd name="T11" fmla="*/ 44 h 112"/>
                  <a:gd name="T12" fmla="*/ 78 w 86"/>
                  <a:gd name="T13" fmla="*/ 64 h 112"/>
                  <a:gd name="T14" fmla="*/ 24 w 86"/>
                  <a:gd name="T15" fmla="*/ 64 h 112"/>
                  <a:gd name="T16" fmla="*/ 24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6" name="Freeform 13"/>
              <p:cNvSpPr>
                <a:spLocks/>
              </p:cNvSpPr>
              <p:nvPr/>
            </p:nvSpPr>
            <p:spPr bwMode="auto">
              <a:xfrm>
                <a:off x="1068388" y="5462588"/>
                <a:ext cx="152400" cy="177800"/>
              </a:xfrm>
              <a:custGeom>
                <a:avLst/>
                <a:gdLst>
                  <a:gd name="T0" fmla="*/ 0 w 96"/>
                  <a:gd name="T1" fmla="*/ 0 h 112"/>
                  <a:gd name="T2" fmla="*/ 26 w 96"/>
                  <a:gd name="T3" fmla="*/ 0 h 112"/>
                  <a:gd name="T4" fmla="*/ 72 w 96"/>
                  <a:gd name="T5" fmla="*/ 76 h 112"/>
                  <a:gd name="T6" fmla="*/ 72 w 96"/>
                  <a:gd name="T7" fmla="*/ 76 h 112"/>
                  <a:gd name="T8" fmla="*/ 72 w 96"/>
                  <a:gd name="T9" fmla="*/ 0 h 112"/>
                  <a:gd name="T10" fmla="*/ 96 w 96"/>
                  <a:gd name="T11" fmla="*/ 0 h 112"/>
                  <a:gd name="T12" fmla="*/ 96 w 96"/>
                  <a:gd name="T13" fmla="*/ 112 h 112"/>
                  <a:gd name="T14" fmla="*/ 70 w 96"/>
                  <a:gd name="T15" fmla="*/ 112 h 112"/>
                  <a:gd name="T16" fmla="*/ 24 w 96"/>
                  <a:gd name="T17" fmla="*/ 36 h 112"/>
                  <a:gd name="T18" fmla="*/ 24 w 96"/>
                  <a:gd name="T19" fmla="*/ 36 h 112"/>
                  <a:gd name="T20" fmla="*/ 24 w 96"/>
                  <a:gd name="T21" fmla="*/ 112 h 112"/>
                  <a:gd name="T22" fmla="*/ 0 w 96"/>
                  <a:gd name="T23" fmla="*/ 112 h 112"/>
                  <a:gd name="T24" fmla="*/ 0 w 9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112">
                    <a:moveTo>
                      <a:pt x="0" y="0"/>
                    </a:moveTo>
                    <a:lnTo>
                      <a:pt x="26" y="0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6" y="0"/>
                    </a:lnTo>
                    <a:lnTo>
                      <a:pt x="96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7" name="Freeform 14"/>
              <p:cNvSpPr>
                <a:spLocks/>
              </p:cNvSpPr>
              <p:nvPr/>
            </p:nvSpPr>
            <p:spPr bwMode="auto">
              <a:xfrm>
                <a:off x="1252538" y="5459413"/>
                <a:ext cx="163513" cy="184150"/>
              </a:xfrm>
              <a:custGeom>
                <a:avLst/>
                <a:gdLst>
                  <a:gd name="T0" fmla="*/ 43 w 52"/>
                  <a:gd name="T1" fmla="*/ 51 h 58"/>
                  <a:gd name="T2" fmla="*/ 27 w 52"/>
                  <a:gd name="T3" fmla="*/ 58 h 58"/>
                  <a:gd name="T4" fmla="*/ 0 w 52"/>
                  <a:gd name="T5" fmla="*/ 29 h 58"/>
                  <a:gd name="T6" fmla="*/ 27 w 52"/>
                  <a:gd name="T7" fmla="*/ 0 h 58"/>
                  <a:gd name="T8" fmla="*/ 51 w 52"/>
                  <a:gd name="T9" fmla="*/ 19 h 58"/>
                  <a:gd name="T10" fmla="*/ 39 w 52"/>
                  <a:gd name="T11" fmla="*/ 19 h 58"/>
                  <a:gd name="T12" fmla="*/ 27 w 52"/>
                  <a:gd name="T13" fmla="*/ 10 h 58"/>
                  <a:gd name="T14" fmla="*/ 12 w 52"/>
                  <a:gd name="T15" fmla="*/ 29 h 58"/>
                  <a:gd name="T16" fmla="*/ 27 w 52"/>
                  <a:gd name="T17" fmla="*/ 48 h 58"/>
                  <a:gd name="T18" fmla="*/ 41 w 52"/>
                  <a:gd name="T19" fmla="*/ 36 h 58"/>
                  <a:gd name="T20" fmla="*/ 28 w 52"/>
                  <a:gd name="T21" fmla="*/ 36 h 58"/>
                  <a:gd name="T22" fmla="*/ 28 w 52"/>
                  <a:gd name="T23" fmla="*/ 27 h 58"/>
                  <a:gd name="T24" fmla="*/ 52 w 52"/>
                  <a:gd name="T25" fmla="*/ 27 h 58"/>
                  <a:gd name="T26" fmla="*/ 52 w 52"/>
                  <a:gd name="T27" fmla="*/ 57 h 58"/>
                  <a:gd name="T28" fmla="*/ 44 w 52"/>
                  <a:gd name="T29" fmla="*/ 57 h 58"/>
                  <a:gd name="T30" fmla="*/ 43 w 52"/>
                  <a:gd name="T31" fmla="*/ 5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58">
                    <a:moveTo>
                      <a:pt x="43" y="51"/>
                    </a:moveTo>
                    <a:cubicBezTo>
                      <a:pt x="38" y="56"/>
                      <a:pt x="33" y="58"/>
                      <a:pt x="27" y="58"/>
                    </a:cubicBezTo>
                    <a:cubicBezTo>
                      <a:pt x="10" y="58"/>
                      <a:pt x="0" y="45"/>
                      <a:pt x="0" y="29"/>
                    </a:cubicBezTo>
                    <a:cubicBezTo>
                      <a:pt x="0" y="13"/>
                      <a:pt x="10" y="0"/>
                      <a:pt x="27" y="0"/>
                    </a:cubicBezTo>
                    <a:cubicBezTo>
                      <a:pt x="39" y="0"/>
                      <a:pt x="50" y="7"/>
                      <a:pt x="51" y="19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8" y="13"/>
                      <a:pt x="33" y="10"/>
                      <a:pt x="27" y="10"/>
                    </a:cubicBezTo>
                    <a:cubicBezTo>
                      <a:pt x="16" y="10"/>
                      <a:pt x="12" y="19"/>
                      <a:pt x="12" y="29"/>
                    </a:cubicBezTo>
                    <a:cubicBezTo>
                      <a:pt x="12" y="39"/>
                      <a:pt x="16" y="48"/>
                      <a:pt x="27" y="48"/>
                    </a:cubicBezTo>
                    <a:cubicBezTo>
                      <a:pt x="35" y="48"/>
                      <a:pt x="40" y="44"/>
                      <a:pt x="41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57"/>
                      <a:pt x="52" y="57"/>
                      <a:pt x="52" y="57"/>
                    </a:cubicBezTo>
                    <a:cubicBezTo>
                      <a:pt x="44" y="57"/>
                      <a:pt x="44" y="57"/>
                      <a:pt x="44" y="57"/>
                    </a:cubicBezTo>
                    <a:lnTo>
                      <a:pt x="43" y="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8" name="Freeform 15"/>
              <p:cNvSpPr>
                <a:spLocks noEditPoints="1"/>
              </p:cNvSpPr>
              <p:nvPr/>
            </p:nvSpPr>
            <p:spPr bwMode="auto">
              <a:xfrm>
                <a:off x="1431925" y="5462588"/>
                <a:ext cx="174625" cy="177800"/>
              </a:xfrm>
              <a:custGeom>
                <a:avLst/>
                <a:gdLst>
                  <a:gd name="T0" fmla="*/ 44 w 110"/>
                  <a:gd name="T1" fmla="*/ 0 h 112"/>
                  <a:gd name="T2" fmla="*/ 68 w 110"/>
                  <a:gd name="T3" fmla="*/ 0 h 112"/>
                  <a:gd name="T4" fmla="*/ 110 w 110"/>
                  <a:gd name="T5" fmla="*/ 112 h 112"/>
                  <a:gd name="T6" fmla="*/ 86 w 110"/>
                  <a:gd name="T7" fmla="*/ 112 h 112"/>
                  <a:gd name="T8" fmla="*/ 76 w 110"/>
                  <a:gd name="T9" fmla="*/ 86 h 112"/>
                  <a:gd name="T10" fmla="*/ 34 w 110"/>
                  <a:gd name="T11" fmla="*/ 86 h 112"/>
                  <a:gd name="T12" fmla="*/ 26 w 110"/>
                  <a:gd name="T13" fmla="*/ 112 h 112"/>
                  <a:gd name="T14" fmla="*/ 0 w 110"/>
                  <a:gd name="T15" fmla="*/ 112 h 112"/>
                  <a:gd name="T16" fmla="*/ 44 w 110"/>
                  <a:gd name="T17" fmla="*/ 0 h 112"/>
                  <a:gd name="T18" fmla="*/ 42 w 110"/>
                  <a:gd name="T19" fmla="*/ 68 h 112"/>
                  <a:gd name="T20" fmla="*/ 70 w 110"/>
                  <a:gd name="T21" fmla="*/ 68 h 112"/>
                  <a:gd name="T22" fmla="*/ 56 w 110"/>
                  <a:gd name="T23" fmla="*/ 28 h 112"/>
                  <a:gd name="T24" fmla="*/ 56 w 110"/>
                  <a:gd name="T25" fmla="*/ 28 h 112"/>
                  <a:gd name="T26" fmla="*/ 42 w 110"/>
                  <a:gd name="T27" fmla="*/ 6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112">
                    <a:moveTo>
                      <a:pt x="44" y="0"/>
                    </a:moveTo>
                    <a:lnTo>
                      <a:pt x="68" y="0"/>
                    </a:lnTo>
                    <a:lnTo>
                      <a:pt x="110" y="112"/>
                    </a:lnTo>
                    <a:lnTo>
                      <a:pt x="86" y="112"/>
                    </a:lnTo>
                    <a:lnTo>
                      <a:pt x="76" y="86"/>
                    </a:lnTo>
                    <a:lnTo>
                      <a:pt x="34" y="86"/>
                    </a:lnTo>
                    <a:lnTo>
                      <a:pt x="26" y="112"/>
                    </a:lnTo>
                    <a:lnTo>
                      <a:pt x="0" y="112"/>
                    </a:lnTo>
                    <a:lnTo>
                      <a:pt x="44" y="0"/>
                    </a:lnTo>
                    <a:close/>
                    <a:moveTo>
                      <a:pt x="42" y="68"/>
                    </a:moveTo>
                    <a:lnTo>
                      <a:pt x="70" y="68"/>
                    </a:lnTo>
                    <a:lnTo>
                      <a:pt x="56" y="28"/>
                    </a:lnTo>
                    <a:lnTo>
                      <a:pt x="56" y="28"/>
                    </a:lnTo>
                    <a:lnTo>
                      <a:pt x="42" y="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Freeform 16"/>
              <p:cNvSpPr>
                <a:spLocks/>
              </p:cNvSpPr>
              <p:nvPr/>
            </p:nvSpPr>
            <p:spPr bwMode="auto">
              <a:xfrm>
                <a:off x="1619250" y="5459413"/>
                <a:ext cx="168275" cy="184150"/>
              </a:xfrm>
              <a:custGeom>
                <a:avLst/>
                <a:gdLst>
                  <a:gd name="T0" fmla="*/ 43 w 53"/>
                  <a:gd name="T1" fmla="*/ 51 h 58"/>
                  <a:gd name="T2" fmla="*/ 28 w 53"/>
                  <a:gd name="T3" fmla="*/ 58 h 58"/>
                  <a:gd name="T4" fmla="*/ 0 w 53"/>
                  <a:gd name="T5" fmla="*/ 29 h 58"/>
                  <a:gd name="T6" fmla="*/ 28 w 53"/>
                  <a:gd name="T7" fmla="*/ 0 h 58"/>
                  <a:gd name="T8" fmla="*/ 52 w 53"/>
                  <a:gd name="T9" fmla="*/ 19 h 58"/>
                  <a:gd name="T10" fmla="*/ 40 w 53"/>
                  <a:gd name="T11" fmla="*/ 19 h 58"/>
                  <a:gd name="T12" fmla="*/ 28 w 53"/>
                  <a:gd name="T13" fmla="*/ 10 h 58"/>
                  <a:gd name="T14" fmla="*/ 13 w 53"/>
                  <a:gd name="T15" fmla="*/ 29 h 58"/>
                  <a:gd name="T16" fmla="*/ 28 w 53"/>
                  <a:gd name="T17" fmla="*/ 48 h 58"/>
                  <a:gd name="T18" fmla="*/ 41 w 53"/>
                  <a:gd name="T19" fmla="*/ 36 h 58"/>
                  <a:gd name="T20" fmla="*/ 29 w 53"/>
                  <a:gd name="T21" fmla="*/ 36 h 58"/>
                  <a:gd name="T22" fmla="*/ 29 w 53"/>
                  <a:gd name="T23" fmla="*/ 27 h 58"/>
                  <a:gd name="T24" fmla="*/ 53 w 53"/>
                  <a:gd name="T25" fmla="*/ 27 h 58"/>
                  <a:gd name="T26" fmla="*/ 53 w 53"/>
                  <a:gd name="T27" fmla="*/ 57 h 58"/>
                  <a:gd name="T28" fmla="*/ 45 w 53"/>
                  <a:gd name="T29" fmla="*/ 57 h 58"/>
                  <a:gd name="T30" fmla="*/ 43 w 53"/>
                  <a:gd name="T31" fmla="*/ 5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3" h="58">
                    <a:moveTo>
                      <a:pt x="43" y="51"/>
                    </a:moveTo>
                    <a:cubicBezTo>
                      <a:pt x="39" y="56"/>
                      <a:pt x="33" y="58"/>
                      <a:pt x="28" y="58"/>
                    </a:cubicBezTo>
                    <a:cubicBezTo>
                      <a:pt x="11" y="58"/>
                      <a:pt x="0" y="45"/>
                      <a:pt x="0" y="29"/>
                    </a:cubicBezTo>
                    <a:cubicBezTo>
                      <a:pt x="0" y="13"/>
                      <a:pt x="11" y="0"/>
                      <a:pt x="28" y="0"/>
                    </a:cubicBezTo>
                    <a:cubicBezTo>
                      <a:pt x="39" y="0"/>
                      <a:pt x="50" y="7"/>
                      <a:pt x="52" y="19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38" y="13"/>
                      <a:pt x="34" y="10"/>
                      <a:pt x="28" y="10"/>
                    </a:cubicBezTo>
                    <a:cubicBezTo>
                      <a:pt x="17" y="10"/>
                      <a:pt x="13" y="19"/>
                      <a:pt x="13" y="29"/>
                    </a:cubicBezTo>
                    <a:cubicBezTo>
                      <a:pt x="13" y="39"/>
                      <a:pt x="17" y="48"/>
                      <a:pt x="28" y="48"/>
                    </a:cubicBezTo>
                    <a:cubicBezTo>
                      <a:pt x="36" y="48"/>
                      <a:pt x="41" y="44"/>
                      <a:pt x="41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57"/>
                      <a:pt x="53" y="57"/>
                      <a:pt x="53" y="57"/>
                    </a:cubicBezTo>
                    <a:cubicBezTo>
                      <a:pt x="45" y="57"/>
                      <a:pt x="45" y="57"/>
                      <a:pt x="45" y="57"/>
                    </a:cubicBezTo>
                    <a:lnTo>
                      <a:pt x="43" y="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0" name="Freeform 17"/>
              <p:cNvSpPr>
                <a:spLocks/>
              </p:cNvSpPr>
              <p:nvPr/>
            </p:nvSpPr>
            <p:spPr bwMode="auto">
              <a:xfrm>
                <a:off x="1822450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4 w 86"/>
                  <a:gd name="T7" fmla="*/ 20 h 112"/>
                  <a:gd name="T8" fmla="*/ 24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4 w 86"/>
                  <a:gd name="T15" fmla="*/ 64 h 112"/>
                  <a:gd name="T16" fmla="*/ 24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1" name="Freeform 18"/>
              <p:cNvSpPr>
                <a:spLocks/>
              </p:cNvSpPr>
              <p:nvPr/>
            </p:nvSpPr>
            <p:spPr bwMode="auto">
              <a:xfrm>
                <a:off x="1990725" y="5462588"/>
                <a:ext cx="190500" cy="177800"/>
              </a:xfrm>
              <a:custGeom>
                <a:avLst/>
                <a:gdLst>
                  <a:gd name="T0" fmla="*/ 0 w 120"/>
                  <a:gd name="T1" fmla="*/ 0 h 112"/>
                  <a:gd name="T2" fmla="*/ 34 w 120"/>
                  <a:gd name="T3" fmla="*/ 0 h 112"/>
                  <a:gd name="T4" fmla="*/ 60 w 120"/>
                  <a:gd name="T5" fmla="*/ 76 h 112"/>
                  <a:gd name="T6" fmla="*/ 60 w 120"/>
                  <a:gd name="T7" fmla="*/ 76 h 112"/>
                  <a:gd name="T8" fmla="*/ 86 w 120"/>
                  <a:gd name="T9" fmla="*/ 0 h 112"/>
                  <a:gd name="T10" fmla="*/ 120 w 120"/>
                  <a:gd name="T11" fmla="*/ 0 h 112"/>
                  <a:gd name="T12" fmla="*/ 120 w 120"/>
                  <a:gd name="T13" fmla="*/ 112 h 112"/>
                  <a:gd name="T14" fmla="*/ 96 w 120"/>
                  <a:gd name="T15" fmla="*/ 112 h 112"/>
                  <a:gd name="T16" fmla="*/ 96 w 120"/>
                  <a:gd name="T17" fmla="*/ 32 h 112"/>
                  <a:gd name="T18" fmla="*/ 96 w 120"/>
                  <a:gd name="T19" fmla="*/ 32 h 112"/>
                  <a:gd name="T20" fmla="*/ 68 w 120"/>
                  <a:gd name="T21" fmla="*/ 112 h 112"/>
                  <a:gd name="T22" fmla="*/ 50 w 120"/>
                  <a:gd name="T23" fmla="*/ 112 h 112"/>
                  <a:gd name="T24" fmla="*/ 22 w 120"/>
                  <a:gd name="T25" fmla="*/ 34 h 112"/>
                  <a:gd name="T26" fmla="*/ 22 w 120"/>
                  <a:gd name="T27" fmla="*/ 34 h 112"/>
                  <a:gd name="T28" fmla="*/ 22 w 120"/>
                  <a:gd name="T29" fmla="*/ 112 h 112"/>
                  <a:gd name="T30" fmla="*/ 0 w 120"/>
                  <a:gd name="T31" fmla="*/ 112 h 112"/>
                  <a:gd name="T32" fmla="*/ 0 w 120"/>
                  <a:gd name="T3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0" h="112">
                    <a:moveTo>
                      <a:pt x="0" y="0"/>
                    </a:moveTo>
                    <a:lnTo>
                      <a:pt x="34" y="0"/>
                    </a:lnTo>
                    <a:lnTo>
                      <a:pt x="60" y="76"/>
                    </a:lnTo>
                    <a:lnTo>
                      <a:pt x="60" y="76"/>
                    </a:lnTo>
                    <a:lnTo>
                      <a:pt x="86" y="0"/>
                    </a:lnTo>
                    <a:lnTo>
                      <a:pt x="120" y="0"/>
                    </a:lnTo>
                    <a:lnTo>
                      <a:pt x="120" y="112"/>
                    </a:lnTo>
                    <a:lnTo>
                      <a:pt x="96" y="112"/>
                    </a:lnTo>
                    <a:lnTo>
                      <a:pt x="96" y="32"/>
                    </a:lnTo>
                    <a:lnTo>
                      <a:pt x="96" y="32"/>
                    </a:lnTo>
                    <a:lnTo>
                      <a:pt x="68" y="112"/>
                    </a:lnTo>
                    <a:lnTo>
                      <a:pt x="50" y="112"/>
                    </a:lnTo>
                    <a:lnTo>
                      <a:pt x="22" y="34"/>
                    </a:lnTo>
                    <a:lnTo>
                      <a:pt x="22" y="34"/>
                    </a:lnTo>
                    <a:lnTo>
                      <a:pt x="22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2" name="Freeform 19"/>
              <p:cNvSpPr>
                <a:spLocks/>
              </p:cNvSpPr>
              <p:nvPr/>
            </p:nvSpPr>
            <p:spPr bwMode="auto">
              <a:xfrm>
                <a:off x="2219325" y="5462588"/>
                <a:ext cx="134938" cy="177800"/>
              </a:xfrm>
              <a:custGeom>
                <a:avLst/>
                <a:gdLst>
                  <a:gd name="T0" fmla="*/ 0 w 85"/>
                  <a:gd name="T1" fmla="*/ 0 h 112"/>
                  <a:gd name="T2" fmla="*/ 83 w 85"/>
                  <a:gd name="T3" fmla="*/ 0 h 112"/>
                  <a:gd name="T4" fmla="*/ 83 w 85"/>
                  <a:gd name="T5" fmla="*/ 20 h 112"/>
                  <a:gd name="T6" fmla="*/ 25 w 85"/>
                  <a:gd name="T7" fmla="*/ 20 h 112"/>
                  <a:gd name="T8" fmla="*/ 25 w 85"/>
                  <a:gd name="T9" fmla="*/ 44 h 112"/>
                  <a:gd name="T10" fmla="*/ 79 w 85"/>
                  <a:gd name="T11" fmla="*/ 44 h 112"/>
                  <a:gd name="T12" fmla="*/ 79 w 85"/>
                  <a:gd name="T13" fmla="*/ 64 h 112"/>
                  <a:gd name="T14" fmla="*/ 25 w 85"/>
                  <a:gd name="T15" fmla="*/ 64 h 112"/>
                  <a:gd name="T16" fmla="*/ 25 w 85"/>
                  <a:gd name="T17" fmla="*/ 92 h 112"/>
                  <a:gd name="T18" fmla="*/ 85 w 85"/>
                  <a:gd name="T19" fmla="*/ 92 h 112"/>
                  <a:gd name="T20" fmla="*/ 85 w 85"/>
                  <a:gd name="T21" fmla="*/ 112 h 112"/>
                  <a:gd name="T22" fmla="*/ 0 w 85"/>
                  <a:gd name="T23" fmla="*/ 112 h 112"/>
                  <a:gd name="T24" fmla="*/ 0 w 85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112">
                    <a:moveTo>
                      <a:pt x="0" y="0"/>
                    </a:moveTo>
                    <a:lnTo>
                      <a:pt x="83" y="0"/>
                    </a:lnTo>
                    <a:lnTo>
                      <a:pt x="83" y="20"/>
                    </a:lnTo>
                    <a:lnTo>
                      <a:pt x="25" y="20"/>
                    </a:lnTo>
                    <a:lnTo>
                      <a:pt x="25" y="44"/>
                    </a:lnTo>
                    <a:lnTo>
                      <a:pt x="79" y="44"/>
                    </a:lnTo>
                    <a:lnTo>
                      <a:pt x="79" y="64"/>
                    </a:lnTo>
                    <a:lnTo>
                      <a:pt x="25" y="64"/>
                    </a:lnTo>
                    <a:lnTo>
                      <a:pt x="25" y="92"/>
                    </a:lnTo>
                    <a:lnTo>
                      <a:pt x="85" y="92"/>
                    </a:lnTo>
                    <a:lnTo>
                      <a:pt x="85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 20"/>
              <p:cNvSpPr>
                <a:spLocks/>
              </p:cNvSpPr>
              <p:nvPr/>
            </p:nvSpPr>
            <p:spPr bwMode="auto">
              <a:xfrm>
                <a:off x="2386013" y="5462588"/>
                <a:ext cx="149225" cy="177800"/>
              </a:xfrm>
              <a:custGeom>
                <a:avLst/>
                <a:gdLst>
                  <a:gd name="T0" fmla="*/ 0 w 94"/>
                  <a:gd name="T1" fmla="*/ 0 h 112"/>
                  <a:gd name="T2" fmla="*/ 24 w 94"/>
                  <a:gd name="T3" fmla="*/ 0 h 112"/>
                  <a:gd name="T4" fmla="*/ 70 w 94"/>
                  <a:gd name="T5" fmla="*/ 76 h 112"/>
                  <a:gd name="T6" fmla="*/ 72 w 94"/>
                  <a:gd name="T7" fmla="*/ 76 h 112"/>
                  <a:gd name="T8" fmla="*/ 72 w 94"/>
                  <a:gd name="T9" fmla="*/ 0 h 112"/>
                  <a:gd name="T10" fmla="*/ 94 w 94"/>
                  <a:gd name="T11" fmla="*/ 0 h 112"/>
                  <a:gd name="T12" fmla="*/ 94 w 94"/>
                  <a:gd name="T13" fmla="*/ 112 h 112"/>
                  <a:gd name="T14" fmla="*/ 70 w 94"/>
                  <a:gd name="T15" fmla="*/ 112 h 112"/>
                  <a:gd name="T16" fmla="*/ 24 w 94"/>
                  <a:gd name="T17" fmla="*/ 36 h 112"/>
                  <a:gd name="T18" fmla="*/ 22 w 94"/>
                  <a:gd name="T19" fmla="*/ 36 h 112"/>
                  <a:gd name="T20" fmla="*/ 22 w 94"/>
                  <a:gd name="T21" fmla="*/ 112 h 112"/>
                  <a:gd name="T22" fmla="*/ 0 w 94"/>
                  <a:gd name="T23" fmla="*/ 112 h 112"/>
                  <a:gd name="T24" fmla="*/ 0 w 94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4" h="112">
                    <a:moveTo>
                      <a:pt x="0" y="0"/>
                    </a:moveTo>
                    <a:lnTo>
                      <a:pt x="24" y="0"/>
                    </a:lnTo>
                    <a:lnTo>
                      <a:pt x="70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4" y="0"/>
                    </a:lnTo>
                    <a:lnTo>
                      <a:pt x="94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2" y="36"/>
                    </a:lnTo>
                    <a:lnTo>
                      <a:pt x="22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 21"/>
              <p:cNvSpPr>
                <a:spLocks/>
              </p:cNvSpPr>
              <p:nvPr/>
            </p:nvSpPr>
            <p:spPr bwMode="auto">
              <a:xfrm>
                <a:off x="2560638" y="5462588"/>
                <a:ext cx="146050" cy="177800"/>
              </a:xfrm>
              <a:custGeom>
                <a:avLst/>
                <a:gdLst>
                  <a:gd name="T0" fmla="*/ 34 w 92"/>
                  <a:gd name="T1" fmla="*/ 20 h 112"/>
                  <a:gd name="T2" fmla="*/ 0 w 92"/>
                  <a:gd name="T3" fmla="*/ 20 h 112"/>
                  <a:gd name="T4" fmla="*/ 0 w 92"/>
                  <a:gd name="T5" fmla="*/ 0 h 112"/>
                  <a:gd name="T6" fmla="*/ 92 w 92"/>
                  <a:gd name="T7" fmla="*/ 0 h 112"/>
                  <a:gd name="T8" fmla="*/ 92 w 92"/>
                  <a:gd name="T9" fmla="*/ 20 h 112"/>
                  <a:gd name="T10" fmla="*/ 58 w 92"/>
                  <a:gd name="T11" fmla="*/ 20 h 112"/>
                  <a:gd name="T12" fmla="*/ 58 w 92"/>
                  <a:gd name="T13" fmla="*/ 112 h 112"/>
                  <a:gd name="T14" fmla="*/ 34 w 92"/>
                  <a:gd name="T15" fmla="*/ 112 h 112"/>
                  <a:gd name="T16" fmla="*/ 34 w 92"/>
                  <a:gd name="T17" fmla="*/ 2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112">
                    <a:moveTo>
                      <a:pt x="34" y="20"/>
                    </a:moveTo>
                    <a:lnTo>
                      <a:pt x="0" y="20"/>
                    </a:lnTo>
                    <a:lnTo>
                      <a:pt x="0" y="0"/>
                    </a:lnTo>
                    <a:lnTo>
                      <a:pt x="92" y="0"/>
                    </a:lnTo>
                    <a:lnTo>
                      <a:pt x="92" y="20"/>
                    </a:lnTo>
                    <a:lnTo>
                      <a:pt x="58" y="20"/>
                    </a:lnTo>
                    <a:lnTo>
                      <a:pt x="58" y="112"/>
                    </a:lnTo>
                    <a:lnTo>
                      <a:pt x="34" y="112"/>
                    </a:lnTo>
                    <a:lnTo>
                      <a:pt x="34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 22"/>
              <p:cNvSpPr>
                <a:spLocks/>
              </p:cNvSpPr>
              <p:nvPr/>
            </p:nvSpPr>
            <p:spPr bwMode="auto">
              <a:xfrm>
                <a:off x="3756025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6 w 86"/>
                  <a:gd name="T7" fmla="*/ 20 h 112"/>
                  <a:gd name="T8" fmla="*/ 26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6 w 86"/>
                  <a:gd name="T15" fmla="*/ 64 h 112"/>
                  <a:gd name="T16" fmla="*/ 26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6" y="20"/>
                    </a:lnTo>
                    <a:lnTo>
                      <a:pt x="26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6" y="64"/>
                    </a:lnTo>
                    <a:lnTo>
                      <a:pt x="26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 23"/>
              <p:cNvSpPr>
                <a:spLocks/>
              </p:cNvSpPr>
              <p:nvPr/>
            </p:nvSpPr>
            <p:spPr bwMode="auto">
              <a:xfrm>
                <a:off x="3905250" y="5462588"/>
                <a:ext cx="168275" cy="177800"/>
              </a:xfrm>
              <a:custGeom>
                <a:avLst/>
                <a:gdLst>
                  <a:gd name="T0" fmla="*/ 40 w 106"/>
                  <a:gd name="T1" fmla="*/ 54 h 112"/>
                  <a:gd name="T2" fmla="*/ 2 w 106"/>
                  <a:gd name="T3" fmla="*/ 0 h 112"/>
                  <a:gd name="T4" fmla="*/ 32 w 106"/>
                  <a:gd name="T5" fmla="*/ 0 h 112"/>
                  <a:gd name="T6" fmla="*/ 54 w 106"/>
                  <a:gd name="T7" fmla="*/ 36 h 112"/>
                  <a:gd name="T8" fmla="*/ 76 w 106"/>
                  <a:gd name="T9" fmla="*/ 0 h 112"/>
                  <a:gd name="T10" fmla="*/ 104 w 106"/>
                  <a:gd name="T11" fmla="*/ 0 h 112"/>
                  <a:gd name="T12" fmla="*/ 68 w 106"/>
                  <a:gd name="T13" fmla="*/ 54 h 112"/>
                  <a:gd name="T14" fmla="*/ 106 w 106"/>
                  <a:gd name="T15" fmla="*/ 112 h 112"/>
                  <a:gd name="T16" fmla="*/ 78 w 106"/>
                  <a:gd name="T17" fmla="*/ 112 h 112"/>
                  <a:gd name="T18" fmla="*/ 52 w 106"/>
                  <a:gd name="T19" fmla="*/ 74 h 112"/>
                  <a:gd name="T20" fmla="*/ 28 w 106"/>
                  <a:gd name="T21" fmla="*/ 112 h 112"/>
                  <a:gd name="T22" fmla="*/ 0 w 106"/>
                  <a:gd name="T23" fmla="*/ 112 h 112"/>
                  <a:gd name="T24" fmla="*/ 40 w 106"/>
                  <a:gd name="T25" fmla="*/ 5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6" h="112">
                    <a:moveTo>
                      <a:pt x="40" y="54"/>
                    </a:moveTo>
                    <a:lnTo>
                      <a:pt x="2" y="0"/>
                    </a:lnTo>
                    <a:lnTo>
                      <a:pt x="32" y="0"/>
                    </a:lnTo>
                    <a:lnTo>
                      <a:pt x="54" y="36"/>
                    </a:lnTo>
                    <a:lnTo>
                      <a:pt x="76" y="0"/>
                    </a:lnTo>
                    <a:lnTo>
                      <a:pt x="104" y="0"/>
                    </a:lnTo>
                    <a:lnTo>
                      <a:pt x="68" y="54"/>
                    </a:lnTo>
                    <a:lnTo>
                      <a:pt x="106" y="112"/>
                    </a:lnTo>
                    <a:lnTo>
                      <a:pt x="78" y="112"/>
                    </a:lnTo>
                    <a:lnTo>
                      <a:pt x="52" y="74"/>
                    </a:lnTo>
                    <a:lnTo>
                      <a:pt x="28" y="112"/>
                    </a:lnTo>
                    <a:lnTo>
                      <a:pt x="0" y="112"/>
                    </a:lnTo>
                    <a:lnTo>
                      <a:pt x="40" y="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Freeform 24"/>
              <p:cNvSpPr>
                <a:spLocks/>
              </p:cNvSpPr>
              <p:nvPr/>
            </p:nvSpPr>
            <p:spPr bwMode="auto">
              <a:xfrm>
                <a:off x="4086225" y="5459413"/>
                <a:ext cx="166688" cy="184150"/>
              </a:xfrm>
              <a:custGeom>
                <a:avLst/>
                <a:gdLst>
                  <a:gd name="T0" fmla="*/ 40 w 53"/>
                  <a:gd name="T1" fmla="*/ 20 h 58"/>
                  <a:gd name="T2" fmla="*/ 28 w 53"/>
                  <a:gd name="T3" fmla="*/ 10 h 58"/>
                  <a:gd name="T4" fmla="*/ 13 w 53"/>
                  <a:gd name="T5" fmla="*/ 29 h 58"/>
                  <a:gd name="T6" fmla="*/ 28 w 53"/>
                  <a:gd name="T7" fmla="*/ 48 h 58"/>
                  <a:gd name="T8" fmla="*/ 41 w 53"/>
                  <a:gd name="T9" fmla="*/ 35 h 58"/>
                  <a:gd name="T10" fmla="*/ 53 w 53"/>
                  <a:gd name="T11" fmla="*/ 35 h 58"/>
                  <a:gd name="T12" fmla="*/ 28 w 53"/>
                  <a:gd name="T13" fmla="*/ 58 h 58"/>
                  <a:gd name="T14" fmla="*/ 0 w 53"/>
                  <a:gd name="T15" fmla="*/ 29 h 58"/>
                  <a:gd name="T16" fmla="*/ 28 w 53"/>
                  <a:gd name="T17" fmla="*/ 0 h 58"/>
                  <a:gd name="T18" fmla="*/ 52 w 53"/>
                  <a:gd name="T19" fmla="*/ 20 h 58"/>
                  <a:gd name="T20" fmla="*/ 40 w 53"/>
                  <a:gd name="T21" fmla="*/ 2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" h="58">
                    <a:moveTo>
                      <a:pt x="40" y="20"/>
                    </a:moveTo>
                    <a:cubicBezTo>
                      <a:pt x="39" y="14"/>
                      <a:pt x="34" y="10"/>
                      <a:pt x="28" y="10"/>
                    </a:cubicBezTo>
                    <a:cubicBezTo>
                      <a:pt x="17" y="10"/>
                      <a:pt x="13" y="19"/>
                      <a:pt x="13" y="29"/>
                    </a:cubicBezTo>
                    <a:cubicBezTo>
                      <a:pt x="13" y="39"/>
                      <a:pt x="17" y="48"/>
                      <a:pt x="28" y="48"/>
                    </a:cubicBezTo>
                    <a:cubicBezTo>
                      <a:pt x="35" y="48"/>
                      <a:pt x="40" y="43"/>
                      <a:pt x="41" y="35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1" y="49"/>
                      <a:pt x="42" y="58"/>
                      <a:pt x="28" y="58"/>
                    </a:cubicBezTo>
                    <a:cubicBezTo>
                      <a:pt x="11" y="58"/>
                      <a:pt x="0" y="45"/>
                      <a:pt x="0" y="29"/>
                    </a:cubicBezTo>
                    <a:cubicBezTo>
                      <a:pt x="0" y="13"/>
                      <a:pt x="11" y="0"/>
                      <a:pt x="28" y="0"/>
                    </a:cubicBezTo>
                    <a:cubicBezTo>
                      <a:pt x="40" y="0"/>
                      <a:pt x="51" y="7"/>
                      <a:pt x="52" y="20"/>
                    </a:cubicBezTo>
                    <a:lnTo>
                      <a:pt x="40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 25"/>
              <p:cNvSpPr>
                <a:spLocks/>
              </p:cNvSpPr>
              <p:nvPr/>
            </p:nvSpPr>
            <p:spPr bwMode="auto">
              <a:xfrm>
                <a:off x="4284663" y="5462588"/>
                <a:ext cx="133350" cy="177800"/>
              </a:xfrm>
              <a:custGeom>
                <a:avLst/>
                <a:gdLst>
                  <a:gd name="T0" fmla="*/ 0 w 84"/>
                  <a:gd name="T1" fmla="*/ 0 h 112"/>
                  <a:gd name="T2" fmla="*/ 84 w 84"/>
                  <a:gd name="T3" fmla="*/ 0 h 112"/>
                  <a:gd name="T4" fmla="*/ 84 w 84"/>
                  <a:gd name="T5" fmla="*/ 20 h 112"/>
                  <a:gd name="T6" fmla="*/ 24 w 84"/>
                  <a:gd name="T7" fmla="*/ 20 h 112"/>
                  <a:gd name="T8" fmla="*/ 24 w 84"/>
                  <a:gd name="T9" fmla="*/ 44 h 112"/>
                  <a:gd name="T10" fmla="*/ 78 w 84"/>
                  <a:gd name="T11" fmla="*/ 44 h 112"/>
                  <a:gd name="T12" fmla="*/ 78 w 84"/>
                  <a:gd name="T13" fmla="*/ 64 h 112"/>
                  <a:gd name="T14" fmla="*/ 24 w 84"/>
                  <a:gd name="T15" fmla="*/ 64 h 112"/>
                  <a:gd name="T16" fmla="*/ 24 w 84"/>
                  <a:gd name="T17" fmla="*/ 92 h 112"/>
                  <a:gd name="T18" fmla="*/ 84 w 84"/>
                  <a:gd name="T19" fmla="*/ 92 h 112"/>
                  <a:gd name="T20" fmla="*/ 84 w 84"/>
                  <a:gd name="T21" fmla="*/ 112 h 112"/>
                  <a:gd name="T22" fmla="*/ 0 w 84"/>
                  <a:gd name="T23" fmla="*/ 112 h 112"/>
                  <a:gd name="T24" fmla="*/ 0 w 84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4" y="92"/>
                    </a:lnTo>
                    <a:lnTo>
                      <a:pt x="8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 26"/>
              <p:cNvSpPr>
                <a:spLocks/>
              </p:cNvSpPr>
              <p:nvPr/>
            </p:nvSpPr>
            <p:spPr bwMode="auto">
              <a:xfrm>
                <a:off x="4449763" y="5462588"/>
                <a:ext cx="127000" cy="177800"/>
              </a:xfrm>
              <a:custGeom>
                <a:avLst/>
                <a:gdLst>
                  <a:gd name="T0" fmla="*/ 0 w 80"/>
                  <a:gd name="T1" fmla="*/ 0 h 112"/>
                  <a:gd name="T2" fmla="*/ 24 w 80"/>
                  <a:gd name="T3" fmla="*/ 0 h 112"/>
                  <a:gd name="T4" fmla="*/ 24 w 80"/>
                  <a:gd name="T5" fmla="*/ 92 h 112"/>
                  <a:gd name="T6" fmla="*/ 80 w 80"/>
                  <a:gd name="T7" fmla="*/ 92 h 112"/>
                  <a:gd name="T8" fmla="*/ 80 w 80"/>
                  <a:gd name="T9" fmla="*/ 112 h 112"/>
                  <a:gd name="T10" fmla="*/ 0 w 80"/>
                  <a:gd name="T11" fmla="*/ 112 h 112"/>
                  <a:gd name="T12" fmla="*/ 0 w 80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12">
                    <a:moveTo>
                      <a:pt x="0" y="0"/>
                    </a:moveTo>
                    <a:lnTo>
                      <a:pt x="24" y="0"/>
                    </a:lnTo>
                    <a:lnTo>
                      <a:pt x="24" y="92"/>
                    </a:lnTo>
                    <a:lnTo>
                      <a:pt x="80" y="92"/>
                    </a:lnTo>
                    <a:lnTo>
                      <a:pt x="80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 27"/>
              <p:cNvSpPr>
                <a:spLocks/>
              </p:cNvSpPr>
              <p:nvPr/>
            </p:nvSpPr>
            <p:spPr bwMode="auto">
              <a:xfrm>
                <a:off x="4602163" y="5462588"/>
                <a:ext cx="127000" cy="177800"/>
              </a:xfrm>
              <a:custGeom>
                <a:avLst/>
                <a:gdLst>
                  <a:gd name="T0" fmla="*/ 0 w 80"/>
                  <a:gd name="T1" fmla="*/ 0 h 112"/>
                  <a:gd name="T2" fmla="*/ 26 w 80"/>
                  <a:gd name="T3" fmla="*/ 0 h 112"/>
                  <a:gd name="T4" fmla="*/ 26 w 80"/>
                  <a:gd name="T5" fmla="*/ 92 h 112"/>
                  <a:gd name="T6" fmla="*/ 80 w 80"/>
                  <a:gd name="T7" fmla="*/ 92 h 112"/>
                  <a:gd name="T8" fmla="*/ 80 w 80"/>
                  <a:gd name="T9" fmla="*/ 112 h 112"/>
                  <a:gd name="T10" fmla="*/ 0 w 80"/>
                  <a:gd name="T11" fmla="*/ 112 h 112"/>
                  <a:gd name="T12" fmla="*/ 0 w 80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12">
                    <a:moveTo>
                      <a:pt x="0" y="0"/>
                    </a:moveTo>
                    <a:lnTo>
                      <a:pt x="26" y="0"/>
                    </a:lnTo>
                    <a:lnTo>
                      <a:pt x="26" y="92"/>
                    </a:lnTo>
                    <a:lnTo>
                      <a:pt x="80" y="92"/>
                    </a:lnTo>
                    <a:lnTo>
                      <a:pt x="80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 28"/>
              <p:cNvSpPr>
                <a:spLocks/>
              </p:cNvSpPr>
              <p:nvPr/>
            </p:nvSpPr>
            <p:spPr bwMode="auto">
              <a:xfrm>
                <a:off x="4754563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6 w 86"/>
                  <a:gd name="T7" fmla="*/ 20 h 112"/>
                  <a:gd name="T8" fmla="*/ 26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6 w 86"/>
                  <a:gd name="T15" fmla="*/ 64 h 112"/>
                  <a:gd name="T16" fmla="*/ 26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6" y="20"/>
                    </a:lnTo>
                    <a:lnTo>
                      <a:pt x="26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6" y="64"/>
                    </a:lnTo>
                    <a:lnTo>
                      <a:pt x="26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Freeform 29"/>
              <p:cNvSpPr>
                <a:spLocks/>
              </p:cNvSpPr>
              <p:nvPr/>
            </p:nvSpPr>
            <p:spPr bwMode="auto">
              <a:xfrm>
                <a:off x="4922838" y="5462588"/>
                <a:ext cx="147638" cy="177800"/>
              </a:xfrm>
              <a:custGeom>
                <a:avLst/>
                <a:gdLst>
                  <a:gd name="T0" fmla="*/ 0 w 93"/>
                  <a:gd name="T1" fmla="*/ 0 h 112"/>
                  <a:gd name="T2" fmla="*/ 24 w 93"/>
                  <a:gd name="T3" fmla="*/ 0 h 112"/>
                  <a:gd name="T4" fmla="*/ 71 w 93"/>
                  <a:gd name="T5" fmla="*/ 76 h 112"/>
                  <a:gd name="T6" fmla="*/ 71 w 93"/>
                  <a:gd name="T7" fmla="*/ 76 h 112"/>
                  <a:gd name="T8" fmla="*/ 71 w 93"/>
                  <a:gd name="T9" fmla="*/ 0 h 112"/>
                  <a:gd name="T10" fmla="*/ 93 w 93"/>
                  <a:gd name="T11" fmla="*/ 0 h 112"/>
                  <a:gd name="T12" fmla="*/ 93 w 93"/>
                  <a:gd name="T13" fmla="*/ 112 h 112"/>
                  <a:gd name="T14" fmla="*/ 69 w 93"/>
                  <a:gd name="T15" fmla="*/ 112 h 112"/>
                  <a:gd name="T16" fmla="*/ 24 w 93"/>
                  <a:gd name="T17" fmla="*/ 36 h 112"/>
                  <a:gd name="T18" fmla="*/ 22 w 93"/>
                  <a:gd name="T19" fmla="*/ 36 h 112"/>
                  <a:gd name="T20" fmla="*/ 22 w 93"/>
                  <a:gd name="T21" fmla="*/ 112 h 112"/>
                  <a:gd name="T22" fmla="*/ 0 w 93"/>
                  <a:gd name="T23" fmla="*/ 112 h 112"/>
                  <a:gd name="T24" fmla="*/ 0 w 93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112">
                    <a:moveTo>
                      <a:pt x="0" y="0"/>
                    </a:moveTo>
                    <a:lnTo>
                      <a:pt x="24" y="0"/>
                    </a:lnTo>
                    <a:lnTo>
                      <a:pt x="71" y="76"/>
                    </a:lnTo>
                    <a:lnTo>
                      <a:pt x="71" y="76"/>
                    </a:lnTo>
                    <a:lnTo>
                      <a:pt x="71" y="0"/>
                    </a:lnTo>
                    <a:lnTo>
                      <a:pt x="93" y="0"/>
                    </a:lnTo>
                    <a:lnTo>
                      <a:pt x="93" y="112"/>
                    </a:lnTo>
                    <a:lnTo>
                      <a:pt x="69" y="112"/>
                    </a:lnTo>
                    <a:lnTo>
                      <a:pt x="24" y="36"/>
                    </a:lnTo>
                    <a:lnTo>
                      <a:pt x="22" y="36"/>
                    </a:lnTo>
                    <a:lnTo>
                      <a:pt x="22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 30"/>
              <p:cNvSpPr>
                <a:spLocks/>
              </p:cNvSpPr>
              <p:nvPr/>
            </p:nvSpPr>
            <p:spPr bwMode="auto">
              <a:xfrm>
                <a:off x="5102225" y="5459413"/>
                <a:ext cx="165100" cy="184150"/>
              </a:xfrm>
              <a:custGeom>
                <a:avLst/>
                <a:gdLst>
                  <a:gd name="T0" fmla="*/ 40 w 52"/>
                  <a:gd name="T1" fmla="*/ 20 h 58"/>
                  <a:gd name="T2" fmla="*/ 28 w 52"/>
                  <a:gd name="T3" fmla="*/ 10 h 58"/>
                  <a:gd name="T4" fmla="*/ 13 w 52"/>
                  <a:gd name="T5" fmla="*/ 29 h 58"/>
                  <a:gd name="T6" fmla="*/ 28 w 52"/>
                  <a:gd name="T7" fmla="*/ 48 h 58"/>
                  <a:gd name="T8" fmla="*/ 41 w 52"/>
                  <a:gd name="T9" fmla="*/ 35 h 58"/>
                  <a:gd name="T10" fmla="*/ 52 w 52"/>
                  <a:gd name="T11" fmla="*/ 35 h 58"/>
                  <a:gd name="T12" fmla="*/ 28 w 52"/>
                  <a:gd name="T13" fmla="*/ 58 h 58"/>
                  <a:gd name="T14" fmla="*/ 0 w 52"/>
                  <a:gd name="T15" fmla="*/ 29 h 58"/>
                  <a:gd name="T16" fmla="*/ 28 w 52"/>
                  <a:gd name="T17" fmla="*/ 0 h 58"/>
                  <a:gd name="T18" fmla="*/ 52 w 52"/>
                  <a:gd name="T19" fmla="*/ 20 h 58"/>
                  <a:gd name="T20" fmla="*/ 40 w 52"/>
                  <a:gd name="T21" fmla="*/ 2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" h="58">
                    <a:moveTo>
                      <a:pt x="40" y="20"/>
                    </a:moveTo>
                    <a:cubicBezTo>
                      <a:pt x="39" y="14"/>
                      <a:pt x="34" y="10"/>
                      <a:pt x="28" y="10"/>
                    </a:cubicBezTo>
                    <a:cubicBezTo>
                      <a:pt x="17" y="10"/>
                      <a:pt x="13" y="19"/>
                      <a:pt x="13" y="29"/>
                    </a:cubicBezTo>
                    <a:cubicBezTo>
                      <a:pt x="13" y="39"/>
                      <a:pt x="17" y="48"/>
                      <a:pt x="28" y="48"/>
                    </a:cubicBezTo>
                    <a:cubicBezTo>
                      <a:pt x="35" y="48"/>
                      <a:pt x="40" y="43"/>
                      <a:pt x="41" y="35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1" y="49"/>
                      <a:pt x="42" y="58"/>
                      <a:pt x="28" y="58"/>
                    </a:cubicBezTo>
                    <a:cubicBezTo>
                      <a:pt x="10" y="58"/>
                      <a:pt x="0" y="45"/>
                      <a:pt x="0" y="29"/>
                    </a:cubicBezTo>
                    <a:cubicBezTo>
                      <a:pt x="0" y="13"/>
                      <a:pt x="10" y="0"/>
                      <a:pt x="28" y="0"/>
                    </a:cubicBezTo>
                    <a:cubicBezTo>
                      <a:pt x="40" y="0"/>
                      <a:pt x="51" y="7"/>
                      <a:pt x="52" y="20"/>
                    </a:cubicBezTo>
                    <a:lnTo>
                      <a:pt x="40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 31"/>
              <p:cNvSpPr>
                <a:spLocks/>
              </p:cNvSpPr>
              <p:nvPr/>
            </p:nvSpPr>
            <p:spPr bwMode="auto">
              <a:xfrm>
                <a:off x="5299075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6 w 86"/>
                  <a:gd name="T7" fmla="*/ 20 h 112"/>
                  <a:gd name="T8" fmla="*/ 26 w 86"/>
                  <a:gd name="T9" fmla="*/ 44 h 112"/>
                  <a:gd name="T10" fmla="*/ 80 w 86"/>
                  <a:gd name="T11" fmla="*/ 44 h 112"/>
                  <a:gd name="T12" fmla="*/ 80 w 86"/>
                  <a:gd name="T13" fmla="*/ 64 h 112"/>
                  <a:gd name="T14" fmla="*/ 26 w 86"/>
                  <a:gd name="T15" fmla="*/ 64 h 112"/>
                  <a:gd name="T16" fmla="*/ 26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6" y="20"/>
                    </a:lnTo>
                    <a:lnTo>
                      <a:pt x="26" y="44"/>
                    </a:lnTo>
                    <a:lnTo>
                      <a:pt x="80" y="44"/>
                    </a:lnTo>
                    <a:lnTo>
                      <a:pt x="80" y="64"/>
                    </a:lnTo>
                    <a:lnTo>
                      <a:pt x="26" y="64"/>
                    </a:lnTo>
                    <a:lnTo>
                      <a:pt x="26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 32"/>
              <p:cNvSpPr>
                <a:spLocks/>
              </p:cNvSpPr>
              <p:nvPr/>
            </p:nvSpPr>
            <p:spPr bwMode="auto">
              <a:xfrm>
                <a:off x="6497638" y="5462588"/>
                <a:ext cx="136525" cy="177800"/>
              </a:xfrm>
              <a:custGeom>
                <a:avLst/>
                <a:gdLst>
                  <a:gd name="T0" fmla="*/ 0 w 86"/>
                  <a:gd name="T1" fmla="*/ 0 h 112"/>
                  <a:gd name="T2" fmla="*/ 84 w 86"/>
                  <a:gd name="T3" fmla="*/ 0 h 112"/>
                  <a:gd name="T4" fmla="*/ 84 w 86"/>
                  <a:gd name="T5" fmla="*/ 20 h 112"/>
                  <a:gd name="T6" fmla="*/ 24 w 86"/>
                  <a:gd name="T7" fmla="*/ 20 h 112"/>
                  <a:gd name="T8" fmla="*/ 24 w 86"/>
                  <a:gd name="T9" fmla="*/ 44 h 112"/>
                  <a:gd name="T10" fmla="*/ 78 w 86"/>
                  <a:gd name="T11" fmla="*/ 44 h 112"/>
                  <a:gd name="T12" fmla="*/ 78 w 86"/>
                  <a:gd name="T13" fmla="*/ 64 h 112"/>
                  <a:gd name="T14" fmla="*/ 24 w 86"/>
                  <a:gd name="T15" fmla="*/ 64 h 112"/>
                  <a:gd name="T16" fmla="*/ 24 w 86"/>
                  <a:gd name="T17" fmla="*/ 92 h 112"/>
                  <a:gd name="T18" fmla="*/ 86 w 86"/>
                  <a:gd name="T19" fmla="*/ 92 h 112"/>
                  <a:gd name="T20" fmla="*/ 86 w 86"/>
                  <a:gd name="T21" fmla="*/ 112 h 112"/>
                  <a:gd name="T22" fmla="*/ 0 w 86"/>
                  <a:gd name="T23" fmla="*/ 112 h 112"/>
                  <a:gd name="T24" fmla="*/ 0 w 8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6" y="92"/>
                    </a:lnTo>
                    <a:lnTo>
                      <a:pt x="86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 33"/>
              <p:cNvSpPr>
                <a:spLocks/>
              </p:cNvSpPr>
              <p:nvPr/>
            </p:nvSpPr>
            <p:spPr bwMode="auto">
              <a:xfrm>
                <a:off x="6662738" y="5462588"/>
                <a:ext cx="152400" cy="177800"/>
              </a:xfrm>
              <a:custGeom>
                <a:avLst/>
                <a:gdLst>
                  <a:gd name="T0" fmla="*/ 0 w 96"/>
                  <a:gd name="T1" fmla="*/ 0 h 112"/>
                  <a:gd name="T2" fmla="*/ 26 w 96"/>
                  <a:gd name="T3" fmla="*/ 0 h 112"/>
                  <a:gd name="T4" fmla="*/ 72 w 96"/>
                  <a:gd name="T5" fmla="*/ 76 h 112"/>
                  <a:gd name="T6" fmla="*/ 72 w 96"/>
                  <a:gd name="T7" fmla="*/ 76 h 112"/>
                  <a:gd name="T8" fmla="*/ 72 w 96"/>
                  <a:gd name="T9" fmla="*/ 0 h 112"/>
                  <a:gd name="T10" fmla="*/ 96 w 96"/>
                  <a:gd name="T11" fmla="*/ 0 h 112"/>
                  <a:gd name="T12" fmla="*/ 96 w 96"/>
                  <a:gd name="T13" fmla="*/ 112 h 112"/>
                  <a:gd name="T14" fmla="*/ 70 w 96"/>
                  <a:gd name="T15" fmla="*/ 112 h 112"/>
                  <a:gd name="T16" fmla="*/ 24 w 96"/>
                  <a:gd name="T17" fmla="*/ 36 h 112"/>
                  <a:gd name="T18" fmla="*/ 24 w 96"/>
                  <a:gd name="T19" fmla="*/ 36 h 112"/>
                  <a:gd name="T20" fmla="*/ 24 w 96"/>
                  <a:gd name="T21" fmla="*/ 112 h 112"/>
                  <a:gd name="T22" fmla="*/ 0 w 96"/>
                  <a:gd name="T23" fmla="*/ 112 h 112"/>
                  <a:gd name="T24" fmla="*/ 0 w 9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112">
                    <a:moveTo>
                      <a:pt x="0" y="0"/>
                    </a:moveTo>
                    <a:lnTo>
                      <a:pt x="26" y="0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6" y="0"/>
                    </a:lnTo>
                    <a:lnTo>
                      <a:pt x="96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 34"/>
              <p:cNvSpPr>
                <a:spLocks noEditPoints="1"/>
              </p:cNvSpPr>
              <p:nvPr/>
            </p:nvSpPr>
            <p:spPr bwMode="auto">
              <a:xfrm>
                <a:off x="6834188" y="5462588"/>
                <a:ext cx="173038" cy="177800"/>
              </a:xfrm>
              <a:custGeom>
                <a:avLst/>
                <a:gdLst>
                  <a:gd name="T0" fmla="*/ 41 w 109"/>
                  <a:gd name="T1" fmla="*/ 0 h 112"/>
                  <a:gd name="T2" fmla="*/ 67 w 109"/>
                  <a:gd name="T3" fmla="*/ 0 h 112"/>
                  <a:gd name="T4" fmla="*/ 109 w 109"/>
                  <a:gd name="T5" fmla="*/ 112 h 112"/>
                  <a:gd name="T6" fmla="*/ 83 w 109"/>
                  <a:gd name="T7" fmla="*/ 112 h 112"/>
                  <a:gd name="T8" fmla="*/ 75 w 109"/>
                  <a:gd name="T9" fmla="*/ 86 h 112"/>
                  <a:gd name="T10" fmla="*/ 33 w 109"/>
                  <a:gd name="T11" fmla="*/ 86 h 112"/>
                  <a:gd name="T12" fmla="*/ 25 w 109"/>
                  <a:gd name="T13" fmla="*/ 112 h 112"/>
                  <a:gd name="T14" fmla="*/ 0 w 109"/>
                  <a:gd name="T15" fmla="*/ 112 h 112"/>
                  <a:gd name="T16" fmla="*/ 41 w 109"/>
                  <a:gd name="T17" fmla="*/ 0 h 112"/>
                  <a:gd name="T18" fmla="*/ 39 w 109"/>
                  <a:gd name="T19" fmla="*/ 68 h 112"/>
                  <a:gd name="T20" fmla="*/ 69 w 109"/>
                  <a:gd name="T21" fmla="*/ 68 h 112"/>
                  <a:gd name="T22" fmla="*/ 55 w 109"/>
                  <a:gd name="T23" fmla="*/ 28 h 112"/>
                  <a:gd name="T24" fmla="*/ 55 w 109"/>
                  <a:gd name="T25" fmla="*/ 28 h 112"/>
                  <a:gd name="T26" fmla="*/ 39 w 109"/>
                  <a:gd name="T27" fmla="*/ 6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9" h="112">
                    <a:moveTo>
                      <a:pt x="41" y="0"/>
                    </a:moveTo>
                    <a:lnTo>
                      <a:pt x="67" y="0"/>
                    </a:lnTo>
                    <a:lnTo>
                      <a:pt x="109" y="112"/>
                    </a:lnTo>
                    <a:lnTo>
                      <a:pt x="83" y="112"/>
                    </a:lnTo>
                    <a:lnTo>
                      <a:pt x="75" y="86"/>
                    </a:lnTo>
                    <a:lnTo>
                      <a:pt x="33" y="86"/>
                    </a:lnTo>
                    <a:lnTo>
                      <a:pt x="25" y="112"/>
                    </a:lnTo>
                    <a:lnTo>
                      <a:pt x="0" y="112"/>
                    </a:lnTo>
                    <a:lnTo>
                      <a:pt x="41" y="0"/>
                    </a:lnTo>
                    <a:close/>
                    <a:moveTo>
                      <a:pt x="39" y="68"/>
                    </a:moveTo>
                    <a:lnTo>
                      <a:pt x="69" y="68"/>
                    </a:lnTo>
                    <a:lnTo>
                      <a:pt x="55" y="28"/>
                    </a:lnTo>
                    <a:lnTo>
                      <a:pt x="55" y="28"/>
                    </a:lnTo>
                    <a:lnTo>
                      <a:pt x="39" y="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 35"/>
              <p:cNvSpPr>
                <a:spLocks noEditPoints="1"/>
              </p:cNvSpPr>
              <p:nvPr/>
            </p:nvSpPr>
            <p:spPr bwMode="auto">
              <a:xfrm>
                <a:off x="7029450" y="5462588"/>
                <a:ext cx="149225" cy="177800"/>
              </a:xfrm>
              <a:custGeom>
                <a:avLst/>
                <a:gdLst>
                  <a:gd name="T0" fmla="*/ 0 w 47"/>
                  <a:gd name="T1" fmla="*/ 0 h 56"/>
                  <a:gd name="T2" fmla="*/ 26 w 47"/>
                  <a:gd name="T3" fmla="*/ 0 h 56"/>
                  <a:gd name="T4" fmla="*/ 44 w 47"/>
                  <a:gd name="T5" fmla="*/ 14 h 56"/>
                  <a:gd name="T6" fmla="*/ 36 w 47"/>
                  <a:gd name="T7" fmla="*/ 26 h 56"/>
                  <a:gd name="T8" fmla="*/ 47 w 47"/>
                  <a:gd name="T9" fmla="*/ 40 h 56"/>
                  <a:gd name="T10" fmla="*/ 27 w 47"/>
                  <a:gd name="T11" fmla="*/ 56 h 56"/>
                  <a:gd name="T12" fmla="*/ 0 w 47"/>
                  <a:gd name="T13" fmla="*/ 56 h 56"/>
                  <a:gd name="T14" fmla="*/ 0 w 47"/>
                  <a:gd name="T15" fmla="*/ 0 h 56"/>
                  <a:gd name="T16" fmla="*/ 12 w 47"/>
                  <a:gd name="T17" fmla="*/ 23 h 56"/>
                  <a:gd name="T18" fmla="*/ 24 w 47"/>
                  <a:gd name="T19" fmla="*/ 23 h 56"/>
                  <a:gd name="T20" fmla="*/ 32 w 47"/>
                  <a:gd name="T21" fmla="*/ 16 h 56"/>
                  <a:gd name="T22" fmla="*/ 23 w 47"/>
                  <a:gd name="T23" fmla="*/ 9 h 56"/>
                  <a:gd name="T24" fmla="*/ 12 w 47"/>
                  <a:gd name="T25" fmla="*/ 9 h 56"/>
                  <a:gd name="T26" fmla="*/ 12 w 47"/>
                  <a:gd name="T27" fmla="*/ 23 h 56"/>
                  <a:gd name="T28" fmla="*/ 12 w 47"/>
                  <a:gd name="T29" fmla="*/ 46 h 56"/>
                  <a:gd name="T30" fmla="*/ 25 w 47"/>
                  <a:gd name="T31" fmla="*/ 46 h 56"/>
                  <a:gd name="T32" fmla="*/ 34 w 47"/>
                  <a:gd name="T33" fmla="*/ 39 h 56"/>
                  <a:gd name="T34" fmla="*/ 25 w 47"/>
                  <a:gd name="T35" fmla="*/ 31 h 56"/>
                  <a:gd name="T36" fmla="*/ 12 w 47"/>
                  <a:gd name="T37" fmla="*/ 31 h 56"/>
                  <a:gd name="T38" fmla="*/ 12 w 47"/>
                  <a:gd name="T39" fmla="*/ 4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7" h="56">
                    <a:moveTo>
                      <a:pt x="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37" y="0"/>
                      <a:pt x="44" y="3"/>
                      <a:pt x="44" y="14"/>
                    </a:cubicBezTo>
                    <a:cubicBezTo>
                      <a:pt x="44" y="19"/>
                      <a:pt x="41" y="23"/>
                      <a:pt x="36" y="26"/>
                    </a:cubicBezTo>
                    <a:cubicBezTo>
                      <a:pt x="43" y="27"/>
                      <a:pt x="47" y="33"/>
                      <a:pt x="47" y="40"/>
                    </a:cubicBezTo>
                    <a:cubicBezTo>
                      <a:pt x="47" y="51"/>
                      <a:pt x="37" y="56"/>
                      <a:pt x="27" y="56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0" y="0"/>
                    </a:lnTo>
                    <a:close/>
                    <a:moveTo>
                      <a:pt x="12" y="23"/>
                    </a:moveTo>
                    <a:cubicBezTo>
                      <a:pt x="24" y="23"/>
                      <a:pt x="24" y="23"/>
                      <a:pt x="24" y="23"/>
                    </a:cubicBezTo>
                    <a:cubicBezTo>
                      <a:pt x="29" y="23"/>
                      <a:pt x="32" y="21"/>
                      <a:pt x="32" y="16"/>
                    </a:cubicBezTo>
                    <a:cubicBezTo>
                      <a:pt x="32" y="11"/>
                      <a:pt x="28" y="9"/>
                      <a:pt x="23" y="9"/>
                    </a:cubicBezTo>
                    <a:cubicBezTo>
                      <a:pt x="12" y="9"/>
                      <a:pt x="12" y="9"/>
                      <a:pt x="12" y="9"/>
                    </a:cubicBezTo>
                    <a:lnTo>
                      <a:pt x="12" y="23"/>
                    </a:lnTo>
                    <a:close/>
                    <a:moveTo>
                      <a:pt x="12" y="46"/>
                    </a:moveTo>
                    <a:cubicBezTo>
                      <a:pt x="25" y="46"/>
                      <a:pt x="25" y="46"/>
                      <a:pt x="25" y="46"/>
                    </a:cubicBezTo>
                    <a:cubicBezTo>
                      <a:pt x="30" y="46"/>
                      <a:pt x="34" y="45"/>
                      <a:pt x="34" y="39"/>
                    </a:cubicBezTo>
                    <a:cubicBezTo>
                      <a:pt x="34" y="33"/>
                      <a:pt x="31" y="31"/>
                      <a:pt x="25" y="31"/>
                    </a:cubicBezTo>
                    <a:cubicBezTo>
                      <a:pt x="12" y="31"/>
                      <a:pt x="12" y="31"/>
                      <a:pt x="12" y="31"/>
                    </a:cubicBezTo>
                    <a:lnTo>
                      <a:pt x="12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 36"/>
              <p:cNvSpPr>
                <a:spLocks/>
              </p:cNvSpPr>
              <p:nvPr/>
            </p:nvSpPr>
            <p:spPr bwMode="auto">
              <a:xfrm>
                <a:off x="7207250" y="5462588"/>
                <a:ext cx="127000" cy="177800"/>
              </a:xfrm>
              <a:custGeom>
                <a:avLst/>
                <a:gdLst>
                  <a:gd name="T0" fmla="*/ 0 w 80"/>
                  <a:gd name="T1" fmla="*/ 0 h 112"/>
                  <a:gd name="T2" fmla="*/ 26 w 80"/>
                  <a:gd name="T3" fmla="*/ 0 h 112"/>
                  <a:gd name="T4" fmla="*/ 26 w 80"/>
                  <a:gd name="T5" fmla="*/ 92 h 112"/>
                  <a:gd name="T6" fmla="*/ 80 w 80"/>
                  <a:gd name="T7" fmla="*/ 92 h 112"/>
                  <a:gd name="T8" fmla="*/ 80 w 80"/>
                  <a:gd name="T9" fmla="*/ 112 h 112"/>
                  <a:gd name="T10" fmla="*/ 0 w 80"/>
                  <a:gd name="T11" fmla="*/ 112 h 112"/>
                  <a:gd name="T12" fmla="*/ 0 w 80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12">
                    <a:moveTo>
                      <a:pt x="0" y="0"/>
                    </a:moveTo>
                    <a:lnTo>
                      <a:pt x="26" y="0"/>
                    </a:lnTo>
                    <a:lnTo>
                      <a:pt x="26" y="92"/>
                    </a:lnTo>
                    <a:lnTo>
                      <a:pt x="80" y="92"/>
                    </a:lnTo>
                    <a:lnTo>
                      <a:pt x="80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Freeform 37"/>
              <p:cNvSpPr>
                <a:spLocks/>
              </p:cNvSpPr>
              <p:nvPr/>
            </p:nvSpPr>
            <p:spPr bwMode="auto">
              <a:xfrm>
                <a:off x="7362825" y="5462588"/>
                <a:ext cx="133350" cy="177800"/>
              </a:xfrm>
              <a:custGeom>
                <a:avLst/>
                <a:gdLst>
                  <a:gd name="T0" fmla="*/ 0 w 84"/>
                  <a:gd name="T1" fmla="*/ 0 h 112"/>
                  <a:gd name="T2" fmla="*/ 84 w 84"/>
                  <a:gd name="T3" fmla="*/ 0 h 112"/>
                  <a:gd name="T4" fmla="*/ 84 w 84"/>
                  <a:gd name="T5" fmla="*/ 20 h 112"/>
                  <a:gd name="T6" fmla="*/ 24 w 84"/>
                  <a:gd name="T7" fmla="*/ 20 h 112"/>
                  <a:gd name="T8" fmla="*/ 24 w 84"/>
                  <a:gd name="T9" fmla="*/ 44 h 112"/>
                  <a:gd name="T10" fmla="*/ 78 w 84"/>
                  <a:gd name="T11" fmla="*/ 44 h 112"/>
                  <a:gd name="T12" fmla="*/ 78 w 84"/>
                  <a:gd name="T13" fmla="*/ 64 h 112"/>
                  <a:gd name="T14" fmla="*/ 24 w 84"/>
                  <a:gd name="T15" fmla="*/ 64 h 112"/>
                  <a:gd name="T16" fmla="*/ 24 w 84"/>
                  <a:gd name="T17" fmla="*/ 92 h 112"/>
                  <a:gd name="T18" fmla="*/ 84 w 84"/>
                  <a:gd name="T19" fmla="*/ 92 h 112"/>
                  <a:gd name="T20" fmla="*/ 84 w 84"/>
                  <a:gd name="T21" fmla="*/ 112 h 112"/>
                  <a:gd name="T22" fmla="*/ 0 w 84"/>
                  <a:gd name="T23" fmla="*/ 112 h 112"/>
                  <a:gd name="T24" fmla="*/ 0 w 84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112">
                    <a:moveTo>
                      <a:pt x="0" y="0"/>
                    </a:moveTo>
                    <a:lnTo>
                      <a:pt x="84" y="0"/>
                    </a:lnTo>
                    <a:lnTo>
                      <a:pt x="84" y="20"/>
                    </a:lnTo>
                    <a:lnTo>
                      <a:pt x="24" y="20"/>
                    </a:lnTo>
                    <a:lnTo>
                      <a:pt x="24" y="44"/>
                    </a:lnTo>
                    <a:lnTo>
                      <a:pt x="78" y="44"/>
                    </a:lnTo>
                    <a:lnTo>
                      <a:pt x="78" y="64"/>
                    </a:lnTo>
                    <a:lnTo>
                      <a:pt x="24" y="64"/>
                    </a:lnTo>
                    <a:lnTo>
                      <a:pt x="24" y="92"/>
                    </a:lnTo>
                    <a:lnTo>
                      <a:pt x="84" y="92"/>
                    </a:lnTo>
                    <a:lnTo>
                      <a:pt x="8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Freeform 38"/>
              <p:cNvSpPr>
                <a:spLocks/>
              </p:cNvSpPr>
              <p:nvPr/>
            </p:nvSpPr>
            <p:spPr bwMode="auto">
              <a:xfrm>
                <a:off x="7527925" y="5462588"/>
                <a:ext cx="190500" cy="177800"/>
              </a:xfrm>
              <a:custGeom>
                <a:avLst/>
                <a:gdLst>
                  <a:gd name="T0" fmla="*/ 0 w 120"/>
                  <a:gd name="T1" fmla="*/ 0 h 112"/>
                  <a:gd name="T2" fmla="*/ 34 w 120"/>
                  <a:gd name="T3" fmla="*/ 0 h 112"/>
                  <a:gd name="T4" fmla="*/ 62 w 120"/>
                  <a:gd name="T5" fmla="*/ 76 h 112"/>
                  <a:gd name="T6" fmla="*/ 62 w 120"/>
                  <a:gd name="T7" fmla="*/ 76 h 112"/>
                  <a:gd name="T8" fmla="*/ 86 w 120"/>
                  <a:gd name="T9" fmla="*/ 0 h 112"/>
                  <a:gd name="T10" fmla="*/ 120 w 120"/>
                  <a:gd name="T11" fmla="*/ 0 h 112"/>
                  <a:gd name="T12" fmla="*/ 120 w 120"/>
                  <a:gd name="T13" fmla="*/ 112 h 112"/>
                  <a:gd name="T14" fmla="*/ 98 w 120"/>
                  <a:gd name="T15" fmla="*/ 112 h 112"/>
                  <a:gd name="T16" fmla="*/ 98 w 120"/>
                  <a:gd name="T17" fmla="*/ 32 h 112"/>
                  <a:gd name="T18" fmla="*/ 98 w 120"/>
                  <a:gd name="T19" fmla="*/ 32 h 112"/>
                  <a:gd name="T20" fmla="*/ 70 w 120"/>
                  <a:gd name="T21" fmla="*/ 112 h 112"/>
                  <a:gd name="T22" fmla="*/ 52 w 120"/>
                  <a:gd name="T23" fmla="*/ 112 h 112"/>
                  <a:gd name="T24" fmla="*/ 24 w 120"/>
                  <a:gd name="T25" fmla="*/ 34 h 112"/>
                  <a:gd name="T26" fmla="*/ 24 w 120"/>
                  <a:gd name="T27" fmla="*/ 34 h 112"/>
                  <a:gd name="T28" fmla="*/ 24 w 120"/>
                  <a:gd name="T29" fmla="*/ 112 h 112"/>
                  <a:gd name="T30" fmla="*/ 0 w 120"/>
                  <a:gd name="T31" fmla="*/ 112 h 112"/>
                  <a:gd name="T32" fmla="*/ 0 w 120"/>
                  <a:gd name="T3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0" h="112">
                    <a:moveTo>
                      <a:pt x="0" y="0"/>
                    </a:moveTo>
                    <a:lnTo>
                      <a:pt x="34" y="0"/>
                    </a:lnTo>
                    <a:lnTo>
                      <a:pt x="62" y="76"/>
                    </a:lnTo>
                    <a:lnTo>
                      <a:pt x="62" y="76"/>
                    </a:lnTo>
                    <a:lnTo>
                      <a:pt x="86" y="0"/>
                    </a:lnTo>
                    <a:lnTo>
                      <a:pt x="120" y="0"/>
                    </a:lnTo>
                    <a:lnTo>
                      <a:pt x="120" y="112"/>
                    </a:lnTo>
                    <a:lnTo>
                      <a:pt x="98" y="112"/>
                    </a:lnTo>
                    <a:lnTo>
                      <a:pt x="98" y="32"/>
                    </a:lnTo>
                    <a:lnTo>
                      <a:pt x="98" y="32"/>
                    </a:lnTo>
                    <a:lnTo>
                      <a:pt x="70" y="112"/>
                    </a:lnTo>
                    <a:lnTo>
                      <a:pt x="52" y="112"/>
                    </a:lnTo>
                    <a:lnTo>
                      <a:pt x="24" y="34"/>
                    </a:lnTo>
                    <a:lnTo>
                      <a:pt x="24" y="34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Freeform 39"/>
              <p:cNvSpPr>
                <a:spLocks/>
              </p:cNvSpPr>
              <p:nvPr/>
            </p:nvSpPr>
            <p:spPr bwMode="auto">
              <a:xfrm>
                <a:off x="7759700" y="5462588"/>
                <a:ext cx="134938" cy="177800"/>
              </a:xfrm>
              <a:custGeom>
                <a:avLst/>
                <a:gdLst>
                  <a:gd name="T0" fmla="*/ 0 w 85"/>
                  <a:gd name="T1" fmla="*/ 0 h 112"/>
                  <a:gd name="T2" fmla="*/ 83 w 85"/>
                  <a:gd name="T3" fmla="*/ 0 h 112"/>
                  <a:gd name="T4" fmla="*/ 83 w 85"/>
                  <a:gd name="T5" fmla="*/ 20 h 112"/>
                  <a:gd name="T6" fmla="*/ 23 w 85"/>
                  <a:gd name="T7" fmla="*/ 20 h 112"/>
                  <a:gd name="T8" fmla="*/ 23 w 85"/>
                  <a:gd name="T9" fmla="*/ 44 h 112"/>
                  <a:gd name="T10" fmla="*/ 77 w 85"/>
                  <a:gd name="T11" fmla="*/ 44 h 112"/>
                  <a:gd name="T12" fmla="*/ 77 w 85"/>
                  <a:gd name="T13" fmla="*/ 64 h 112"/>
                  <a:gd name="T14" fmla="*/ 23 w 85"/>
                  <a:gd name="T15" fmla="*/ 64 h 112"/>
                  <a:gd name="T16" fmla="*/ 23 w 85"/>
                  <a:gd name="T17" fmla="*/ 92 h 112"/>
                  <a:gd name="T18" fmla="*/ 85 w 85"/>
                  <a:gd name="T19" fmla="*/ 92 h 112"/>
                  <a:gd name="T20" fmla="*/ 85 w 85"/>
                  <a:gd name="T21" fmla="*/ 112 h 112"/>
                  <a:gd name="T22" fmla="*/ 0 w 85"/>
                  <a:gd name="T23" fmla="*/ 112 h 112"/>
                  <a:gd name="T24" fmla="*/ 0 w 85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112">
                    <a:moveTo>
                      <a:pt x="0" y="0"/>
                    </a:moveTo>
                    <a:lnTo>
                      <a:pt x="83" y="0"/>
                    </a:lnTo>
                    <a:lnTo>
                      <a:pt x="83" y="20"/>
                    </a:lnTo>
                    <a:lnTo>
                      <a:pt x="23" y="20"/>
                    </a:lnTo>
                    <a:lnTo>
                      <a:pt x="23" y="44"/>
                    </a:lnTo>
                    <a:lnTo>
                      <a:pt x="77" y="44"/>
                    </a:lnTo>
                    <a:lnTo>
                      <a:pt x="77" y="64"/>
                    </a:lnTo>
                    <a:lnTo>
                      <a:pt x="23" y="64"/>
                    </a:lnTo>
                    <a:lnTo>
                      <a:pt x="23" y="92"/>
                    </a:lnTo>
                    <a:lnTo>
                      <a:pt x="85" y="92"/>
                    </a:lnTo>
                    <a:lnTo>
                      <a:pt x="85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Freeform 40"/>
              <p:cNvSpPr>
                <a:spLocks/>
              </p:cNvSpPr>
              <p:nvPr/>
            </p:nvSpPr>
            <p:spPr bwMode="auto">
              <a:xfrm>
                <a:off x="7923213" y="5462588"/>
                <a:ext cx="152400" cy="177800"/>
              </a:xfrm>
              <a:custGeom>
                <a:avLst/>
                <a:gdLst>
                  <a:gd name="T0" fmla="*/ 0 w 96"/>
                  <a:gd name="T1" fmla="*/ 0 h 112"/>
                  <a:gd name="T2" fmla="*/ 26 w 96"/>
                  <a:gd name="T3" fmla="*/ 0 h 112"/>
                  <a:gd name="T4" fmla="*/ 72 w 96"/>
                  <a:gd name="T5" fmla="*/ 76 h 112"/>
                  <a:gd name="T6" fmla="*/ 72 w 96"/>
                  <a:gd name="T7" fmla="*/ 76 h 112"/>
                  <a:gd name="T8" fmla="*/ 72 w 96"/>
                  <a:gd name="T9" fmla="*/ 0 h 112"/>
                  <a:gd name="T10" fmla="*/ 96 w 96"/>
                  <a:gd name="T11" fmla="*/ 0 h 112"/>
                  <a:gd name="T12" fmla="*/ 96 w 96"/>
                  <a:gd name="T13" fmla="*/ 112 h 112"/>
                  <a:gd name="T14" fmla="*/ 70 w 96"/>
                  <a:gd name="T15" fmla="*/ 112 h 112"/>
                  <a:gd name="T16" fmla="*/ 24 w 96"/>
                  <a:gd name="T17" fmla="*/ 36 h 112"/>
                  <a:gd name="T18" fmla="*/ 24 w 96"/>
                  <a:gd name="T19" fmla="*/ 36 h 112"/>
                  <a:gd name="T20" fmla="*/ 24 w 96"/>
                  <a:gd name="T21" fmla="*/ 112 h 112"/>
                  <a:gd name="T22" fmla="*/ 0 w 96"/>
                  <a:gd name="T23" fmla="*/ 112 h 112"/>
                  <a:gd name="T24" fmla="*/ 0 w 96"/>
                  <a:gd name="T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112">
                    <a:moveTo>
                      <a:pt x="0" y="0"/>
                    </a:moveTo>
                    <a:lnTo>
                      <a:pt x="26" y="0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0"/>
                    </a:lnTo>
                    <a:lnTo>
                      <a:pt x="96" y="0"/>
                    </a:lnTo>
                    <a:lnTo>
                      <a:pt x="96" y="112"/>
                    </a:lnTo>
                    <a:lnTo>
                      <a:pt x="70" y="11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24" y="112"/>
                    </a:lnTo>
                    <a:lnTo>
                      <a:pt x="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4" name="Freeform 41"/>
              <p:cNvSpPr>
                <a:spLocks/>
              </p:cNvSpPr>
              <p:nvPr/>
            </p:nvSpPr>
            <p:spPr bwMode="auto">
              <a:xfrm>
                <a:off x="8101013" y="5462588"/>
                <a:ext cx="146050" cy="177800"/>
              </a:xfrm>
              <a:custGeom>
                <a:avLst/>
                <a:gdLst>
                  <a:gd name="T0" fmla="*/ 34 w 92"/>
                  <a:gd name="T1" fmla="*/ 20 h 112"/>
                  <a:gd name="T2" fmla="*/ 0 w 92"/>
                  <a:gd name="T3" fmla="*/ 20 h 112"/>
                  <a:gd name="T4" fmla="*/ 0 w 92"/>
                  <a:gd name="T5" fmla="*/ 0 h 112"/>
                  <a:gd name="T6" fmla="*/ 92 w 92"/>
                  <a:gd name="T7" fmla="*/ 0 h 112"/>
                  <a:gd name="T8" fmla="*/ 92 w 92"/>
                  <a:gd name="T9" fmla="*/ 20 h 112"/>
                  <a:gd name="T10" fmla="*/ 58 w 92"/>
                  <a:gd name="T11" fmla="*/ 20 h 112"/>
                  <a:gd name="T12" fmla="*/ 58 w 92"/>
                  <a:gd name="T13" fmla="*/ 112 h 112"/>
                  <a:gd name="T14" fmla="*/ 34 w 92"/>
                  <a:gd name="T15" fmla="*/ 112 h 112"/>
                  <a:gd name="T16" fmla="*/ 34 w 92"/>
                  <a:gd name="T17" fmla="*/ 2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112">
                    <a:moveTo>
                      <a:pt x="34" y="20"/>
                    </a:moveTo>
                    <a:lnTo>
                      <a:pt x="0" y="20"/>
                    </a:lnTo>
                    <a:lnTo>
                      <a:pt x="0" y="0"/>
                    </a:lnTo>
                    <a:lnTo>
                      <a:pt x="92" y="0"/>
                    </a:lnTo>
                    <a:lnTo>
                      <a:pt x="92" y="20"/>
                    </a:lnTo>
                    <a:lnTo>
                      <a:pt x="58" y="20"/>
                    </a:lnTo>
                    <a:lnTo>
                      <a:pt x="58" y="112"/>
                    </a:lnTo>
                    <a:lnTo>
                      <a:pt x="34" y="112"/>
                    </a:lnTo>
                    <a:lnTo>
                      <a:pt x="34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Oval 42"/>
              <p:cNvSpPr>
                <a:spLocks noChangeArrowheads="1"/>
              </p:cNvSpPr>
              <p:nvPr/>
            </p:nvSpPr>
            <p:spPr bwMode="auto">
              <a:xfrm>
                <a:off x="3033713" y="5392738"/>
                <a:ext cx="312738" cy="314325"/>
              </a:xfrm>
              <a:prstGeom prst="ellipse">
                <a:avLst/>
              </a:prstGeom>
              <a:solidFill>
                <a:srgbClr val="5D677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6" name="Oval 43"/>
              <p:cNvSpPr>
                <a:spLocks noChangeArrowheads="1"/>
              </p:cNvSpPr>
              <p:nvPr/>
            </p:nvSpPr>
            <p:spPr bwMode="auto">
              <a:xfrm>
                <a:off x="5816600" y="5392738"/>
                <a:ext cx="312738" cy="314325"/>
              </a:xfrm>
              <a:prstGeom prst="ellipse">
                <a:avLst/>
              </a:prstGeom>
              <a:solidFill>
                <a:srgbClr val="5D677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7" name="Rectangle 44"/>
              <p:cNvSpPr>
                <a:spLocks noChangeArrowheads="1"/>
              </p:cNvSpPr>
              <p:nvPr/>
            </p:nvSpPr>
            <p:spPr bwMode="auto">
              <a:xfrm>
                <a:off x="3167063" y="5459413"/>
                <a:ext cx="42863" cy="1809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Rectangle 45"/>
              <p:cNvSpPr>
                <a:spLocks noChangeArrowheads="1"/>
              </p:cNvSpPr>
              <p:nvPr/>
            </p:nvSpPr>
            <p:spPr bwMode="auto">
              <a:xfrm>
                <a:off x="3100388" y="5529263"/>
                <a:ext cx="179388" cy="41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Rectangle 46"/>
              <p:cNvSpPr>
                <a:spLocks noChangeArrowheads="1"/>
              </p:cNvSpPr>
              <p:nvPr/>
            </p:nvSpPr>
            <p:spPr bwMode="auto">
              <a:xfrm>
                <a:off x="5905500" y="5491163"/>
                <a:ext cx="134938" cy="44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Rectangle 47"/>
              <p:cNvSpPr>
                <a:spLocks noChangeArrowheads="1"/>
              </p:cNvSpPr>
              <p:nvPr/>
            </p:nvSpPr>
            <p:spPr bwMode="auto">
              <a:xfrm>
                <a:off x="5905500" y="5564188"/>
                <a:ext cx="134938" cy="44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99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11" name="TextBox 110"/>
          <p:cNvSpPr txBox="1"/>
          <p:nvPr userDrawn="1"/>
        </p:nvSpPr>
        <p:spPr>
          <a:xfrm>
            <a:off x="4836194" y="907636"/>
            <a:ext cx="5964179" cy="564233"/>
          </a:xfrm>
          <a:prstGeom prst="rect">
            <a:avLst/>
          </a:prstGeom>
          <a:noFill/>
        </p:spPr>
        <p:txBody>
          <a:bodyPr wrap="square" lIns="91416" tIns="45708" rIns="91416" bIns="45708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0039A6"/>
                </a:solidFill>
              </a:rPr>
              <a:t>Information Technology </a:t>
            </a:r>
          </a:p>
          <a:p>
            <a:pPr algn="r" fontAlgn="base">
              <a:lnSpc>
                <a:spcPts val="1999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0039A6"/>
                </a:solidFill>
              </a:rPr>
              <a:t>&amp;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184661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/>
          </p:nvPr>
        </p:nvSpPr>
        <p:spPr>
          <a:xfrm>
            <a:off x="405490" y="1283210"/>
            <a:ext cx="11314075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0877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/>
          </p:nvPr>
        </p:nvSpPr>
        <p:spPr>
          <a:xfrm>
            <a:off x="405490" y="1283210"/>
            <a:ext cx="11314075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329ED5F-0C06-4D5E-A32E-0FA178D282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70370" y="6532565"/>
            <a:ext cx="2377016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/ DELL CONFIDENTIAL | </a:t>
            </a:r>
            <a:fld id="{689318A1-174D-4DEE-8106-03A37B9BCF15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94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FAE617-836F-4DCE-B4B9-BC087AB1CE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70370" y="6532565"/>
            <a:ext cx="2377016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/ DELL CONFIDENTIAL | </a:t>
            </a:r>
            <a:fld id="{689318A1-174D-4DEE-8106-03A37B9BCF15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8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18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405491" y="1283210"/>
            <a:ext cx="5487829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8"/>
          </p:nvPr>
        </p:nvSpPr>
        <p:spPr>
          <a:xfrm>
            <a:off x="6115548" y="1283210"/>
            <a:ext cx="5487829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04EBC-90DA-48FF-BAB5-2A5F26C336D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70370" y="6532565"/>
            <a:ext cx="2377016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/ DELL CONFIDENTIAL | </a:t>
            </a:r>
            <a:fld id="{689318A1-174D-4DEE-8106-03A37B9BCF15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2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405491" y="1283210"/>
            <a:ext cx="5487829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8"/>
          </p:nvPr>
        </p:nvSpPr>
        <p:spPr>
          <a:xfrm>
            <a:off x="6115548" y="1283210"/>
            <a:ext cx="5487829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E289C-C4C7-4BC5-854D-64D35B83FB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70370" y="6532565"/>
            <a:ext cx="2377016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/ DELL CONFIDENTIAL | </a:t>
            </a:r>
            <a:fld id="{689318A1-174D-4DEE-8106-03A37B9BCF15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53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+ stop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5" y="457203"/>
            <a:ext cx="10972801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5" y="777243"/>
            <a:ext cx="10972801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0119362" y="638343"/>
            <a:ext cx="426720" cy="29260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0647680" y="638343"/>
            <a:ext cx="426720" cy="2926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1176002" y="638343"/>
            <a:ext cx="426720" cy="2926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0017760" y="417368"/>
            <a:ext cx="1717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000000"/>
                </a:solidFill>
              </a:rPr>
              <a:t>Prev | Curr       YE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400158" y="1283210"/>
            <a:ext cx="11334527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266718F-A8B8-4A6F-A1C1-1CDE7B700A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70370" y="6532565"/>
            <a:ext cx="2377016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/ DELL CONFIDENTIAL | </a:t>
            </a:r>
            <a:fld id="{689318A1-174D-4DEE-8106-03A37B9BCF15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72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and Content + nav butt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5" y="457203"/>
            <a:ext cx="10972801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5" y="777243"/>
            <a:ext cx="10972801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 userDrawn="1"/>
        </p:nvSpPr>
        <p:spPr>
          <a:xfrm>
            <a:off x="10728962" y="493660"/>
            <a:ext cx="243841" cy="182880"/>
          </a:xfrm>
          <a:prstGeom prst="actionButtonBackPrevio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2" name="Action Button: Forward or Next 11">
            <a:hlinkClick r:id="" action="ppaction://hlinkshowjump?jump=nextslide" highlightClick="1"/>
          </p:cNvPr>
          <p:cNvSpPr/>
          <p:nvPr userDrawn="1"/>
        </p:nvSpPr>
        <p:spPr>
          <a:xfrm>
            <a:off x="11326370" y="493660"/>
            <a:ext cx="243841" cy="18288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3" name="Action Button: Home 12">
            <a:hlinkClick r:id="" action="ppaction://hlinkshowjump?jump=firstslide" highlightClick="1"/>
          </p:cNvPr>
          <p:cNvSpPr/>
          <p:nvPr userDrawn="1"/>
        </p:nvSpPr>
        <p:spPr>
          <a:xfrm>
            <a:off x="11021570" y="493660"/>
            <a:ext cx="243841" cy="182880"/>
          </a:xfrm>
          <a:prstGeom prst="actionButtonHom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8"/>
          </p:nvPr>
        </p:nvSpPr>
        <p:spPr>
          <a:xfrm>
            <a:off x="400158" y="1283210"/>
            <a:ext cx="11334527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D887A7-8609-4741-BC71-F153052290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70370" y="6532565"/>
            <a:ext cx="2377016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/ DELL CONFIDENTIAL | </a:t>
            </a:r>
            <a:fld id="{689318A1-174D-4DEE-8106-03A37B9BCF15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15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Picture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2" y="1600199"/>
            <a:ext cx="12192000" cy="448056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, two pictures,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8909" y="1287683"/>
            <a:ext cx="5487829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58909" y="3772213"/>
            <a:ext cx="5487829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5" name="Content Placeholder 5"/>
          <p:cNvSpPr>
            <a:spLocks noGrp="1"/>
          </p:cNvSpPr>
          <p:nvPr>
            <p:ph sz="quarter" idx="19"/>
          </p:nvPr>
        </p:nvSpPr>
        <p:spPr>
          <a:xfrm>
            <a:off x="6115548" y="1283210"/>
            <a:ext cx="5487829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3587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Rt content with one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8909" y="1287683"/>
            <a:ext cx="5487829" cy="4862597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9"/>
          </p:nvPr>
        </p:nvSpPr>
        <p:spPr>
          <a:xfrm>
            <a:off x="6115548" y="1283210"/>
            <a:ext cx="5487829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0721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 with one pic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59555" y="1289304"/>
            <a:ext cx="5487829" cy="4764024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9"/>
          </p:nvPr>
        </p:nvSpPr>
        <p:spPr>
          <a:xfrm>
            <a:off x="411588" y="1283210"/>
            <a:ext cx="5487829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7210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, 2 pictures +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59555" y="1287683"/>
            <a:ext cx="5487829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259555" y="3759687"/>
            <a:ext cx="5487829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9"/>
          </p:nvPr>
        </p:nvSpPr>
        <p:spPr>
          <a:xfrm>
            <a:off x="411588" y="1283210"/>
            <a:ext cx="5487829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0273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Lft Content, 2 screen captures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9"/>
          </p:nvPr>
        </p:nvSpPr>
        <p:spPr>
          <a:xfrm>
            <a:off x="7392283" y="1287683"/>
            <a:ext cx="4355103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0"/>
          </p:nvPr>
        </p:nvSpPr>
        <p:spPr>
          <a:xfrm>
            <a:off x="7392283" y="3759687"/>
            <a:ext cx="4355103" cy="2286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21"/>
          </p:nvPr>
        </p:nvSpPr>
        <p:spPr>
          <a:xfrm>
            <a:off x="411588" y="1283210"/>
            <a:ext cx="6718859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3102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586" y="3931921"/>
            <a:ext cx="11314075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" y="1600199"/>
            <a:ext cx="12192000" cy="219456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53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585216" y="2471202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85216" y="1309911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4" name="Content Placeholder 2"/>
          <p:cNvSpPr>
            <a:spLocks noGrp="1"/>
          </p:cNvSpPr>
          <p:nvPr>
            <p:ph idx="14"/>
          </p:nvPr>
        </p:nvSpPr>
        <p:spPr>
          <a:xfrm>
            <a:off x="585216" y="4153698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585216" y="2992407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6" name="Content Placeholder 2"/>
          <p:cNvSpPr>
            <a:spLocks noGrp="1"/>
          </p:cNvSpPr>
          <p:nvPr>
            <p:ph idx="16"/>
          </p:nvPr>
        </p:nvSpPr>
        <p:spPr>
          <a:xfrm>
            <a:off x="597408" y="5836194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585216" y="4674903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8" name="Content Placeholder 2"/>
          <p:cNvSpPr>
            <a:spLocks noGrp="1"/>
          </p:cNvSpPr>
          <p:nvPr>
            <p:ph idx="18"/>
          </p:nvPr>
        </p:nvSpPr>
        <p:spPr>
          <a:xfrm>
            <a:off x="3462528" y="2471202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3462528" y="1309911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0" name="Content Placeholder 2"/>
          <p:cNvSpPr>
            <a:spLocks noGrp="1"/>
          </p:cNvSpPr>
          <p:nvPr>
            <p:ph idx="20"/>
          </p:nvPr>
        </p:nvSpPr>
        <p:spPr>
          <a:xfrm>
            <a:off x="3462528" y="4153698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3462528" y="2992407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2" name="Content Placeholder 2"/>
          <p:cNvSpPr>
            <a:spLocks noGrp="1"/>
          </p:cNvSpPr>
          <p:nvPr>
            <p:ph idx="22"/>
          </p:nvPr>
        </p:nvSpPr>
        <p:spPr>
          <a:xfrm>
            <a:off x="3462528" y="5836194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3462528" y="4674903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4" name="Content Placeholder 2"/>
          <p:cNvSpPr>
            <a:spLocks noGrp="1"/>
          </p:cNvSpPr>
          <p:nvPr>
            <p:ph idx="24"/>
          </p:nvPr>
        </p:nvSpPr>
        <p:spPr>
          <a:xfrm>
            <a:off x="6327648" y="2471202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7"/>
          <p:cNvSpPr>
            <a:spLocks noGrp="1"/>
          </p:cNvSpPr>
          <p:nvPr>
            <p:ph type="pic" sz="quarter" idx="25"/>
          </p:nvPr>
        </p:nvSpPr>
        <p:spPr>
          <a:xfrm>
            <a:off x="6327650" y="1309911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6" name="Content Placeholder 2"/>
          <p:cNvSpPr>
            <a:spLocks noGrp="1"/>
          </p:cNvSpPr>
          <p:nvPr>
            <p:ph idx="26"/>
          </p:nvPr>
        </p:nvSpPr>
        <p:spPr>
          <a:xfrm>
            <a:off x="6327648" y="4153698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7"/>
          <p:cNvSpPr>
            <a:spLocks noGrp="1"/>
          </p:cNvSpPr>
          <p:nvPr>
            <p:ph type="pic" sz="quarter" idx="27"/>
          </p:nvPr>
        </p:nvSpPr>
        <p:spPr>
          <a:xfrm>
            <a:off x="6327650" y="2992407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8" name="Content Placeholder 2"/>
          <p:cNvSpPr>
            <a:spLocks noGrp="1"/>
          </p:cNvSpPr>
          <p:nvPr>
            <p:ph idx="28"/>
          </p:nvPr>
        </p:nvSpPr>
        <p:spPr>
          <a:xfrm>
            <a:off x="6327648" y="5836194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327650" y="4674903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0" name="Content Placeholder 2"/>
          <p:cNvSpPr>
            <a:spLocks noGrp="1"/>
          </p:cNvSpPr>
          <p:nvPr>
            <p:ph idx="30"/>
          </p:nvPr>
        </p:nvSpPr>
        <p:spPr>
          <a:xfrm>
            <a:off x="9192768" y="2471202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9192770" y="1309911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32"/>
          </p:nvPr>
        </p:nvSpPr>
        <p:spPr>
          <a:xfrm>
            <a:off x="9192768" y="4153698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Picture Placeholder 7"/>
          <p:cNvSpPr>
            <a:spLocks noGrp="1"/>
          </p:cNvSpPr>
          <p:nvPr>
            <p:ph type="pic" sz="quarter" idx="33"/>
          </p:nvPr>
        </p:nvSpPr>
        <p:spPr>
          <a:xfrm>
            <a:off x="9192770" y="2992407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4" name="Content Placeholder 2"/>
          <p:cNvSpPr>
            <a:spLocks noGrp="1"/>
          </p:cNvSpPr>
          <p:nvPr>
            <p:ph idx="34"/>
          </p:nvPr>
        </p:nvSpPr>
        <p:spPr>
          <a:xfrm>
            <a:off x="9192768" y="5836194"/>
            <a:ext cx="2389632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9192770" y="4674903"/>
            <a:ext cx="2401824" cy="11430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9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588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11588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607552" y="1289303"/>
            <a:ext cx="2999232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607552" y="2913365"/>
            <a:ext cx="2999232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607552" y="4537427"/>
            <a:ext cx="2999232" cy="15544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3" name="Content Placeholder 5"/>
          <p:cNvSpPr>
            <a:spLocks noGrp="1"/>
          </p:cNvSpPr>
          <p:nvPr>
            <p:ph sz="quarter" idx="20"/>
          </p:nvPr>
        </p:nvSpPr>
        <p:spPr>
          <a:xfrm>
            <a:off x="411588" y="1283210"/>
            <a:ext cx="7876155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5892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picture layou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609600" y="2682205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292317"/>
            <a:ext cx="2755392" cy="276999"/>
          </a:xfrm>
          <a:solidFill>
            <a:srgbClr val="97C5EB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Content Placeholder 2"/>
          <p:cNvSpPr>
            <a:spLocks noGrp="1"/>
          </p:cNvSpPr>
          <p:nvPr>
            <p:ph idx="18"/>
          </p:nvPr>
        </p:nvSpPr>
        <p:spPr>
          <a:xfrm>
            <a:off x="4718304" y="2682205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292317"/>
            <a:ext cx="2755392" cy="276999"/>
          </a:xfrm>
          <a:solidFill>
            <a:srgbClr val="97C5EB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Content Placeholder 2"/>
          <p:cNvSpPr>
            <a:spLocks noGrp="1"/>
          </p:cNvSpPr>
          <p:nvPr>
            <p:ph idx="20"/>
          </p:nvPr>
        </p:nvSpPr>
        <p:spPr>
          <a:xfrm>
            <a:off x="8839200" y="2682205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292317"/>
            <a:ext cx="2755392" cy="276999"/>
          </a:xfrm>
          <a:solidFill>
            <a:srgbClr val="97C5EB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Content Placeholder 2"/>
          <p:cNvSpPr>
            <a:spLocks noGrp="1"/>
          </p:cNvSpPr>
          <p:nvPr>
            <p:ph idx="22"/>
          </p:nvPr>
        </p:nvSpPr>
        <p:spPr>
          <a:xfrm>
            <a:off x="609600" y="4344165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2945133"/>
            <a:ext cx="2755392" cy="276999"/>
          </a:xfrm>
          <a:solidFill>
            <a:srgbClr val="97C5EB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Content Placeholder 2"/>
          <p:cNvSpPr>
            <a:spLocks noGrp="1"/>
          </p:cNvSpPr>
          <p:nvPr>
            <p:ph idx="30"/>
          </p:nvPr>
        </p:nvSpPr>
        <p:spPr>
          <a:xfrm>
            <a:off x="4730496" y="4344165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2945133"/>
            <a:ext cx="2755392" cy="276999"/>
          </a:xfrm>
          <a:solidFill>
            <a:srgbClr val="97C5EB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Content Placeholder 2"/>
          <p:cNvSpPr>
            <a:spLocks noGrp="1"/>
          </p:cNvSpPr>
          <p:nvPr>
            <p:ph idx="32"/>
          </p:nvPr>
        </p:nvSpPr>
        <p:spPr>
          <a:xfrm>
            <a:off x="4730496" y="5990482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Content Placeholder 2"/>
          <p:cNvSpPr>
            <a:spLocks noGrp="1"/>
          </p:cNvSpPr>
          <p:nvPr>
            <p:ph idx="34"/>
          </p:nvPr>
        </p:nvSpPr>
        <p:spPr>
          <a:xfrm>
            <a:off x="8839200" y="4344165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2945133"/>
            <a:ext cx="2755392" cy="276999"/>
          </a:xfrm>
          <a:solidFill>
            <a:srgbClr val="97C5EB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Content Placeholder 2"/>
          <p:cNvSpPr>
            <a:spLocks noGrp="1"/>
          </p:cNvSpPr>
          <p:nvPr>
            <p:ph idx="36"/>
          </p:nvPr>
        </p:nvSpPr>
        <p:spPr>
          <a:xfrm>
            <a:off x="8839200" y="5990482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Content Placeholder 2"/>
          <p:cNvSpPr>
            <a:spLocks noGrp="1"/>
          </p:cNvSpPr>
          <p:nvPr>
            <p:ph idx="28"/>
          </p:nvPr>
        </p:nvSpPr>
        <p:spPr>
          <a:xfrm>
            <a:off x="609600" y="5990482"/>
            <a:ext cx="2767584" cy="124651"/>
          </a:xfrm>
        </p:spPr>
        <p:txBody>
          <a:bodyPr>
            <a:noAutofit/>
          </a:bodyPr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621792" y="4591447"/>
            <a:ext cx="2755392" cy="137160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8" name="Picture Placeholder 7"/>
          <p:cNvSpPr>
            <a:spLocks noGrp="1"/>
          </p:cNvSpPr>
          <p:nvPr>
            <p:ph type="pic" sz="quarter" idx="42"/>
          </p:nvPr>
        </p:nvSpPr>
        <p:spPr>
          <a:xfrm>
            <a:off x="4730496" y="4591451"/>
            <a:ext cx="2755392" cy="276999"/>
          </a:xfrm>
          <a:solidFill>
            <a:srgbClr val="97C5EB"/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Picture Placeholder 7"/>
          <p:cNvSpPr>
            <a:spLocks noGrp="1"/>
          </p:cNvSpPr>
          <p:nvPr>
            <p:ph type="pic" sz="quarter" idx="43"/>
          </p:nvPr>
        </p:nvSpPr>
        <p:spPr>
          <a:xfrm>
            <a:off x="8839200" y="4591451"/>
            <a:ext cx="2755392" cy="276999"/>
          </a:xfrm>
          <a:solidFill>
            <a:srgbClr val="97C5EB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5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773875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2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1792" y="1310832"/>
            <a:ext cx="2755392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1" name="Content Placeholder 2"/>
          <p:cNvSpPr>
            <a:spLocks noGrp="1"/>
          </p:cNvSpPr>
          <p:nvPr>
            <p:ph idx="18"/>
          </p:nvPr>
        </p:nvSpPr>
        <p:spPr>
          <a:xfrm>
            <a:off x="4718304" y="2773875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730496" y="1310832"/>
            <a:ext cx="2755392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idx="20"/>
          </p:nvPr>
        </p:nvSpPr>
        <p:spPr>
          <a:xfrm>
            <a:off x="8827008" y="2773875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839200" y="1310832"/>
            <a:ext cx="2755392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5" name="Content Placeholder 2"/>
          <p:cNvSpPr>
            <a:spLocks noGrp="1"/>
          </p:cNvSpPr>
          <p:nvPr>
            <p:ph idx="22"/>
          </p:nvPr>
        </p:nvSpPr>
        <p:spPr>
          <a:xfrm>
            <a:off x="609600" y="4812987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21792" y="3359088"/>
            <a:ext cx="2755392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7" name="Content Placeholder 2"/>
          <p:cNvSpPr>
            <a:spLocks noGrp="1"/>
          </p:cNvSpPr>
          <p:nvPr>
            <p:ph idx="30"/>
          </p:nvPr>
        </p:nvSpPr>
        <p:spPr>
          <a:xfrm>
            <a:off x="4718304" y="4812987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7"/>
          <p:cNvSpPr>
            <a:spLocks noGrp="1"/>
          </p:cNvSpPr>
          <p:nvPr>
            <p:ph type="pic" sz="quarter" idx="31"/>
          </p:nvPr>
        </p:nvSpPr>
        <p:spPr>
          <a:xfrm>
            <a:off x="4730496" y="3359088"/>
            <a:ext cx="2755392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1" name="Content Placeholder 2"/>
          <p:cNvSpPr>
            <a:spLocks noGrp="1"/>
          </p:cNvSpPr>
          <p:nvPr>
            <p:ph idx="34"/>
          </p:nvPr>
        </p:nvSpPr>
        <p:spPr>
          <a:xfrm>
            <a:off x="8827008" y="4812987"/>
            <a:ext cx="2767584" cy="124651"/>
          </a:xfrm>
        </p:spPr>
        <p:txBody>
          <a:bodyPr/>
          <a:lstStyle>
            <a:lvl1pPr algn="l">
              <a:defRPr sz="900" b="1"/>
            </a:lvl1pPr>
            <a:lvl2pPr marL="0" indent="0">
              <a:buNone/>
              <a:defRPr sz="900" b="0"/>
            </a:lvl2pPr>
            <a:lvl3pPr>
              <a:defRPr sz="900" b="0"/>
            </a:lvl3pPr>
            <a:lvl4pPr>
              <a:defRPr sz="900" b="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35"/>
          </p:nvPr>
        </p:nvSpPr>
        <p:spPr>
          <a:xfrm>
            <a:off x="8839200" y="3359088"/>
            <a:ext cx="2755392" cy="1389888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16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ottom Content with tw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73" y="457203"/>
            <a:ext cx="11314075" cy="3785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590" y="4352545"/>
            <a:ext cx="10972801" cy="1294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48173" y="777243"/>
            <a:ext cx="11314075" cy="323165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48174" y="1310832"/>
            <a:ext cx="5487829" cy="29260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42305" y="1310832"/>
            <a:ext cx="5487829" cy="2926080"/>
          </a:xfrm>
          <a:solidFill>
            <a:srgbClr val="97C5EB"/>
          </a:solidFill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36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 userDrawn="1"/>
        </p:nvSpPr>
        <p:spPr bwMode="auto">
          <a:xfrm>
            <a:off x="586320" y="6658303"/>
            <a:ext cx="2753783" cy="110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142" tIns="9142" rIns="9142" bIns="9142" anchor="b">
            <a:spAutoFit/>
          </a:bodyPr>
          <a:lstStyle/>
          <a:p>
            <a:pPr defTabSz="82047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>
                <a:solidFill>
                  <a:srgbClr val="FFFFFF">
                    <a:lumMod val="50000"/>
                  </a:srgbClr>
                </a:solidFill>
              </a:rPr>
              <a:t>Copyright © 2020 Boeing.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68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6" progId="TCLayout.ActiveDocument.1">
                  <p:embed/>
                </p:oleObj>
              </mc:Choice>
              <mc:Fallback>
                <p:oleObj name="think-cell Slide" r:id="rId4" imgW="347" imgH="34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2A09FAF-36FC-448E-890E-061F32680BA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3"/>
            <a:ext cx="158751" cy="15875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999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B18F8F2-47F3-459F-9498-106D3DDE121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3"/>
            <a:ext cx="12192000" cy="6858000"/>
          </a:xfrm>
          <a:prstGeom prst="rect">
            <a:avLst/>
          </a:prstGeom>
        </p:spPr>
      </p:pic>
      <p:sp>
        <p:nvSpPr>
          <p:cNvPr id="5" name="doc id" hidden="1"/>
          <p:cNvSpPr>
            <a:spLocks noChangeArrowheads="1"/>
          </p:cNvSpPr>
          <p:nvPr userDrawn="1"/>
        </p:nvSpPr>
        <p:spPr bwMode="gray">
          <a:xfrm flipH="1">
            <a:off x="10658004" y="51837"/>
            <a:ext cx="1231563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217631" fontAlgn="base">
              <a:spcBef>
                <a:spcPct val="0"/>
              </a:spcBef>
              <a:spcAft>
                <a:spcPct val="0"/>
              </a:spcAft>
            </a:pPr>
            <a:endParaRPr lang="x-none" sz="612">
              <a:solidFill>
                <a:srgbClr val="FFA200"/>
              </a:solidFill>
            </a:endParaRPr>
          </a:p>
        </p:txBody>
      </p:sp>
      <p:pic>
        <p:nvPicPr>
          <p:cNvPr id="24" name="Picture 54" descr="Boeing_white_largePPT">
            <a:extLst>
              <a:ext uri="{FF2B5EF4-FFF2-40B4-BE49-F238E27FC236}">
                <a16:creationId xmlns:a16="http://schemas.microsoft.com/office/drawing/2014/main" id="{8EE2F6CA-4B7D-4512-A14C-1B8705814C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9740" y="2981328"/>
            <a:ext cx="3692525" cy="895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5">
            <a:extLst>
              <a:ext uri="{FF2B5EF4-FFF2-40B4-BE49-F238E27FC236}">
                <a16:creationId xmlns:a16="http://schemas.microsoft.com/office/drawing/2014/main" id="{25BCA823-5FB1-4948-BBD7-4E3845D45F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2121" y="6628717"/>
            <a:ext cx="2064800" cy="1061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857" tIns="6857" rIns="6857" bIns="6857" anchor="b">
            <a:spAutoFit/>
          </a:bodyPr>
          <a:lstStyle/>
          <a:p>
            <a:pPr defTabSz="61535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600">
                <a:solidFill>
                  <a:srgbClr val="FFFFFF"/>
                </a:solidFill>
                <a:ea typeface="Arial" charset="0"/>
                <a:cs typeface="Arial" charset="0"/>
              </a:rPr>
              <a:t>Copyright © 2021 Boeing. All rights reserved.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7AECEA08-3F6F-48CF-A4A5-D659518A95D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324270" y="6645993"/>
            <a:ext cx="1551707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>
                    <a:lumMod val="50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FFFFFF"/>
                </a:solidFill>
              </a:rPr>
              <a:t>BOEING / DELL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4262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489">
          <p15:clr>
            <a:srgbClr val="F26B43"/>
          </p15:clr>
        </p15:guide>
        <p15:guide id="2" pos="101">
          <p15:clr>
            <a:srgbClr val="F26B43"/>
          </p15:clr>
        </p15:guide>
        <p15:guide id="3" orient="horz" pos="701">
          <p15:clr>
            <a:srgbClr val="F26B43"/>
          </p15:clr>
        </p15:guide>
        <p15:guide id="4" orient="horz" pos="3991">
          <p15:clr>
            <a:srgbClr val="F26B43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>
                    <a:lumMod val="50000"/>
                  </a:srgbClr>
                </a:solidFill>
              </a:rPr>
              <a:t>Author, </a:t>
            </a:r>
            <a:fld id="{D72BAC86-7CA1-47DD-8EAD-39EA91178256}" type="datetime1">
              <a:rPr lang="en-US" smtClean="0">
                <a:solidFill>
                  <a:srgbClr val="FFFFFF">
                    <a:lumMod val="50000"/>
                  </a:srgbClr>
                </a:solidFill>
              </a:rPr>
              <a:pPr/>
              <a:t>2/19/2026</a:t>
            </a:fld>
            <a:r>
              <a:rPr lang="en-US">
                <a:solidFill>
                  <a:srgbClr val="FFFFFF">
                    <a:lumMod val="50000"/>
                  </a:srgbClr>
                </a:solidFill>
              </a:rPr>
              <a:t>, Filename.ppt </a:t>
            </a:r>
            <a:r>
              <a:rPr lang="en-US" sz="1000">
                <a:solidFill>
                  <a:srgbClr val="FFFFFF">
                    <a:lumMod val="50000"/>
                  </a:srgbClr>
                </a:solidFill>
              </a:rPr>
              <a:t>| </a:t>
            </a:r>
            <a:fld id="{689318A1-174D-4DEE-8106-03A37B9BCF15}" type="slidenum">
              <a:rPr lang="en-US" sz="1000" smtClean="0">
                <a:solidFill>
                  <a:srgbClr val="FFFFFF">
                    <a:lumMod val="50000"/>
                  </a:srgbClr>
                </a:solidFill>
              </a:rPr>
              <a:pPr/>
              <a:t>‹#›</a:t>
            </a:fld>
            <a:endParaRPr lang="en-US" sz="100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25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E8D6DA-7E9F-6067-BF8C-83B379F1783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965C10-0FFF-8B58-128F-15DC919A46F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7F470-1308-FDD7-A596-92A2DFFFE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07332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A6530-EBF8-4A13-ADE2-C3D8F0DCD8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7D39E7E-CD03-514C-4564-FD7BF9088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</p:spTree>
    <p:extLst>
      <p:ext uri="{BB962C8B-B14F-4D97-AF65-F5344CB8AC3E}">
        <p14:creationId xmlns:p14="http://schemas.microsoft.com/office/powerpoint/2010/main" val="24517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5" r:id="rId2"/>
    <p:sldLayoutId id="2147483693" r:id="rId3"/>
    <p:sldLayoutId id="2147483659" r:id="rId4"/>
    <p:sldLayoutId id="2147483687" r:id="rId5"/>
    <p:sldLayoutId id="2147483689" r:id="rId6"/>
    <p:sldLayoutId id="2147483690" r:id="rId7"/>
    <p:sldLayoutId id="2147483694" r:id="rId8"/>
    <p:sldLayoutId id="2147483692" r:id="rId9"/>
    <p:sldLayoutId id="2147483655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oeingMeso-Regular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oeing 12 column grid" hidden="1"/>
          <p:cNvGrpSpPr/>
          <p:nvPr userDrawn="1"/>
        </p:nvGrpSpPr>
        <p:grpSpPr>
          <a:xfrm>
            <a:off x="11579" y="0"/>
            <a:ext cx="12195176" cy="6858000"/>
            <a:chOff x="0" y="0"/>
            <a:chExt cx="12192000" cy="6858000"/>
          </a:xfrm>
        </p:grpSpPr>
        <p:grpSp>
          <p:nvGrpSpPr>
            <p:cNvPr id="13" name="Group 12"/>
            <p:cNvGrpSpPr/>
            <p:nvPr userDrawn="1"/>
          </p:nvGrpSpPr>
          <p:grpSpPr>
            <a:xfrm>
              <a:off x="0" y="0"/>
              <a:ext cx="12188825" cy="6858000"/>
              <a:chOff x="0" y="0"/>
              <a:chExt cx="12188825" cy="6858000"/>
            </a:xfrm>
          </p:grpSpPr>
          <p:grpSp>
            <p:nvGrpSpPr>
              <p:cNvPr id="15" name="Boeing 12 column grid"/>
              <p:cNvGrpSpPr/>
              <p:nvPr userDrawn="1"/>
            </p:nvGrpSpPr>
            <p:grpSpPr>
              <a:xfrm>
                <a:off x="0" y="461727"/>
                <a:ext cx="12188825" cy="5957180"/>
                <a:chOff x="129803" y="456356"/>
                <a:chExt cx="8890818" cy="5958732"/>
              </a:xfrm>
            </p:grpSpPr>
            <p:cxnSp>
              <p:nvCxnSpPr>
                <p:cNvPr id="20" name="Straight Connector 19"/>
                <p:cNvCxnSpPr/>
                <p:nvPr userDrawn="1"/>
              </p:nvCxnSpPr>
              <p:spPr>
                <a:xfrm>
                  <a:off x="471778" y="995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1" name="Straight Connector 20"/>
                <p:cNvCxnSpPr/>
                <p:nvPr userDrawn="1"/>
              </p:nvCxnSpPr>
              <p:spPr>
                <a:xfrm>
                  <a:off x="471778" y="1291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2" name="Straight Connector 21"/>
                <p:cNvCxnSpPr/>
                <p:nvPr userDrawn="1"/>
              </p:nvCxnSpPr>
              <p:spPr>
                <a:xfrm>
                  <a:off x="464396" y="2136995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/>
                <p:cNvCxnSpPr/>
                <p:nvPr userDrawn="1"/>
              </p:nvCxnSpPr>
              <p:spPr>
                <a:xfrm>
                  <a:off x="464396" y="2432456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4" name="Straight Connector 23"/>
                <p:cNvCxnSpPr/>
                <p:nvPr userDrawn="1"/>
              </p:nvCxnSpPr>
              <p:spPr>
                <a:xfrm>
                  <a:off x="459993" y="3288274"/>
                  <a:ext cx="8223097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466598" y="3583735"/>
                  <a:ext cx="821649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464396" y="4424269"/>
                  <a:ext cx="8218694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462195" y="4719730"/>
                  <a:ext cx="8220896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471778" y="5567906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471778" y="586336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0" name="Rectangle 29"/>
                <p:cNvSpPr/>
                <p:nvPr userDrawn="1"/>
              </p:nvSpPr>
              <p:spPr>
                <a:xfrm>
                  <a:off x="463550" y="456356"/>
                  <a:ext cx="8223250" cy="5944444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799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471782" y="1143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129803" y="2284726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463550" y="3432679"/>
                  <a:ext cx="8223250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129803" y="4572000"/>
                  <a:ext cx="8890818" cy="0"/>
                </a:xfrm>
                <a:prstGeom prst="lin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471782" y="5715637"/>
                  <a:ext cx="8211312" cy="0"/>
                </a:xfrm>
                <a:prstGeom prst="line">
                  <a:avLst/>
                </a:prstGeom>
                <a:noFill/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36" name="Group 35"/>
                <p:cNvGrpSpPr/>
                <p:nvPr userDrawn="1"/>
              </p:nvGrpSpPr>
              <p:grpSpPr>
                <a:xfrm>
                  <a:off x="1043681" y="457200"/>
                  <a:ext cx="7060730" cy="5957888"/>
                  <a:chOff x="1043681" y="0"/>
                  <a:chExt cx="7060730" cy="6858000"/>
                </a:xfrm>
              </p:grpSpPr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457081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8" name="Straight Connector 20"/>
                  <p:cNvCxnSpPr/>
                  <p:nvPr/>
                </p:nvCxnSpPr>
                <p:spPr>
                  <a:xfrm>
                    <a:off x="104368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9" name="Straight Connector 15"/>
                  <p:cNvCxnSpPr/>
                  <p:nvPr/>
                </p:nvCxnSpPr>
                <p:spPr>
                  <a:xfrm>
                    <a:off x="11584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174150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>
                    <a:off x="185298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243709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532550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" name="Straight Connector 43"/>
                  <p:cNvCxnSpPr/>
                  <p:nvPr/>
                </p:nvCxnSpPr>
                <p:spPr>
                  <a:xfrm>
                    <a:off x="25473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" name="Straight Connector 44"/>
                  <p:cNvCxnSpPr/>
                  <p:nvPr userDrawn="1"/>
                </p:nvCxnSpPr>
                <p:spPr>
                  <a:xfrm>
                    <a:off x="3128876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6" name="Straight Connector 45"/>
                  <p:cNvCxnSpPr/>
                  <p:nvPr userDrawn="1"/>
                </p:nvCxnSpPr>
                <p:spPr>
                  <a:xfrm>
                    <a:off x="324337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7" name="Straight Connector 46"/>
                  <p:cNvCxnSpPr/>
                  <p:nvPr userDrawn="1"/>
                </p:nvCxnSpPr>
                <p:spPr>
                  <a:xfrm>
                    <a:off x="382641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8" name="Straight Connector 47"/>
                  <p:cNvCxnSpPr/>
                  <p:nvPr userDrawn="1"/>
                </p:nvCxnSpPr>
                <p:spPr>
                  <a:xfrm>
                    <a:off x="3937473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9" name="Straight Connector 48"/>
                  <p:cNvCxnSpPr/>
                  <p:nvPr userDrawn="1"/>
                </p:nvCxnSpPr>
                <p:spPr>
                  <a:xfrm>
                    <a:off x="452230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/>
                  <p:cNvCxnSpPr/>
                  <p:nvPr userDrawn="1"/>
                </p:nvCxnSpPr>
                <p:spPr>
                  <a:xfrm>
                    <a:off x="462823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/>
                  <p:cNvCxnSpPr/>
                  <p:nvPr userDrawn="1"/>
                </p:nvCxnSpPr>
                <p:spPr>
                  <a:xfrm>
                    <a:off x="5213787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/>
                  <p:cNvCxnSpPr/>
                  <p:nvPr userDrawn="1"/>
                </p:nvCxnSpPr>
                <p:spPr>
                  <a:xfrm>
                    <a:off x="8104411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3" name="Straight Connector 52"/>
                  <p:cNvCxnSpPr/>
                  <p:nvPr userDrawn="1"/>
                </p:nvCxnSpPr>
                <p:spPr>
                  <a:xfrm>
                    <a:off x="590715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4" name="Straight Connector 53"/>
                  <p:cNvCxnSpPr/>
                  <p:nvPr userDrawn="1"/>
                </p:nvCxnSpPr>
                <p:spPr>
                  <a:xfrm>
                    <a:off x="6019769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5" name="Straight Connector 54"/>
                  <p:cNvCxnSpPr/>
                  <p:nvPr userDrawn="1"/>
                </p:nvCxnSpPr>
                <p:spPr>
                  <a:xfrm>
                    <a:off x="6605010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Straight Connector 55"/>
                  <p:cNvCxnSpPr/>
                  <p:nvPr userDrawn="1"/>
                </p:nvCxnSpPr>
                <p:spPr>
                  <a:xfrm>
                    <a:off x="6713862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7" name="Straight Connector 56"/>
                  <p:cNvCxnSpPr/>
                  <p:nvPr userDrawn="1"/>
                </p:nvCxnSpPr>
                <p:spPr>
                  <a:xfrm>
                    <a:off x="729868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8" name="Straight Connector 57"/>
                  <p:cNvCxnSpPr/>
                  <p:nvPr userDrawn="1"/>
                </p:nvCxnSpPr>
                <p:spPr>
                  <a:xfrm>
                    <a:off x="740902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9" name="Straight Connector 58"/>
                  <p:cNvCxnSpPr/>
                  <p:nvPr userDrawn="1"/>
                </p:nvCxnSpPr>
                <p:spPr>
                  <a:xfrm>
                    <a:off x="7990175" y="0"/>
                    <a:ext cx="0" cy="6858000"/>
                  </a:xfrm>
                  <a:prstGeom prst="line">
                    <a:avLst/>
                  </a:prstGeom>
                  <a:noFill/>
                  <a:ln w="6350">
                    <a:solidFill>
                      <a:schemeClr val="accent1">
                        <a:lumMod val="20000"/>
                        <a:lumOff val="8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16" name="Group 41"/>
              <p:cNvGrpSpPr/>
              <p:nvPr userDrawn="1"/>
            </p:nvGrpSpPr>
            <p:grpSpPr>
              <a:xfrm>
                <a:off x="7002578" y="0"/>
                <a:ext cx="5178519" cy="6858000"/>
                <a:chOff x="3954578" y="0"/>
                <a:chExt cx="5178519" cy="6858000"/>
              </a:xfrm>
            </p:grpSpPr>
            <p:cxnSp>
              <p:nvCxnSpPr>
                <p:cNvPr id="17" name="Straight Connector 16"/>
                <p:cNvCxnSpPr/>
                <p:nvPr userDrawn="1"/>
              </p:nvCxnSpPr>
              <p:spPr>
                <a:xfrm flipH="1">
                  <a:off x="3954578" y="0"/>
                  <a:ext cx="5167884" cy="6858000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 userDrawn="1"/>
              </p:nvCxnSpPr>
              <p:spPr>
                <a:xfrm flipH="1">
                  <a:off x="5670489" y="2280213"/>
                  <a:ext cx="3449617" cy="4577787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 userDrawn="1"/>
              </p:nvCxnSpPr>
              <p:spPr>
                <a:xfrm flipH="1">
                  <a:off x="7419192" y="4583575"/>
                  <a:ext cx="1713905" cy="2274425"/>
                </a:xfrm>
                <a:prstGeom prst="line">
                  <a:avLst/>
                </a:prstGeom>
                <a:ln w="3175">
                  <a:solidFill>
                    <a:schemeClr val="accent1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" name="Straight Connector 13"/>
            <p:cNvCxnSpPr/>
            <p:nvPr userDrawn="1"/>
          </p:nvCxnSpPr>
          <p:spPr>
            <a:xfrm flipH="1">
              <a:off x="9599143" y="3419347"/>
              <a:ext cx="2592857" cy="3438653"/>
            </a:xfrm>
            <a:prstGeom prst="line">
              <a:avLst/>
            </a:prstGeom>
            <a:ln w="3175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45571" y="458733"/>
            <a:ext cx="11312241" cy="37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9736" y="1284671"/>
            <a:ext cx="11314075" cy="12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0315" y="6532566"/>
            <a:ext cx="2707071" cy="219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" tIns="9144" rIns="9144" bIns="914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>
                    <a:lumMod val="50000"/>
                  </a:srgbClr>
                </a:solidFill>
              </a:rPr>
              <a:t>BOEING PROPRIETARY  / DELL CONFIDENTIAL | </a:t>
            </a:r>
            <a:fld id="{689318A1-174D-4DEE-8106-03A37B9BCF15}" type="slidenum">
              <a:rPr lang="en-US" smtClean="0">
                <a:solidFill>
                  <a:srgbClr val="FFFFFF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72" name="Rectangle 2"/>
          <p:cNvSpPr>
            <a:spLocks noChangeArrowheads="1"/>
          </p:cNvSpPr>
          <p:nvPr userDrawn="1"/>
        </p:nvSpPr>
        <p:spPr bwMode="auto">
          <a:xfrm>
            <a:off x="2" y="-9144"/>
            <a:ext cx="12192000" cy="28346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799">
              <a:solidFill>
                <a:srgbClr val="000000"/>
              </a:solidFill>
            </a:endParaRPr>
          </a:p>
        </p:txBody>
      </p:sp>
      <p:sp>
        <p:nvSpPr>
          <p:cNvPr id="96" name="TextBox 95"/>
          <p:cNvSpPr txBox="1"/>
          <p:nvPr userDrawn="1"/>
        </p:nvSpPr>
        <p:spPr>
          <a:xfrm>
            <a:off x="5064403" y="49171"/>
            <a:ext cx="6693408" cy="1538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Dell Technologies </a:t>
            </a: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97" name="TextBox 96"/>
          <p:cNvSpPr txBox="1"/>
          <p:nvPr userDrawn="1"/>
        </p:nvSpPr>
        <p:spPr>
          <a:xfrm>
            <a:off x="452910" y="52068"/>
            <a:ext cx="7342611" cy="142807"/>
          </a:xfrm>
          <a:prstGeom prst="rect">
            <a:avLst/>
          </a:prstGeom>
          <a:noFill/>
        </p:spPr>
        <p:txBody>
          <a:bodyPr wrap="square" lIns="0" tIns="45708" rIns="0" bIns="45708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solidFill>
                  <a:srgbClr val="FFFFFF"/>
                </a:solidFill>
              </a:rPr>
              <a:t>Information Technology &amp; Data Analytics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6DE5E-B06E-9FD6-B716-2DE573DA433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3272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Dell Customer Communication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3844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02043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399" b="0">
          <a:solidFill>
            <a:sysClr val="windowText" lastClr="000000"/>
          </a:solidFill>
          <a:latin typeface="+mj-lt"/>
          <a:ea typeface="+mj-ea"/>
          <a:cs typeface="+mj-cs"/>
        </a:defRPr>
      </a:lvl1pPr>
      <a:lvl2pPr algn="l" defTabSz="102043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Arial" charset="0"/>
        </a:defRPr>
      </a:lvl2pPr>
      <a:lvl3pPr algn="l" defTabSz="102043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Arial" charset="0"/>
        </a:defRPr>
      </a:lvl3pPr>
      <a:lvl4pPr algn="l" defTabSz="102043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Arial" charset="0"/>
        </a:defRPr>
      </a:lvl4pPr>
      <a:lvl5pPr algn="l" defTabSz="102043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Arial" charset="0"/>
        </a:defRPr>
      </a:lvl5pPr>
      <a:lvl6pPr marL="457052" algn="l" defTabSz="102043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Arial" charset="0"/>
        </a:defRPr>
      </a:lvl6pPr>
      <a:lvl7pPr marL="914103" algn="l" defTabSz="102043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Arial" charset="0"/>
        </a:defRPr>
      </a:lvl7pPr>
      <a:lvl8pPr marL="1371155" algn="l" defTabSz="102043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Arial" charset="0"/>
        </a:defRPr>
      </a:lvl8pPr>
      <a:lvl9pPr marL="1828205" algn="l" defTabSz="1020431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Arial" charset="0"/>
        </a:defRPr>
      </a:lvl9pPr>
    </p:titleStyle>
    <p:bodyStyle>
      <a:lvl1pPr marL="0" indent="0" algn="l" defTabSz="820472" rtl="0" eaLnBrk="1" fontAlgn="base" hangingPunct="1">
        <a:lnSpc>
          <a:spcPct val="90000"/>
        </a:lnSpc>
        <a:spcBef>
          <a:spcPts val="72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"/>
        <a:defRPr sz="1999" b="1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831" indent="-172982" algn="l" defTabSz="820472" rtl="0" eaLnBrk="1" fontAlgn="base" hangingPunct="1">
        <a:lnSpc>
          <a:spcPct val="90000"/>
        </a:lnSpc>
        <a:spcBef>
          <a:spcPts val="72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▪"/>
        <a:defRPr sz="1999">
          <a:solidFill>
            <a:schemeClr val="tx1">
              <a:lumMod val="75000"/>
              <a:lumOff val="25000"/>
            </a:schemeClr>
          </a:solidFill>
          <a:latin typeface="+mn-lt"/>
        </a:defRPr>
      </a:lvl2pPr>
      <a:lvl3pPr marL="507835" indent="-184091" algn="l" defTabSz="820472" rtl="0" eaLnBrk="1" fontAlgn="base" hangingPunct="1">
        <a:lnSpc>
          <a:spcPct val="90000"/>
        </a:lnSpc>
        <a:spcBef>
          <a:spcPts val="72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▪"/>
        <a:defRPr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803014" indent="-225352" algn="l" defTabSz="820472" rtl="0" eaLnBrk="1" fontAlgn="base" hangingPunct="1">
        <a:lnSpc>
          <a:spcPct val="90000"/>
        </a:lnSpc>
        <a:spcBef>
          <a:spcPts val="72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4pPr>
      <a:lvl5pPr marL="956952" indent="-163460" algn="l" defTabSz="820472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>
              <a:lumMod val="75000"/>
              <a:lumOff val="25000"/>
            </a:schemeClr>
          </a:solidFill>
          <a:latin typeface="+mn-lt"/>
        </a:defRPr>
      </a:lvl5pPr>
      <a:lvl6pPr marL="1414003" indent="-163460" algn="l" defTabSz="820472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6pPr>
      <a:lvl7pPr marL="1871055" indent="-163460" algn="l" defTabSz="820472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7pPr>
      <a:lvl8pPr marL="2328105" indent="-163460" algn="l" defTabSz="820472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8pPr>
      <a:lvl9pPr marL="2785157" indent="-163460" algn="l" defTabSz="820472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52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03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5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5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7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8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0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2" algn="l" defTabSz="91410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69F0-52AA-B51B-8BCD-63D9D3B8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30" y="3221422"/>
            <a:ext cx="10972800" cy="1311128"/>
          </a:xfrm>
        </p:spPr>
        <p:txBody>
          <a:bodyPr/>
          <a:lstStyle/>
          <a:p>
            <a:r>
              <a:rPr lang="en-US"/>
              <a:t>New Rocket Now Assist</a:t>
            </a:r>
            <a:br>
              <a:rPr lang="en-US"/>
            </a:br>
            <a:r>
              <a:rPr lang="en-US"/>
              <a:t>POC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A6814-B32D-89AD-046E-BCFD488E4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7930" y="4682885"/>
            <a:ext cx="10972800" cy="405239"/>
          </a:xfrm>
        </p:spPr>
        <p:txBody>
          <a:bodyPr/>
          <a:lstStyle/>
          <a:p>
            <a:r>
              <a:rPr lang="en-US"/>
              <a:t>Byran Zigler</a:t>
            </a:r>
          </a:p>
          <a:p>
            <a:r>
              <a:rPr lang="en-US"/>
              <a:t>10/30/2025</a:t>
            </a:r>
          </a:p>
        </p:txBody>
      </p:sp>
    </p:spTree>
    <p:extLst>
      <p:ext uri="{BB962C8B-B14F-4D97-AF65-F5344CB8AC3E}">
        <p14:creationId xmlns:p14="http://schemas.microsoft.com/office/powerpoint/2010/main" val="267066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DC70-504F-EF1A-3C11-1EDEDCB9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GSEP AI Enabled Capabilities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7F16C6-DF26-98D3-20C3-2974F99EA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3B629C1-E637-6023-A461-6E78E21914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7248524"/>
              </p:ext>
            </p:extLst>
          </p:nvPr>
        </p:nvGraphicFramePr>
        <p:xfrm>
          <a:off x="838200" y="152582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155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B6A8-1D3B-4D66-92B7-891328175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1 - Agent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D0080E-1BFF-CA0D-8182-14FC5E32E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401EB-A6AA-A1A0-EA54-DD4C456EE1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8309" y="1168117"/>
            <a:ext cx="5158984" cy="4521766"/>
          </a:xfrm>
        </p:spPr>
        <p:txBody>
          <a:bodyPr lIns="0" tIns="45720" rIns="0" bIns="45720" anchor="t"/>
          <a:lstStyle/>
          <a:p>
            <a:pPr marL="60325" indent="-4445"/>
            <a:r>
              <a:rPr lang="en-US"/>
              <a:t>Use Agent to Manage Incidents.</a:t>
            </a:r>
          </a:p>
          <a:p>
            <a:pPr marL="60325" indent="-4445"/>
            <a:endParaRPr lang="en-US"/>
          </a:p>
          <a:p>
            <a:pPr marL="398145" indent="-342900">
              <a:buFont typeface="+mj-lt"/>
              <a:buAutoNum type="arabicPeriod"/>
            </a:pPr>
            <a:r>
              <a:rPr lang="en-US"/>
              <a:t>Assess incidents being created by AskBoeing and Through General Troubleshooting.</a:t>
            </a:r>
          </a:p>
          <a:p>
            <a:pPr marL="798195" lvl="1" indent="-285750">
              <a:buFont typeface="Arial" panose="020B0604020202020204" pitchFamily="34" charset="0"/>
              <a:buChar char="•"/>
            </a:pPr>
            <a:r>
              <a:rPr lang="en-US"/>
              <a:t>Suggest KB Articles</a:t>
            </a:r>
          </a:p>
          <a:p>
            <a:pPr marL="798195" lvl="1" indent="-285750">
              <a:buFont typeface="Arial" panose="020B0604020202020204" pitchFamily="34" charset="0"/>
              <a:buChar char="•"/>
            </a:pPr>
            <a:r>
              <a:rPr lang="en-US"/>
              <a:t>Determine most likely relevant KB</a:t>
            </a:r>
          </a:p>
          <a:p>
            <a:pPr marL="798195" lvl="1" indent="-285750">
              <a:buFont typeface="Arial" panose="020B0604020202020204" pitchFamily="34" charset="0"/>
              <a:buChar char="•"/>
            </a:pPr>
            <a:r>
              <a:rPr lang="en-US"/>
              <a:t>Route to appropriate Assignment group</a:t>
            </a:r>
          </a:p>
          <a:p>
            <a:pPr marL="798195" lvl="1" indent="-28575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00FFFF"/>
                </a:highlight>
                <a:latin typeface="Arial"/>
                <a:cs typeface="Arial"/>
              </a:rPr>
              <a:t>[Mylène]Phoebe will attach the appropriate knowledge article to the incident and that should fill in the good info, including assignment group.</a:t>
            </a:r>
          </a:p>
          <a:p>
            <a:pPr marL="398145" indent="-342900">
              <a:buFont typeface="+mj-lt"/>
              <a:buAutoNum type="arabicPeriod"/>
            </a:pPr>
            <a:endParaRPr lang="en-US">
              <a:highlight>
                <a:srgbClr val="00FFFF"/>
              </a:highlight>
            </a:endParaRPr>
          </a:p>
          <a:p>
            <a:pPr marL="855345" lvl="1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98145" indent="-342900">
              <a:buFont typeface="+mj-lt"/>
              <a:buAutoNum type="arabicPeriod"/>
            </a:pP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CF99A39-88EB-186F-96C8-38539C00BE11}"/>
              </a:ext>
            </a:extLst>
          </p:cNvPr>
          <p:cNvSpPr txBox="1">
            <a:spLocks/>
          </p:cNvSpPr>
          <p:nvPr/>
        </p:nvSpPr>
        <p:spPr>
          <a:xfrm>
            <a:off x="6514708" y="1596455"/>
            <a:ext cx="5158984" cy="4521766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2"/>
            <a:r>
              <a:rPr lang="en-US"/>
              <a:t>Measures </a:t>
            </a:r>
          </a:p>
          <a:p>
            <a:pPr marL="55562"/>
            <a:r>
              <a:rPr lang="en-US"/>
              <a:t>Improved First Time routing of “General Tickets”</a:t>
            </a:r>
          </a:p>
          <a:p>
            <a:pPr marL="55562"/>
            <a:r>
              <a:rPr lang="en-US"/>
              <a:t>#of tickets re-routed/ # of tickets routed </a:t>
            </a:r>
          </a:p>
          <a:p>
            <a:pPr marL="55562"/>
            <a:endParaRPr lang="en-US"/>
          </a:p>
          <a:p>
            <a:pPr marL="55562"/>
            <a:endParaRPr lang="en-US"/>
          </a:p>
          <a:p>
            <a:pPr marL="55562"/>
            <a:endParaRPr lang="en-US"/>
          </a:p>
          <a:p>
            <a:pPr marL="55562"/>
            <a:r>
              <a:rPr lang="en-US"/>
              <a:t>Improved Response to re-opened tickets</a:t>
            </a:r>
          </a:p>
          <a:p>
            <a:pPr marL="55562"/>
            <a:r>
              <a:rPr lang="en-US"/>
              <a:t>Time from Resolved </a:t>
            </a:r>
            <a:r>
              <a:rPr lang="en-US">
                <a:sym typeface="Wingdings" panose="05000000000000000000" pitchFamily="2" charset="2"/>
              </a:rPr>
              <a:t> In Progress to comment by agent is reduced.</a:t>
            </a:r>
            <a:endParaRPr lang="en-US"/>
          </a:p>
          <a:p>
            <a:pPr marL="55562"/>
            <a:endParaRPr lang="en-US"/>
          </a:p>
          <a:p>
            <a:pPr marL="55562"/>
            <a:endParaRPr lang="en-US"/>
          </a:p>
          <a:p>
            <a:pPr marL="55562"/>
            <a:r>
              <a:rPr lang="en-US"/>
              <a:t>Automation savings  #of Automated closures</a:t>
            </a:r>
          </a:p>
          <a:p>
            <a:pPr marL="55562"/>
            <a:endParaRPr lang="en-US"/>
          </a:p>
          <a:p>
            <a:pPr marL="5556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1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B1B3-1A34-3903-E8EC-65875145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4234-42DB-9C5F-FEA9-C218B5F9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1 - Agent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1B747-C991-7171-583F-0BA1B1C45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AA075-8C89-0103-96B2-3B26B662BB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8309" y="1168117"/>
            <a:ext cx="5158984" cy="4521766"/>
          </a:xfrm>
        </p:spPr>
        <p:txBody>
          <a:bodyPr lIns="0" tIns="45720" rIns="0" bIns="45720" anchor="t"/>
          <a:lstStyle/>
          <a:p>
            <a:pPr marL="60325" indent="-4445"/>
            <a:r>
              <a:rPr lang="en-US"/>
              <a:t>Use Agent to Manage Incidents.</a:t>
            </a:r>
          </a:p>
          <a:p>
            <a:pPr marL="60325" indent="-4445"/>
            <a:endParaRPr lang="en-US"/>
          </a:p>
          <a:p>
            <a:pPr marL="398145" indent="-342900">
              <a:buFont typeface="+mj-lt"/>
              <a:buAutoNum type="arabicPeriod"/>
            </a:pPr>
            <a:r>
              <a:rPr lang="en-US">
                <a:latin typeface="Arial"/>
                <a:cs typeface="Arial"/>
              </a:rPr>
              <a:t>Manage Re-Open Incidents</a:t>
            </a: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/>
              <a:t>Prompt for information on why they are re-opening Incident</a:t>
            </a: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/>
              <a:t>Route to appropriate Assignment group</a:t>
            </a: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00FFFF"/>
                </a:highlight>
              </a:rPr>
              <a:t>[Mylène] Phoebe should trigger on state change from Resolved </a:t>
            </a:r>
            <a:r>
              <a:rPr lang="en-US">
                <a:highlight>
                  <a:srgbClr val="00FFFF"/>
                </a:highlight>
                <a:sym typeface="Wingdings" panose="05000000000000000000" pitchFamily="2" charset="2"/>
              </a:rPr>
              <a:t> In progress</a:t>
            </a:r>
            <a:endParaRPr lang="en-US">
              <a:highlight>
                <a:srgbClr val="00FFFF"/>
              </a:highlight>
            </a:endParaRP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00FFFF"/>
                </a:highlight>
                <a:sym typeface="Wingdings" panose="05000000000000000000" pitchFamily="2" charset="2"/>
              </a:rPr>
              <a:t>[Mylène] Phoebe should analyze resolution notes, provide further details with KB</a:t>
            </a:r>
            <a:endParaRPr lang="en-US">
              <a:highlight>
                <a:srgbClr val="00FFFF"/>
              </a:highlight>
            </a:endParaRP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00FFFF"/>
                </a:highlight>
                <a:sym typeface="Wingdings" panose="05000000000000000000" pitchFamily="2" charset="2"/>
              </a:rPr>
              <a:t>[Mylène] Phoebe should ask more questions to the requestor through the additional comment in the incident</a:t>
            </a:r>
            <a:endParaRPr lang="en-US">
              <a:highlight>
                <a:srgbClr val="00FFFF"/>
              </a:highlight>
            </a:endParaRP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00FFFF"/>
                </a:highlight>
                <a:latin typeface="Arial"/>
                <a:cs typeface="Arial"/>
              </a:rPr>
              <a:t>[Mylène] Phoebe should open a new incident if the request seems to be something completely new, this should be supervised, and the requestor should agree to open a new incident, if they say no, ticket would be re-opened and </a:t>
            </a:r>
            <a:endParaRPr lang="en-US">
              <a:highlight>
                <a:srgbClr val="00FFFF"/>
              </a:highlight>
            </a:endParaRPr>
          </a:p>
          <a:p>
            <a:pPr marL="855345" lvl="1" indent="-342900">
              <a:buFont typeface="Arial" panose="020B0604020202020204" pitchFamily="34" charset="0"/>
              <a:buChar char="•"/>
            </a:pPr>
            <a:endParaRPr lang="en-US">
              <a:highlight>
                <a:srgbClr val="00FFFF"/>
              </a:highlight>
            </a:endParaRPr>
          </a:p>
          <a:p>
            <a:pPr marL="855345" lvl="1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98145" indent="-342900">
              <a:buFont typeface="+mj-lt"/>
              <a:buAutoNum type="arabicPeriod"/>
            </a:pP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BF9537-059D-23C4-A606-F003DEE9204B}"/>
              </a:ext>
            </a:extLst>
          </p:cNvPr>
          <p:cNvSpPr txBox="1">
            <a:spLocks/>
          </p:cNvSpPr>
          <p:nvPr/>
        </p:nvSpPr>
        <p:spPr>
          <a:xfrm>
            <a:off x="6514708" y="1596455"/>
            <a:ext cx="5158984" cy="4521766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2"/>
            <a:r>
              <a:rPr lang="en-US"/>
              <a:t>Measures </a:t>
            </a:r>
          </a:p>
          <a:p>
            <a:pPr marL="55562"/>
            <a:r>
              <a:rPr lang="en-US"/>
              <a:t>Improved First Time routing of “General Tickets”</a:t>
            </a:r>
          </a:p>
          <a:p>
            <a:pPr marL="55562"/>
            <a:r>
              <a:rPr lang="en-US"/>
              <a:t>#of tickets re-routed/ # of tickets routed </a:t>
            </a:r>
          </a:p>
          <a:p>
            <a:pPr marL="55562"/>
            <a:endParaRPr lang="en-US"/>
          </a:p>
          <a:p>
            <a:pPr marL="55562"/>
            <a:endParaRPr lang="en-US"/>
          </a:p>
          <a:p>
            <a:pPr marL="55562"/>
            <a:endParaRPr lang="en-US"/>
          </a:p>
          <a:p>
            <a:pPr marL="55562"/>
            <a:r>
              <a:rPr lang="en-US"/>
              <a:t>Improved Response to re-opened tickets</a:t>
            </a:r>
          </a:p>
          <a:p>
            <a:pPr marL="55562"/>
            <a:r>
              <a:rPr lang="en-US"/>
              <a:t>Time from Resolved </a:t>
            </a:r>
            <a:r>
              <a:rPr lang="en-US">
                <a:sym typeface="Wingdings" panose="05000000000000000000" pitchFamily="2" charset="2"/>
              </a:rPr>
              <a:t> In Progress to comment by agent is reduced.</a:t>
            </a:r>
            <a:endParaRPr lang="en-US"/>
          </a:p>
          <a:p>
            <a:pPr marL="55562"/>
            <a:endParaRPr lang="en-US"/>
          </a:p>
          <a:p>
            <a:pPr marL="55562"/>
            <a:endParaRPr lang="en-US"/>
          </a:p>
          <a:p>
            <a:pPr marL="55562"/>
            <a:r>
              <a:rPr lang="en-US"/>
              <a:t>Automation savings  #of Automated closures</a:t>
            </a:r>
          </a:p>
          <a:p>
            <a:pPr marL="55562"/>
            <a:endParaRPr lang="en-US"/>
          </a:p>
          <a:p>
            <a:pPr marL="5556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3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2EBD-3183-3045-8E0C-A8A7EB06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C5812E-FD8A-0E17-87AB-2ED11510C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991DC-C297-E349-F552-5BAA0B81FD1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lIns="0" tIns="45720" rIns="0" bIns="45720" anchor="t"/>
          <a:lstStyle/>
          <a:p>
            <a:pPr marL="398145" indent="-342900">
              <a:buFont typeface="+mj-lt"/>
              <a:buAutoNum type="arabicPeriod"/>
            </a:pPr>
            <a:r>
              <a:rPr lang="en-US"/>
              <a:t>Manage Request to close ticket from user</a:t>
            </a: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Determine Closure reason</a:t>
            </a: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Fill in closure notes.</a:t>
            </a: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00FFFF"/>
                </a:highlight>
                <a:latin typeface="Arial"/>
                <a:cs typeface="Arial"/>
              </a:rPr>
              <a:t>Helpdesk puts incident on hold and people self-resolve but the incident never gets out of hold</a:t>
            </a:r>
          </a:p>
          <a:p>
            <a:pPr marL="855345" lvl="1" indent="-34290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00FFFF"/>
                </a:highlight>
                <a:latin typeface="Arial"/>
                <a:cs typeface="Arial"/>
              </a:rPr>
              <a:t>Phoebe should scan the on-hold queue for any comment provided by requester and close incidents that have been self-resolved with the appropriate closure reason </a:t>
            </a:r>
          </a:p>
          <a:p>
            <a:pPr marL="855345" lvl="1" indent="-342900">
              <a:buChar char="•"/>
            </a:pPr>
            <a:r>
              <a:rPr lang="en-US">
                <a:highlight>
                  <a:srgbClr val="FF0000"/>
                </a:highlight>
                <a:latin typeface="Arial"/>
                <a:cs typeface="Arial"/>
              </a:rPr>
              <a:t>Confirm with incident people, if an email or additional comments is received, does the state move back to in progress</a:t>
            </a:r>
            <a:endParaRPr lang="en-US">
              <a:highlight>
                <a:srgbClr val="FF0000"/>
              </a:highlight>
            </a:endParaRPr>
          </a:p>
          <a:p>
            <a:endParaRPr lang="en-CA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2918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AAA1-A70E-EAD7-325F-4A923F21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A9A0-E889-F493-5664-8D8203C0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2 – Interaction &amp; Incident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75F319-640F-88D9-2F80-936BC9C2D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7E362-A722-EC4E-D548-F7AB7574D25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6" y="1596455"/>
            <a:ext cx="5642203" cy="4521766"/>
          </a:xfrm>
        </p:spPr>
        <p:txBody>
          <a:bodyPr/>
          <a:lstStyle/>
          <a:p>
            <a:pPr marL="60325" indent="-4763"/>
            <a:r>
              <a:rPr lang="en-US" b="1"/>
              <a:t>Use Now Assist to support Interaction Records</a:t>
            </a:r>
          </a:p>
          <a:p>
            <a:pPr marL="60325" indent="-4763"/>
            <a:endParaRPr lang="en-US" b="1"/>
          </a:p>
          <a:p>
            <a:pPr marL="398462" indent="-342900">
              <a:buFont typeface="+mj-lt"/>
              <a:buAutoNum type="arabicPeriod"/>
            </a:pPr>
            <a:r>
              <a:rPr lang="en-US"/>
              <a:t>Summarize Chat</a:t>
            </a:r>
          </a:p>
          <a:p>
            <a:pPr marL="398462" indent="-342900">
              <a:buFont typeface="+mj-lt"/>
              <a:buAutoNum type="arabicPeriod"/>
            </a:pPr>
            <a:r>
              <a:rPr lang="en-US"/>
              <a:t>Provide Recommended Actions</a:t>
            </a:r>
          </a:p>
          <a:p>
            <a:pPr marL="398462" indent="-342900">
              <a:buFont typeface="+mj-lt"/>
              <a:buAutoNum type="arabicPeriod"/>
            </a:pPr>
            <a:r>
              <a:rPr lang="en-US"/>
              <a:t>Create Incident</a:t>
            </a:r>
          </a:p>
          <a:p>
            <a:pPr marL="55562"/>
            <a:endParaRPr lang="en-US"/>
          </a:p>
          <a:p>
            <a:pPr marL="55562"/>
            <a:r>
              <a:rPr lang="en-US"/>
              <a:t>Use Now Assist to support  Incident Records</a:t>
            </a:r>
          </a:p>
          <a:p>
            <a:pPr marL="398462" indent="-342900">
              <a:buFont typeface="+mj-lt"/>
              <a:buAutoNum type="arabicPeriod"/>
            </a:pPr>
            <a:r>
              <a:rPr lang="en-US"/>
              <a:t>Summarize Incident</a:t>
            </a:r>
          </a:p>
          <a:p>
            <a:pPr marL="398462" indent="-342900">
              <a:buFont typeface="+mj-lt"/>
              <a:buAutoNum type="arabicPeriod"/>
            </a:pPr>
            <a:r>
              <a:rPr lang="en-US"/>
              <a:t>Provide Recommended Actions</a:t>
            </a:r>
          </a:p>
          <a:p>
            <a:pPr marL="55562"/>
            <a:endParaRPr lang="en-US"/>
          </a:p>
          <a:p>
            <a:pPr marL="55562"/>
            <a:r>
              <a:rPr lang="en-US"/>
              <a:t>Configure AI search in Service Operations Workspace to use content from “Agent_1” field. </a:t>
            </a:r>
          </a:p>
          <a:p>
            <a:pPr marL="55562"/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5973864-9A7C-6EFE-E105-7C04432248E8}"/>
              </a:ext>
            </a:extLst>
          </p:cNvPr>
          <p:cNvSpPr txBox="1">
            <a:spLocks/>
          </p:cNvSpPr>
          <p:nvPr/>
        </p:nvSpPr>
        <p:spPr>
          <a:xfrm>
            <a:off x="6514708" y="1596455"/>
            <a:ext cx="5158984" cy="4521766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2"/>
            <a:r>
              <a:rPr lang="en-US"/>
              <a:t>Measures </a:t>
            </a:r>
          </a:p>
          <a:p>
            <a:pPr marL="55562"/>
            <a:endParaRPr lang="en-US"/>
          </a:p>
          <a:p>
            <a:pPr marL="55562"/>
            <a:r>
              <a:rPr lang="en-US"/>
              <a:t>Improved consistent response in chat</a:t>
            </a:r>
          </a:p>
          <a:p>
            <a:pPr marL="55562"/>
            <a:r>
              <a:rPr lang="en-US"/>
              <a:t>Automation savings - # Incidents created using automation</a:t>
            </a:r>
          </a:p>
          <a:p>
            <a:pPr marL="55562"/>
            <a:endParaRPr lang="en-US"/>
          </a:p>
          <a:p>
            <a:pPr marL="55562"/>
            <a:endParaRPr lang="en-US"/>
          </a:p>
          <a:p>
            <a:pPr marL="55562"/>
            <a:r>
              <a:rPr lang="en-US"/>
              <a:t>Usage – number of summarizations = Automation hours</a:t>
            </a:r>
          </a:p>
          <a:p>
            <a:pPr marL="55562"/>
            <a:r>
              <a:rPr lang="en-US"/>
              <a:t>Recommended Actions success???</a:t>
            </a:r>
          </a:p>
          <a:p>
            <a:pPr marL="55562"/>
            <a:endParaRPr lang="en-US"/>
          </a:p>
          <a:p>
            <a:pPr marL="55562"/>
            <a:r>
              <a:rPr lang="en-US"/>
              <a:t>Automation savings  # of KB articles selected from search.</a:t>
            </a:r>
          </a:p>
          <a:p>
            <a:pPr marL="55562"/>
            <a:endParaRPr lang="en-US"/>
          </a:p>
          <a:p>
            <a:pPr marL="5556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8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F764-715A-3266-9A99-23A2CA0ED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7BEE-66CE-22D5-3167-A5D27507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3 – Knowledge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7B8AEF-0177-DAE5-0A47-AAE9C3224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878E1-C585-5AEC-D603-62EE6F0AF4F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6" y="1596455"/>
            <a:ext cx="5515823" cy="4521766"/>
          </a:xfrm>
        </p:spPr>
        <p:txBody>
          <a:bodyPr/>
          <a:lstStyle/>
          <a:p>
            <a:pPr marL="60325" indent="-4763"/>
            <a:r>
              <a:rPr lang="en-US"/>
              <a:t>Use Knowledge Agent to Support Knowledge Gaps</a:t>
            </a:r>
          </a:p>
          <a:p>
            <a:pPr marL="60325" indent="-4763"/>
            <a:endParaRPr lang="en-US"/>
          </a:p>
          <a:p>
            <a:pPr marL="398462" indent="-342900">
              <a:buFont typeface="+mj-lt"/>
              <a:buAutoNum type="arabicPeriod"/>
            </a:pPr>
            <a:r>
              <a:rPr lang="en-US"/>
              <a:t>Identify Gaps in KB article</a:t>
            </a:r>
          </a:p>
          <a:p>
            <a:pPr marL="398462" indent="-342900">
              <a:buFont typeface="+mj-lt"/>
              <a:buAutoNum type="arabicPeriod"/>
            </a:pPr>
            <a:r>
              <a:rPr lang="en-US"/>
              <a:t>Provide Recommended KB article topics</a:t>
            </a:r>
          </a:p>
          <a:p>
            <a:pPr marL="398462" indent="-342900">
              <a:buFont typeface="+mj-lt"/>
              <a:buAutoNum type="arabicPeriod"/>
            </a:pPr>
            <a:endParaRPr lang="en-US"/>
          </a:p>
          <a:p>
            <a:pPr marL="55562"/>
            <a:r>
              <a:rPr lang="en-US"/>
              <a:t>Use Now Assist to recommend KB article Title, and Tags</a:t>
            </a:r>
          </a:p>
          <a:p>
            <a:pPr marL="55562"/>
            <a:endParaRPr lang="en-US"/>
          </a:p>
          <a:p>
            <a:pPr marL="55562"/>
            <a:endParaRPr lang="en-US"/>
          </a:p>
          <a:p>
            <a:pPr marL="398462" indent="-342900">
              <a:buFont typeface="+mj-lt"/>
              <a:buAutoNum type="arabicPeriod"/>
            </a:pPr>
            <a:endParaRPr lang="en-US"/>
          </a:p>
          <a:p>
            <a:pPr marL="55562"/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8FFE50A-0786-824D-A826-17A0065626DA}"/>
              </a:ext>
            </a:extLst>
          </p:cNvPr>
          <p:cNvSpPr txBox="1">
            <a:spLocks/>
          </p:cNvSpPr>
          <p:nvPr/>
        </p:nvSpPr>
        <p:spPr>
          <a:xfrm>
            <a:off x="6514708" y="1596455"/>
            <a:ext cx="5158984" cy="4521766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62"/>
            <a:r>
              <a:rPr lang="en-US"/>
              <a:t>Measures </a:t>
            </a:r>
          </a:p>
          <a:p>
            <a:pPr marL="55562"/>
            <a:endParaRPr lang="en-US"/>
          </a:p>
          <a:p>
            <a:pPr marL="55562"/>
            <a:r>
              <a:rPr lang="en-US"/>
              <a:t>Automation - # of Article gaps identified</a:t>
            </a:r>
          </a:p>
          <a:p>
            <a:pPr marL="55562"/>
            <a:endParaRPr lang="en-US"/>
          </a:p>
          <a:p>
            <a:pPr marL="55562"/>
            <a:r>
              <a:rPr lang="en-US"/>
              <a:t>Automation - # of KB article recommended</a:t>
            </a:r>
          </a:p>
          <a:p>
            <a:pPr marL="55562"/>
            <a:endParaRPr lang="en-US"/>
          </a:p>
          <a:p>
            <a:pPr marL="55562"/>
            <a:r>
              <a:rPr lang="en-US"/>
              <a:t>Automation - # of KB titles, tags recommended</a:t>
            </a:r>
          </a:p>
        </p:txBody>
      </p:sp>
    </p:spTree>
    <p:extLst>
      <p:ext uri="{BB962C8B-B14F-4D97-AF65-F5344CB8AC3E}">
        <p14:creationId xmlns:p14="http://schemas.microsoft.com/office/powerpoint/2010/main" val="1687104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W8_1HuTZa4QjqyCV2Guw"/>
</p:tagLst>
</file>

<file path=ppt/theme/theme1.xml><?xml version="1.0" encoding="utf-8"?>
<a:theme xmlns:a="http://schemas.openxmlformats.org/drawingml/2006/main" name="Office Theme">
  <a:themeElements>
    <a:clrScheme name="Boeing">
      <a:dk1>
        <a:srgbClr val="000000"/>
      </a:dk1>
      <a:lt1>
        <a:srgbClr val="FFFFFF"/>
      </a:lt1>
      <a:dk2>
        <a:srgbClr val="0A2240"/>
      </a:dk2>
      <a:lt2>
        <a:srgbClr val="DAD9D7"/>
      </a:lt2>
      <a:accent1>
        <a:srgbClr val="0033A1"/>
      </a:accent1>
      <a:accent2>
        <a:srgbClr val="009BDF"/>
      </a:accent2>
      <a:accent3>
        <a:srgbClr val="BADCE6"/>
      </a:accent3>
      <a:accent4>
        <a:srgbClr val="BFD857"/>
      </a:accent4>
      <a:accent5>
        <a:srgbClr val="F37120"/>
      </a:accent5>
      <a:accent6>
        <a:srgbClr val="85439A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1_EO&amp;T Slide Master">
  <a:themeElements>
    <a:clrScheme name="Boeing Color Palette">
      <a:dk1>
        <a:srgbClr val="000000"/>
      </a:dk1>
      <a:lt1>
        <a:srgbClr val="FFFFFF"/>
      </a:lt1>
      <a:dk2>
        <a:srgbClr val="0039A6"/>
      </a:dk2>
      <a:lt2>
        <a:srgbClr val="A5ACB0"/>
      </a:lt2>
      <a:accent1>
        <a:srgbClr val="0039A6"/>
      </a:accent1>
      <a:accent2>
        <a:srgbClr val="E70033"/>
      </a:accent2>
      <a:accent3>
        <a:srgbClr val="0096DB"/>
      </a:accent3>
      <a:accent4>
        <a:srgbClr val="77B800"/>
      </a:accent4>
      <a:accent5>
        <a:srgbClr val="580F8B"/>
      </a:accent5>
      <a:accent6>
        <a:srgbClr val="FFA200"/>
      </a:accent6>
      <a:hlink>
        <a:srgbClr val="0039A6"/>
      </a:hlink>
      <a:folHlink>
        <a:srgbClr val="A5ACB0"/>
      </a:folHlink>
    </a:clrScheme>
    <a:fontScheme name="4_GradientBar_IdentityBar_QUES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eing Color Palette">
        <a:dk1>
          <a:srgbClr val="000000"/>
        </a:dk1>
        <a:lt1>
          <a:srgbClr val="FFFFFF"/>
        </a:lt1>
        <a:dk2>
          <a:srgbClr val="0039A6"/>
        </a:dk2>
        <a:lt2>
          <a:srgbClr val="A5ACB0"/>
        </a:lt2>
        <a:accent1>
          <a:srgbClr val="0039A6"/>
        </a:accent1>
        <a:accent2>
          <a:srgbClr val="E70033"/>
        </a:accent2>
        <a:accent3>
          <a:srgbClr val="0096DB"/>
        </a:accent3>
        <a:accent4>
          <a:srgbClr val="77B800"/>
        </a:accent4>
        <a:accent5>
          <a:srgbClr val="580F8B"/>
        </a:accent5>
        <a:accent6>
          <a:srgbClr val="FFA200"/>
        </a:accent6>
        <a:hlink>
          <a:srgbClr val="0039A6"/>
        </a:hlink>
        <a:folHlink>
          <a:srgbClr val="A5AC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ANTONE 7546">
      <a:srgbClr val="394A59"/>
    </a:custClr>
    <a:custClr name="PANTONE 431">
      <a:srgbClr val="5F6A72"/>
    </a:custClr>
    <a:custClr name="PANTONE 429">
      <a:srgbClr val="A5ACB0"/>
    </a:custClr>
    <a:custClr name="PANTONE CG1">
      <a:srgbClr val="E2E1DD"/>
    </a:custClr>
    <a:custClr name="Process Magenta">
      <a:srgbClr val="CC3366"/>
    </a:custClr>
    <a:custClr name="PANTONE 4975">
      <a:srgbClr val="462324"/>
    </a:custClr>
    <a:custClr name="PANTONE 201">
      <a:srgbClr val="9E1B32"/>
    </a:custClr>
    <a:custClr name="PANTONE 185">
      <a:srgbClr val="E70033"/>
    </a:custClr>
    <a:custClr name="PANTONE 1665">
      <a:srgbClr val="E24912"/>
    </a:custClr>
    <a:custClr name="PANTONE 137">
      <a:srgbClr val="FFA200"/>
    </a:custClr>
    <a:custClr name="PANTONE 108">
      <a:srgbClr val="F6DA14"/>
    </a:custClr>
    <a:custClr name="PANTONE 1215">
      <a:srgbClr val="FBDE81"/>
    </a:custClr>
    <a:custClr name="PANTONE 7499">
      <a:srgbClr val="EEE8C5"/>
    </a:custClr>
    <a:custClr name="PANTONE 553">
      <a:srgbClr val="214232"/>
    </a:custClr>
    <a:custClr name="PANTONE 376">
      <a:srgbClr val="77B800"/>
    </a:custClr>
    <a:custClr name="PANTONE 373">
      <a:srgbClr val="CFEA8B"/>
    </a:custClr>
    <a:custClr name="PANTONE 328">
      <a:srgbClr val="007165"/>
    </a:custClr>
    <a:custClr name="PANTONE 309">
      <a:srgbClr val="003D4D"/>
    </a:custClr>
    <a:custClr name="PANTONE 3135">
      <a:srgbClr val="0091B5"/>
    </a:custClr>
    <a:custClr name="PANTONE 7457">
      <a:srgbClr val="BADCE6"/>
    </a:custClr>
    <a:custClr name="PANTONE 289">
      <a:srgbClr val="002144"/>
    </a:custClr>
    <a:custClr name="PANTONE 2925">
      <a:srgbClr val="0096DB"/>
    </a:custClr>
    <a:custClr name="PANTONE 283">
      <a:srgbClr val="97C5EB"/>
    </a:custClr>
    <a:custClr name="PANTONE 2597">
      <a:srgbClr val="580F8B"/>
    </a:custClr>
  </a:custClrLst>
  <a:extLst>
    <a:ext uri="{05A4C25C-085E-4340-85A3-A5531E510DB2}">
      <thm15:themeFamily xmlns:thm15="http://schemas.microsoft.com/office/thememl/2012/main" name="299036_IA_IT_Proprietary_WidescreenRN" id="{94F3BDFB-2455-404B-90D5-7853D456F502}" vid="{766CBD06-D033-4E44-BA1E-AFA676C477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454938D12DA34FAB5E7AF0EF94B0E4" ma:contentTypeVersion="8" ma:contentTypeDescription="Create a new document." ma:contentTypeScope="" ma:versionID="46e184e74dcc2860e561df68a5faaa85">
  <xsd:schema xmlns:xsd="http://www.w3.org/2001/XMLSchema" xmlns:xs="http://www.w3.org/2001/XMLSchema" xmlns:p="http://schemas.microsoft.com/office/2006/metadata/properties" xmlns:ns2="03ac710f-42be-4c16-baa0-177ff0ef70be" xmlns:ns3="548933ca-b380-4a29-b4bd-fc01c0d24bbd" targetNamespace="http://schemas.microsoft.com/office/2006/metadata/properties" ma:root="true" ma:fieldsID="690be1a5fdb430f61e042087786c5a64" ns2:_="" ns3:_="">
    <xsd:import namespace="03ac710f-42be-4c16-baa0-177ff0ef70be"/>
    <xsd:import namespace="548933ca-b380-4a29-b4bd-fc01c0d24bbd"/>
    <xsd:element name="properties">
      <xsd:complexType>
        <xsd:sequence>
          <xsd:element name="documentManagement">
            <xsd:complexType>
              <xsd:all>
                <xsd:element ref="ns2:Projec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ac710f-42be-4c16-baa0-177ff0ef70be" elementFormDefault="qualified">
    <xsd:import namespace="http://schemas.microsoft.com/office/2006/documentManagement/types"/>
    <xsd:import namespace="http://schemas.microsoft.com/office/infopath/2007/PartnerControls"/>
    <xsd:element name="ProjectID" ma:index="8" nillable="true" ma:displayName="Project ID" ma:format="Dropdown" ma:internalName="ProjectID">
      <xsd:simpleType>
        <xsd:restriction base="dms:Text">
          <xsd:maxLength value="3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933ca-b380-4a29-b4bd-fc01c0d24b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jectID xmlns="03ac710f-42be-4c16-baa0-177ff0ef70be" xsi:nil="true"/>
  </documentManagement>
</p:properties>
</file>

<file path=customXml/itemProps1.xml><?xml version="1.0" encoding="utf-8"?>
<ds:datastoreItem xmlns:ds="http://schemas.openxmlformats.org/officeDocument/2006/customXml" ds:itemID="{60AFD838-68A6-493A-B7C0-0D159C2383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9EE14E-CF8C-43C5-9388-B98575189DC6}"/>
</file>

<file path=customXml/itemProps3.xml><?xml version="1.0" encoding="utf-8"?>
<ds:datastoreItem xmlns:ds="http://schemas.openxmlformats.org/officeDocument/2006/customXml" ds:itemID="{4B1DCD3B-BE3B-454F-8C3D-2C1F10973C65}">
  <ds:schemaRefs>
    <ds:schemaRef ds:uri="03ac710f-42be-4c16-baa0-177ff0ef70be"/>
    <ds:schemaRef ds:uri="548933ca-b380-4a29-b4bd-fc01c0d24b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bcf48bba-4d6f-4dee-a0d2-7df59cc36629}" enabled="0" method="" siteId="{bcf48bba-4d6f-4dee-a0d2-7df59cc3662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11_EO&amp;T Slide Master</vt:lpstr>
      <vt:lpstr>New Rocket Now Assist POC</vt:lpstr>
      <vt:lpstr>GSEP AI Enabled Capabilities</vt:lpstr>
      <vt:lpstr>Use Case 1 - Agent</vt:lpstr>
      <vt:lpstr>Use Case 1 - Agent</vt:lpstr>
      <vt:lpstr>PowerPoint Presentation</vt:lpstr>
      <vt:lpstr>Use Case 2 – Interaction &amp; Incident Summary</vt:lpstr>
      <vt:lpstr>Use Case 3 – Knowledge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Kannan (US), Anand K</dc:creator>
  <cp:keywords/>
  <dc:description/>
  <cp:revision>2</cp:revision>
  <cp:lastPrinted>2025-09-29T19:36:32Z</cp:lastPrinted>
  <dcterms:created xsi:type="dcterms:W3CDTF">2025-07-23T19:03:15Z</dcterms:created>
  <dcterms:modified xsi:type="dcterms:W3CDTF">2026-02-19T12:59:19Z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0x010100A0454938D12DA34FAB5E7AF0EF94B0E4</vt:lpwstr>
  </property>
  <property fmtid="{D5CDD505-2E9C-101B-9397-08002B2CF9AE}" pid="4" name="_dlc_DocIdItemGuid">
    <vt:lpwstr>2d7b132b-51b1-4c64-ac0b-e31774f00c20</vt:lpwstr>
  </property>
  <property fmtid="{D5CDD505-2E9C-101B-9397-08002B2CF9AE}" pid="5" name="MSIP_Label_ec826127-46b1-45ac-9e27-945ccb74db61_Enabled">
    <vt:lpwstr>true</vt:lpwstr>
  </property>
  <property fmtid="{D5CDD505-2E9C-101B-9397-08002B2CF9AE}" pid="6" name="MSIP_Label_ec826127-46b1-45ac-9e27-945ccb74db61_SetDate">
    <vt:lpwstr>2026-02-19T12:59:18Z</vt:lpwstr>
  </property>
  <property fmtid="{D5CDD505-2E9C-101B-9397-08002B2CF9AE}" pid="7" name="MSIP_Label_ec826127-46b1-45ac-9e27-945ccb74db61_Method">
    <vt:lpwstr>Standard</vt:lpwstr>
  </property>
  <property fmtid="{D5CDD505-2E9C-101B-9397-08002B2CF9AE}" pid="8" name="MSIP_Label_ec826127-46b1-45ac-9e27-945ccb74db61_Name">
    <vt:lpwstr>Business</vt:lpwstr>
  </property>
  <property fmtid="{D5CDD505-2E9C-101B-9397-08002B2CF9AE}" pid="9" name="MSIP_Label_ec826127-46b1-45ac-9e27-945ccb74db61_SiteId">
    <vt:lpwstr>9859ffb1-7981-473e-a830-5d5d215af95c</vt:lpwstr>
  </property>
  <property fmtid="{D5CDD505-2E9C-101B-9397-08002B2CF9AE}" pid="10" name="MSIP_Label_ec826127-46b1-45ac-9e27-945ccb74db61_ActionId">
    <vt:lpwstr>c4a1dab3-3a61-459a-ab36-1a48fe13d6eb</vt:lpwstr>
  </property>
  <property fmtid="{D5CDD505-2E9C-101B-9397-08002B2CF9AE}" pid="11" name="MSIP_Label_ec826127-46b1-45ac-9e27-945ccb74db61_ContentBits">
    <vt:lpwstr>0</vt:lpwstr>
  </property>
  <property fmtid="{D5CDD505-2E9C-101B-9397-08002B2CF9AE}" pid="12" name="MSIP_Label_ec826127-46b1-45ac-9e27-945ccb74db61_Tag">
    <vt:lpwstr>10, 3, 0, 2</vt:lpwstr>
  </property>
</Properties>
</file>