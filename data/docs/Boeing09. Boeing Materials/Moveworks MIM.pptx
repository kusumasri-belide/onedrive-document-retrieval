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7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5" r:id="rId14"/>
    <p:sldId id="284" r:id="rId15"/>
    <p:sldId id="276" r:id="rId16"/>
  </p:sldIdLst>
  <p:sldSz cx="12192000" cy="6858000"/>
  <p:notesSz cx="6858000" cy="9144000"/>
  <p:embeddedFontLst>
    <p:embeddedFont>
      <p:font typeface="BoeingMeso-Regular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0B1"/>
    <a:srgbClr val="BABABA"/>
    <a:srgbClr val="2D2D2D"/>
    <a:srgbClr val="262626"/>
    <a:srgbClr val="2A2A27"/>
    <a:srgbClr val="31302D"/>
    <a:srgbClr val="292826"/>
    <a:srgbClr val="ECECEC"/>
    <a:srgbClr val="E3E3E3"/>
    <a:srgbClr val="DBD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897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6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CE438-3400-DAA8-F61D-0C629842B4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4C033-7972-CB97-6556-C7439123B6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7E9A4-D254-2C4E-8913-F2E1613A49A2}" type="datetimeFigureOut">
              <a:t>11/10/2025</a:t>
            </a:fld>
            <a:endParaRPr lang="en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CB98A-C0BA-96E0-E35E-B7CDC16809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41208-A0B5-89C3-F9F6-EDE82A2D7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C9950-E758-6C49-AEF8-D704D84A4FF1}" type="slidenum"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2884460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24F04914-EAB2-574E-9911-020CA276D552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60F7907F-FB33-8441-AC15-D42CE99AF4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with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76EAB50-9B72-47AC-395E-B0B0841FD8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8CEAAE-8A38-9729-40B3-F1D039725A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DATE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737D5-4F20-4411-5F01-E398C9CE2D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40B36-DDE9-2A41-C2CB-D45CBC5B9B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3F68D9-DC64-E54E-8C7D-6504CE381E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69DB66F-C07F-B6D0-9C8A-56F0DB0C6E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9878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ithout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CE52E-F7F4-69E3-F959-ACCF57F65C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BOEING PROPRIETARY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993CBE3-06E6-3F75-593D-56A506053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DATE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462DD-0059-7116-37B9-128B56A5E4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E06D0-9E3D-FCCA-6319-DCE025347A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9B49FDAD-30C5-214A-41EC-0A2BB69566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9079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4EBCBA-85F9-2534-C42F-537D1455AD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0FB8EF-FC92-A0DC-B3F1-89E96B6542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9680" y="1086254"/>
            <a:ext cx="10791877" cy="5388857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4E0A792-7FB8-E4DE-F3BC-4E798475E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932E1-D0BA-9445-8AD7-C9649B4F53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07" b="-4754"/>
          <a:stretch>
            <a:fillRect/>
          </a:stretch>
        </p:blipFill>
        <p:spPr>
          <a:xfrm>
            <a:off x="386107" y="730909"/>
            <a:ext cx="3175107" cy="39116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94F337-F459-77E4-9592-F95D5AA39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41F93-B5EB-59F5-5F99-4897D06AA76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16F192-2289-C706-D969-758A1DF9D3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3DF9AB4-062F-5F2B-39BF-1E6D32155B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6803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19F94E-FF2F-FCAD-721B-11420F408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67" y="391439"/>
            <a:ext cx="1745443" cy="4363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B48239-0165-8BB5-FE7D-B636D02D9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2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a 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3DABB-1CA5-1193-F96C-9CF3179DE5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9CC24EE-F2D6-5A32-5F99-B5A4CE9F9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7B928-9B75-815A-D3AE-69A3DBD550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5E899-1C68-06D6-0E04-AADBFE1FA0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821ACE3-1E59-D069-9D85-EC281C44C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2AE88E5-1242-C3A3-EB4A-27856E3BE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25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1CAE6-A96B-0023-3175-67EEA5A8C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D2EBD-3D88-DF5B-D1C8-34B0963270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FEAEAC-9CE2-ADAF-270A-F0718DEA0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E5302786-3C8E-708F-5232-E9677B3FFC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8069DE7-4B0B-8CA7-7CDC-41F07B647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7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20C1F5-0E3B-B2D3-2DAE-FA19F3AF4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D7C00E-8621-F2B8-7A40-F3142477A5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FE488-5BEC-12EB-2580-5F091A1AC3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87181EE-4B6A-8FED-4753-BA92C1913C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3203031-CEA9-64C7-D322-4062B37E9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8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2DC20FF-6D8B-5DBD-6E4F-06C79F59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9453A-25FD-1B95-3894-18CCD56A7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189255-4373-D7FD-B9E8-F2DDB23A7B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21FDE02-3AC6-E374-9FC3-68077A3894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4C3A10F-D094-4632-40AD-39FBDBAB6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C7B18988-4215-A2F4-2C9F-8717F5EC18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6455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60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4130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5BDB7A-B8C0-1021-C420-80FA7EDF0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D3632-33AB-E8B7-DE99-7CAC49C888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0ABAE-F1FD-EC32-9060-643AB07C89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45B1A76-ACCA-FB28-4C8F-77F26B6B55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69983AF-7DB4-04DE-B0C9-83356890C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1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7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47F75A1B-A4BF-109F-77FF-377303C6D7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6556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C8E5F02-51A3-0DBA-D874-9E46B5971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273E1-0AD9-22D1-7FAC-CCC119160E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2330C-5EC3-8D53-3CFB-964E26C1F3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55A29FB-FF79-F0A3-8B65-DF83007622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3CA3561-83C2-A6C7-F242-215A8F996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eing logo">
            <a:extLst>
              <a:ext uri="{FF2B5EF4-FFF2-40B4-BE49-F238E27FC236}">
                <a16:creationId xmlns:a16="http://schemas.microsoft.com/office/drawing/2014/main" id="{A2175A03-6C3A-420E-7725-B1904E3FA9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5355" y="2951526"/>
            <a:ext cx="3516745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5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8D6DA-7E9F-6067-BF8C-83B379F178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965C10-0FFF-8B58-128F-15DC919A46F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7F470-1308-FDD7-A596-92A2DFFFE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07332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A6530-EBF8-4A13-ADE2-C3D8F0DCD8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7D39E7E-CD03-514C-4564-FD7BF9088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17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5" r:id="rId2"/>
    <p:sldLayoutId id="2147483693" r:id="rId3"/>
    <p:sldLayoutId id="2147483659" r:id="rId4"/>
    <p:sldLayoutId id="2147483687" r:id="rId5"/>
    <p:sldLayoutId id="2147483689" r:id="rId6"/>
    <p:sldLayoutId id="2147483690" r:id="rId7"/>
    <p:sldLayoutId id="2147483694" r:id="rId8"/>
    <p:sldLayoutId id="2147483692" r:id="rId9"/>
    <p:sldLayoutId id="214748365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oeingMeso-Regular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69F0-52AA-B51B-8BCD-63D9D3B8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Moveworks</a:t>
            </a:r>
            <a:r>
              <a:rPr lang="en-US" dirty="0"/>
              <a:t> MIM Agent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A6814-B32D-89AD-046E-BCFD488E4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11/10/2025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8350-EA97-C826-759A-13E7D7F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E3A6E-7AD3-597E-ED11-74D6791170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MIM </a:t>
            </a:r>
            <a:r>
              <a:rPr lang="en-US" dirty="0" err="1"/>
              <a:t>Moveworks</a:t>
            </a:r>
            <a:r>
              <a:rPr lang="en-US" dirty="0"/>
              <a:t> Plugin – REST API calls to SN Table API</a:t>
            </a:r>
          </a:p>
          <a:p>
            <a:endParaRPr lang="en-US" dirty="0"/>
          </a:p>
          <a:p>
            <a:r>
              <a:rPr lang="en-US" dirty="0"/>
              <a:t>Now Assist Virtual Agent Bot – Add Comment to Incident</a:t>
            </a:r>
          </a:p>
          <a:p>
            <a:endParaRPr lang="en-US" dirty="0"/>
          </a:p>
          <a:p>
            <a:r>
              <a:rPr lang="en-US" dirty="0"/>
              <a:t>Integration </a:t>
            </a:r>
            <a:r>
              <a:rPr lang="en-US" dirty="0" err="1"/>
              <a:t>Moveworks</a:t>
            </a:r>
            <a:r>
              <a:rPr lang="en-US" dirty="0"/>
              <a:t> and NAVA API – Architectural challenges and possible solutions.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5E939-6114-B3F3-FEC4-A2DE5C59E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01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30AE-FF6B-6C4B-812C-C069644E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 </a:t>
            </a:r>
            <a:r>
              <a:rPr lang="en-US" dirty="0" err="1"/>
              <a:t>Moveworks</a:t>
            </a:r>
            <a:r>
              <a:rPr lang="en-US" dirty="0"/>
              <a:t> Plugin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9CD68D-5E1A-97F4-F11B-2C40C3E8F88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82360" y="1593850"/>
            <a:ext cx="9493956" cy="45227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8F8EE-C8DA-0D32-AF94-692653657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04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87DF-02B6-0CBF-93D7-F00E02F6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By Date Plugin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7A51F-D45F-F8E3-649D-ECD4611052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Finds MI by date range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C65E0-074C-BFD5-13F9-EE9EF2D2B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DFF04C-2590-92A3-0931-231565E3F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101"/>
            <a:ext cx="12192000" cy="24957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3C8EBA-72CB-EEDD-087A-EB6344640123}"/>
              </a:ext>
            </a:extLst>
          </p:cNvPr>
          <p:cNvSpPr txBox="1"/>
          <p:nvPr/>
        </p:nvSpPr>
        <p:spPr>
          <a:xfrm>
            <a:off x="157018" y="4581236"/>
            <a:ext cx="11595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didn’t work:</a:t>
            </a:r>
          </a:p>
          <a:p>
            <a:r>
              <a:rPr lang="en-US" dirty="0" err="1"/>
              <a:t>major_incident_state</a:t>
            </a:r>
            <a:r>
              <a:rPr lang="en-US" dirty="0"/>
              <a:t>=</a:t>
            </a:r>
            <a:r>
              <a:rPr lang="en-US" dirty="0" err="1"/>
              <a:t>accepted^sys_created</a:t>
            </a:r>
            <a:r>
              <a:rPr lang="en-US" dirty="0"/>
              <a:t>=</a:t>
            </a:r>
            <a:r>
              <a:rPr lang="en-US" dirty="0" err="1"/>
              <a:t>ONjavascript:gs.dateGenerate</a:t>
            </a:r>
            <a:r>
              <a:rPr lang="en-US" dirty="0"/>
              <a:t>('{{</a:t>
            </a:r>
            <a:r>
              <a:rPr lang="en-US" dirty="0" err="1"/>
              <a:t>open_date</a:t>
            </a:r>
            <a:r>
              <a:rPr lang="en-US" dirty="0"/>
              <a:t>}}','00:00:00')</a:t>
            </a:r>
          </a:p>
        </p:txBody>
      </p:sp>
    </p:spTree>
    <p:extLst>
      <p:ext uri="{BB962C8B-B14F-4D97-AF65-F5344CB8AC3E}">
        <p14:creationId xmlns:p14="http://schemas.microsoft.com/office/powerpoint/2010/main" val="267361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AE0A-490A-9413-1733-21E94A8B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Incident Plugin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BC60F-46CD-ED6C-405B-2F30280483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Compound action utilizes </a:t>
            </a:r>
            <a:r>
              <a:rPr lang="en-US" dirty="0" err="1"/>
              <a:t>moveworks</a:t>
            </a:r>
            <a:r>
              <a:rPr lang="en-US" dirty="0"/>
              <a:t> inbuilt LLM action to summarize INC details.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BC0141-FD34-2EB9-F23A-8FCB3CB447A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787564" y="1753563"/>
            <a:ext cx="3848637" cy="38295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0A4E9-E706-7B9A-E0A2-74492722D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82626F-70AC-25E9-4F6E-FB123FDCAD3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165600" y="2355653"/>
            <a:ext cx="2382982" cy="198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2BA1CD-5308-EEAC-8191-B14E6A26F8FA}"/>
              </a:ext>
            </a:extLst>
          </p:cNvPr>
          <p:cNvSpPr txBox="1"/>
          <p:nvPr/>
        </p:nvSpPr>
        <p:spPr>
          <a:xfrm>
            <a:off x="6548582" y="1755488"/>
            <a:ext cx="4544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Moveworks</a:t>
            </a:r>
            <a:r>
              <a:rPr lang="en-US" dirty="0"/>
              <a:t> In-Built LLM Action.</a:t>
            </a:r>
          </a:p>
          <a:p>
            <a:endParaRPr lang="en-US" dirty="0"/>
          </a:p>
          <a:p>
            <a:r>
              <a:rPr lang="en-US" dirty="0"/>
              <a:t>Can be used for summary, classification, sentiment analysis, etc.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8BC4A3-1797-BE65-C74C-27E66C1C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875" y="3128814"/>
            <a:ext cx="5981703" cy="313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0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473A-74D2-829F-6442-F82F960C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Comment to Incident VA Bot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F0C39E-4435-DFAC-9C6E-66D57F05217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749402" y="1289050"/>
            <a:ext cx="2502562" cy="45227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2D0C5-85DD-C3B8-845F-AA9E8526E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ACAB4D5-9CBE-DB96-6240-325E0564E09E}"/>
              </a:ext>
            </a:extLst>
          </p:cNvPr>
          <p:cNvSpPr/>
          <p:nvPr/>
        </p:nvSpPr>
        <p:spPr>
          <a:xfrm>
            <a:off x="2826327" y="2189018"/>
            <a:ext cx="249382" cy="1727200"/>
          </a:xfrm>
          <a:prstGeom prst="rightBrace">
            <a:avLst>
              <a:gd name="adj1" fmla="val 8333"/>
              <a:gd name="adj2" fmla="val 4893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F5E8E8D-84D4-ED8F-D996-64EEF6E4B760}"/>
              </a:ext>
            </a:extLst>
          </p:cNvPr>
          <p:cNvSpPr/>
          <p:nvPr/>
        </p:nvSpPr>
        <p:spPr>
          <a:xfrm>
            <a:off x="2770909" y="4507344"/>
            <a:ext cx="360218" cy="424873"/>
          </a:xfrm>
          <a:prstGeom prst="rightBrace">
            <a:avLst>
              <a:gd name="adj1" fmla="val 8333"/>
              <a:gd name="adj2" fmla="val 4893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649AC-6676-28F5-0C1D-E1EACBDB2D21}"/>
              </a:ext>
            </a:extLst>
          </p:cNvPr>
          <p:cNvSpPr txBox="1"/>
          <p:nvPr/>
        </p:nvSpPr>
        <p:spPr>
          <a:xfrm>
            <a:off x="2951018" y="1942099"/>
            <a:ext cx="539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Now Assist </a:t>
            </a:r>
            <a:r>
              <a:rPr lang="en-US" dirty="0" err="1"/>
              <a:t>Capabilites</a:t>
            </a:r>
            <a:r>
              <a:rPr lang="en-US" dirty="0"/>
              <a:t> to take input from 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3034D-3DFD-DCA7-8C0A-06A180141612}"/>
              </a:ext>
            </a:extLst>
          </p:cNvPr>
          <p:cNvSpPr txBox="1"/>
          <p:nvPr/>
        </p:nvSpPr>
        <p:spPr>
          <a:xfrm>
            <a:off x="3251964" y="4507343"/>
            <a:ext cx="250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 Flow Action to Add comment to incident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B9E819-3A50-DEA7-CCE5-F78CD4C12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525" y="2422328"/>
            <a:ext cx="5722969" cy="39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2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8214-1CD1-564C-3287-B582A163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2D276-05E8-70C4-D7BA-F30E9F38B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 Comment to Incident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D9E28D-1E1C-E6AC-2A67-50B93FB4AF9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05836" y="1460261"/>
            <a:ext cx="3117649" cy="45227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A9D69-07F6-53DF-8BBC-4232874C3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BCCF71-2425-84BD-28B4-A32F95FDD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83" y="1460261"/>
            <a:ext cx="3149574" cy="45227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275855-32F5-E03A-B7EC-2DB78A019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198" y="1460261"/>
            <a:ext cx="3563938" cy="452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82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3FD8-0497-3BB9-BBC8-2C760A2D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Result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1E3275-50B3-5170-DC6D-C1A4CFAAAD3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85349" y="1417863"/>
            <a:ext cx="11245850" cy="33273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1409C-2E6A-30DB-A5E5-9954E6EEC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5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0925-87DE-C2F9-00FB-7C7E211C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</a:t>
            </a:r>
            <a:r>
              <a:rPr lang="en-US" dirty="0" err="1"/>
              <a:t>Moveworks</a:t>
            </a:r>
            <a:r>
              <a:rPr lang="en-US" dirty="0"/>
              <a:t> and SN VA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2F5B7-4B13-314F-0698-9CE9D63C9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Moveworks</a:t>
            </a:r>
            <a:r>
              <a:rPr lang="en-US" dirty="0"/>
              <a:t> Chat Client invokes the ServiceNow Virtual Agent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985E6-B1B1-5A0C-619A-6529C5DD10D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Why merely using </a:t>
            </a:r>
            <a:r>
              <a:rPr lang="en-US" dirty="0" err="1"/>
              <a:t>Moveworks</a:t>
            </a:r>
            <a:r>
              <a:rPr lang="en-US" dirty="0"/>
              <a:t> Connectors doesn’t work:</a:t>
            </a:r>
          </a:p>
          <a:p>
            <a:endParaRPr lang="en-US" dirty="0"/>
          </a:p>
          <a:p>
            <a:r>
              <a:rPr lang="en-US" dirty="0"/>
              <a:t>Virtual Agent Bot Interconnect API is </a:t>
            </a:r>
            <a:r>
              <a:rPr lang="en-US" b="1" dirty="0"/>
              <a:t>asynchronous</a:t>
            </a:r>
            <a:r>
              <a:rPr lang="en-US" dirty="0"/>
              <a:t>:</a:t>
            </a:r>
          </a:p>
          <a:p>
            <a:r>
              <a:rPr lang="en-US" dirty="0"/>
              <a:t>When we send a HTTP POST request, the API responds with the success/failure status. </a:t>
            </a:r>
            <a:r>
              <a:rPr lang="en-US" b="1" dirty="0" err="1"/>
              <a:t>Moveworks</a:t>
            </a:r>
            <a:r>
              <a:rPr lang="en-US" b="1" dirty="0"/>
              <a:t> Action completes here upon receiving this result.</a:t>
            </a:r>
          </a:p>
          <a:p>
            <a:endParaRPr lang="en-US" dirty="0"/>
          </a:p>
          <a:p>
            <a:r>
              <a:rPr lang="en-US" b="1" dirty="0"/>
              <a:t>But the actual VA response is processed later and sent to separate configured outbound REST endpoint.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CC4FF-645A-8693-75E8-8FE199859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A61AB3-740A-85E2-0009-F3C3BA6A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08" y="3596769"/>
            <a:ext cx="9836728" cy="3167847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BD824CB-D5DE-390B-808B-34A7D439A564}"/>
              </a:ext>
            </a:extLst>
          </p:cNvPr>
          <p:cNvCxnSpPr>
            <a:cxnSpLocks/>
          </p:cNvCxnSpPr>
          <p:nvPr/>
        </p:nvCxnSpPr>
        <p:spPr>
          <a:xfrm rot="5400000">
            <a:off x="835182" y="3801477"/>
            <a:ext cx="3151023" cy="14778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940B-3951-45D9-8C81-BB587A58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Moveworks</a:t>
            </a:r>
            <a:r>
              <a:rPr lang="en-US" dirty="0"/>
              <a:t> Listeners (Webhooks)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C73984-428F-0668-E6C8-E1BD6333160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644071" y="982193"/>
            <a:ext cx="8950037" cy="561946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8128C-56CA-DF4E-8BD9-2A3D56CD2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6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8DC40-F50C-37CD-CC3C-3004B08A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0B59291-517C-570B-3176-87C480D85767}"/>
              </a:ext>
            </a:extLst>
          </p:cNvPr>
          <p:cNvGrpSpPr/>
          <p:nvPr/>
        </p:nvGrpSpPr>
        <p:grpSpPr>
          <a:xfrm>
            <a:off x="147428" y="1421523"/>
            <a:ext cx="11731280" cy="4634751"/>
            <a:chOff x="230556" y="1292214"/>
            <a:chExt cx="11731280" cy="46347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E3116F-DA88-3337-D4C8-55C70B79A6CF}"/>
                </a:ext>
              </a:extLst>
            </p:cNvPr>
            <p:cNvSpPr/>
            <p:nvPr/>
          </p:nvSpPr>
          <p:spPr>
            <a:xfrm>
              <a:off x="7178620" y="3137769"/>
              <a:ext cx="852055" cy="37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Ask Boeing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77B809-9DC3-10DC-DD0E-9FB9AF69A004}"/>
                </a:ext>
              </a:extLst>
            </p:cNvPr>
            <p:cNvSpPr/>
            <p:nvPr/>
          </p:nvSpPr>
          <p:spPr>
            <a:xfrm>
              <a:off x="5780986" y="1292214"/>
              <a:ext cx="3496636" cy="4273572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Ask Boeing (Moveworks)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E777DD-E8E6-9A7B-A166-7C82D2C5285C}"/>
                </a:ext>
              </a:extLst>
            </p:cNvPr>
            <p:cNvSpPr/>
            <p:nvPr/>
          </p:nvSpPr>
          <p:spPr>
            <a:xfrm>
              <a:off x="4254215" y="3754365"/>
              <a:ext cx="852055" cy="3740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SN Virtual Agent API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05A7BC-122A-222F-5EC3-5C54C5B44AE7}"/>
                </a:ext>
              </a:extLst>
            </p:cNvPr>
            <p:cNvSpPr/>
            <p:nvPr/>
          </p:nvSpPr>
          <p:spPr>
            <a:xfrm>
              <a:off x="230556" y="1292214"/>
              <a:ext cx="5184704" cy="427357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ServiceNow</a:t>
              </a:r>
              <a:endParaRPr lang="en-US" sz="12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D1C99D-72C9-7AE2-E862-9E095547BE2F}"/>
                </a:ext>
              </a:extLst>
            </p:cNvPr>
            <p:cNvSpPr/>
            <p:nvPr/>
          </p:nvSpPr>
          <p:spPr>
            <a:xfrm>
              <a:off x="848500" y="1691263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AI Search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2CD379-2696-AB48-B903-B634D2B1DD06}"/>
                </a:ext>
              </a:extLst>
            </p:cNvPr>
            <p:cNvSpPr/>
            <p:nvPr/>
          </p:nvSpPr>
          <p:spPr>
            <a:xfrm>
              <a:off x="864374" y="2599750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ITSM Now Assist Skills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FDEF5C-0C3C-27C1-4A59-E614B21755DB}"/>
                </a:ext>
              </a:extLst>
            </p:cNvPr>
            <p:cNvSpPr/>
            <p:nvPr/>
          </p:nvSpPr>
          <p:spPr>
            <a:xfrm>
              <a:off x="864374" y="3075965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CMDB Now Assist Skills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DDB55E-019D-EA4B-0E1F-27F9DE5AF979}"/>
                </a:ext>
              </a:extLst>
            </p:cNvPr>
            <p:cNvSpPr/>
            <p:nvPr/>
          </p:nvSpPr>
          <p:spPr>
            <a:xfrm>
              <a:off x="6911920" y="1921207"/>
              <a:ext cx="1371600" cy="365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Moveworks indexed Data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C9E372-39A4-89CB-BB38-410616FD25CF}"/>
                </a:ext>
              </a:extLst>
            </p:cNvPr>
            <p:cNvSpPr/>
            <p:nvPr/>
          </p:nvSpPr>
          <p:spPr>
            <a:xfrm>
              <a:off x="6918847" y="3754364"/>
              <a:ext cx="1371600" cy="365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Agent Integration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7AFE35F-C8EE-A68B-34B0-B40081D0D5EE}"/>
                </a:ext>
              </a:extLst>
            </p:cNvPr>
            <p:cNvCxnSpPr>
              <a:cxnSpLocks/>
              <a:stCxn id="14" idx="1"/>
              <a:endCxn id="8" idx="3"/>
            </p:cNvCxnSpPr>
            <p:nvPr/>
          </p:nvCxnSpPr>
          <p:spPr>
            <a:xfrm flipH="1">
              <a:off x="5106270" y="3937244"/>
              <a:ext cx="1812577" cy="41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B2F21B-EC83-4680-F428-61C281A13EF0}"/>
                </a:ext>
              </a:extLst>
            </p:cNvPr>
            <p:cNvSpPr/>
            <p:nvPr/>
          </p:nvSpPr>
          <p:spPr>
            <a:xfrm>
              <a:off x="5916445" y="4535976"/>
              <a:ext cx="3283169" cy="892507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End User Channels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285CCA-19D2-2C5B-8C4C-3229BB43E2C6}"/>
                </a:ext>
              </a:extLst>
            </p:cNvPr>
            <p:cNvSpPr/>
            <p:nvPr/>
          </p:nvSpPr>
          <p:spPr>
            <a:xfrm>
              <a:off x="7134227" y="4888247"/>
              <a:ext cx="852055" cy="2954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My Boeing</a:t>
              </a:r>
            </a:p>
          </p:txBody>
        </p:sp>
        <p:sp>
          <p:nvSpPr>
            <p:cNvPr id="18" name="Flowchart: Magnetic Disk 17">
              <a:extLst>
                <a:ext uri="{FF2B5EF4-FFF2-40B4-BE49-F238E27FC236}">
                  <a16:creationId xmlns:a16="http://schemas.microsoft.com/office/drawing/2014/main" id="{1D5FBC7F-858F-4A19-DDD6-7431D1FD8754}"/>
                </a:ext>
              </a:extLst>
            </p:cNvPr>
            <p:cNvSpPr/>
            <p:nvPr/>
          </p:nvSpPr>
          <p:spPr>
            <a:xfrm>
              <a:off x="4254215" y="1470024"/>
              <a:ext cx="902303" cy="1565775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SN Data</a:t>
              </a:r>
            </a:p>
            <a:p>
              <a:pPr algn="ctr"/>
              <a:endParaRPr lang="en-US" sz="800" dirty="0"/>
            </a:p>
            <a:p>
              <a:pPr algn="ctr"/>
              <a:r>
                <a:rPr lang="en-US" sz="800" dirty="0"/>
                <a:t>KB</a:t>
              </a:r>
            </a:p>
            <a:p>
              <a:pPr algn="ctr"/>
              <a:r>
                <a:rPr lang="en-US" sz="800" dirty="0"/>
                <a:t>INC, RITM, </a:t>
              </a:r>
            </a:p>
            <a:p>
              <a:pPr algn="ctr"/>
              <a:r>
                <a:rPr lang="en-US" sz="800" dirty="0"/>
                <a:t>Cat Item </a:t>
              </a:r>
            </a:p>
            <a:p>
              <a:pPr algn="ctr"/>
              <a:r>
                <a:rPr lang="en-US" sz="800" dirty="0"/>
                <a:t>User</a:t>
              </a:r>
              <a:endParaRPr lang="en-US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B3E7AE-166C-E47C-50B6-99D5240F74B9}"/>
                </a:ext>
              </a:extLst>
            </p:cNvPr>
            <p:cNvSpPr/>
            <p:nvPr/>
          </p:nvSpPr>
          <p:spPr>
            <a:xfrm>
              <a:off x="9701226" y="1292215"/>
              <a:ext cx="2260610" cy="208899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Other Systems</a:t>
              </a:r>
            </a:p>
          </p:txBody>
        </p:sp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FF54F779-B896-544D-BCAE-099EE4388249}"/>
                </a:ext>
              </a:extLst>
            </p:cNvPr>
            <p:cNvSpPr/>
            <p:nvPr/>
          </p:nvSpPr>
          <p:spPr>
            <a:xfrm>
              <a:off x="10498230" y="2091555"/>
              <a:ext cx="739269" cy="527447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Data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9A5A3-C650-9E31-16C3-522D12975EDA}"/>
                </a:ext>
              </a:extLst>
            </p:cNvPr>
            <p:cNvSpPr/>
            <p:nvPr/>
          </p:nvSpPr>
          <p:spPr>
            <a:xfrm>
              <a:off x="10441838" y="2897521"/>
              <a:ext cx="852055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Virtual Agent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BEA448-F19D-0E99-274E-F53A4F66C210}"/>
                </a:ext>
              </a:extLst>
            </p:cNvPr>
            <p:cNvSpPr/>
            <p:nvPr/>
          </p:nvSpPr>
          <p:spPr>
            <a:xfrm>
              <a:off x="8262519" y="4888247"/>
              <a:ext cx="852055" cy="2954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Teams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3BCB98-F528-4789-7F9D-E73CC11FCE1C}"/>
                </a:ext>
              </a:extLst>
            </p:cNvPr>
            <p:cNvSpPr/>
            <p:nvPr/>
          </p:nvSpPr>
          <p:spPr>
            <a:xfrm>
              <a:off x="6005935" y="4891445"/>
              <a:ext cx="852055" cy="29541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GSEP Portal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5C779B-F45E-C994-75B4-E2C1C6B07620}"/>
                </a:ext>
              </a:extLst>
            </p:cNvPr>
            <p:cNvSpPr/>
            <p:nvPr/>
          </p:nvSpPr>
          <p:spPr>
            <a:xfrm>
              <a:off x="2384526" y="3737371"/>
              <a:ext cx="1243684" cy="3740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SN Live Agent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783AEF15-1DAD-F556-48B3-23B0CC97240C}"/>
                </a:ext>
              </a:extLst>
            </p:cNvPr>
            <p:cNvCxnSpPr>
              <a:cxnSpLocks/>
              <a:stCxn id="34" idx="2"/>
              <a:endCxn id="6" idx="0"/>
            </p:cNvCxnSpPr>
            <p:nvPr/>
          </p:nvCxnSpPr>
          <p:spPr>
            <a:xfrm rot="16200000" flipH="1">
              <a:off x="7483387" y="3016507"/>
              <a:ext cx="242521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2B10DFE-9502-CB79-E22A-CC1890433068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 flipH="1">
              <a:off x="7604647" y="3511842"/>
              <a:ext cx="1" cy="2425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2F06F67-E994-7852-4022-31DE632D0A0C}"/>
                </a:ext>
              </a:extLst>
            </p:cNvPr>
            <p:cNvCxnSpPr>
              <a:cxnSpLocks/>
              <a:stCxn id="14" idx="3"/>
              <a:endCxn id="21" idx="1"/>
            </p:cNvCxnSpPr>
            <p:nvPr/>
          </p:nvCxnSpPr>
          <p:spPr>
            <a:xfrm flipV="1">
              <a:off x="8290447" y="3084558"/>
              <a:ext cx="2151391" cy="85268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CFD6CC35-C31C-C5A0-4DEA-C5783843E509}"/>
                </a:ext>
              </a:extLst>
            </p:cNvPr>
            <p:cNvCxnSpPr>
              <a:cxnSpLocks/>
              <a:stCxn id="20" idx="1"/>
              <a:endCxn id="13" idx="3"/>
            </p:cNvCxnSpPr>
            <p:nvPr/>
          </p:nvCxnSpPr>
          <p:spPr>
            <a:xfrm rot="16200000" flipH="1" flipV="1">
              <a:off x="9569427" y="805648"/>
              <a:ext cx="12532" cy="2584345"/>
            </a:xfrm>
            <a:prstGeom prst="bentConnector4">
              <a:avLst>
                <a:gd name="adj1" fmla="val -1824130"/>
                <a:gd name="adj2" fmla="val 7645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D23E83-5432-DC44-006A-C1D30713D0E9}"/>
                </a:ext>
              </a:extLst>
            </p:cNvPr>
            <p:cNvSpPr/>
            <p:nvPr/>
          </p:nvSpPr>
          <p:spPr>
            <a:xfrm>
              <a:off x="5929157" y="3132489"/>
              <a:ext cx="852055" cy="37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LLM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0CA88A-E7B9-6EDB-3394-4CCC88F3DEF0}"/>
                </a:ext>
              </a:extLst>
            </p:cNvPr>
            <p:cNvSpPr/>
            <p:nvPr/>
          </p:nvSpPr>
          <p:spPr>
            <a:xfrm>
              <a:off x="888396" y="4535976"/>
              <a:ext cx="3858898" cy="892507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/>
                <a:t>Fulfiller Channels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5C6BD0-A8D1-0ACA-2867-1E7982ED3787}"/>
                </a:ext>
              </a:extLst>
            </p:cNvPr>
            <p:cNvSpPr/>
            <p:nvPr/>
          </p:nvSpPr>
          <p:spPr>
            <a:xfrm>
              <a:off x="3463281" y="4863119"/>
              <a:ext cx="852055" cy="29541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Now Assist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345AB5-069E-3D03-46F2-A7842B0E54A8}"/>
                </a:ext>
              </a:extLst>
            </p:cNvPr>
            <p:cNvSpPr/>
            <p:nvPr/>
          </p:nvSpPr>
          <p:spPr>
            <a:xfrm>
              <a:off x="1197419" y="4863119"/>
              <a:ext cx="852055" cy="29541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Workspace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AAAEFFF-CD3A-3377-FE53-012C6584F048}"/>
                </a:ext>
              </a:extLst>
            </p:cNvPr>
            <p:cNvSpPr/>
            <p:nvPr/>
          </p:nvSpPr>
          <p:spPr>
            <a:xfrm>
              <a:off x="2330350" y="4863119"/>
              <a:ext cx="852055" cy="2954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Classic UI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77151C-5E56-1893-14E1-B757B64BE9A8}"/>
                </a:ext>
              </a:extLst>
            </p:cNvPr>
            <p:cNvSpPr/>
            <p:nvPr/>
          </p:nvSpPr>
          <p:spPr>
            <a:xfrm>
              <a:off x="6918847" y="2529488"/>
              <a:ext cx="1371600" cy="365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Moveworks Plugin’s</a:t>
              </a:r>
            </a:p>
          </p:txBody>
        </p: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C384C0D1-C905-B580-307E-8EC8046E9B79}"/>
                </a:ext>
              </a:extLst>
            </p:cNvPr>
            <p:cNvCxnSpPr>
              <a:cxnSpLocks/>
              <a:stCxn id="18" idx="4"/>
              <a:endCxn id="13" idx="1"/>
            </p:cNvCxnSpPr>
            <p:nvPr/>
          </p:nvCxnSpPr>
          <p:spPr>
            <a:xfrm flipV="1">
              <a:off x="5156518" y="2104087"/>
              <a:ext cx="1755402" cy="14882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DB74F834-5F33-724D-6CD4-E2A1ADE58FD4}"/>
                </a:ext>
              </a:extLst>
            </p:cNvPr>
            <p:cNvCxnSpPr>
              <a:cxnSpLocks/>
              <a:stCxn id="18" idx="4"/>
              <a:endCxn id="34" idx="1"/>
            </p:cNvCxnSpPr>
            <p:nvPr/>
          </p:nvCxnSpPr>
          <p:spPr>
            <a:xfrm>
              <a:off x="5156518" y="2252912"/>
              <a:ext cx="1762329" cy="45945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FCC43E-8868-2401-0EF0-D73E3302259E}"/>
                </a:ext>
              </a:extLst>
            </p:cNvPr>
            <p:cNvSpPr/>
            <p:nvPr/>
          </p:nvSpPr>
          <p:spPr>
            <a:xfrm>
              <a:off x="9701225" y="3747809"/>
              <a:ext cx="2260611" cy="165144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BCAI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F77D0CD-8F12-1545-EB76-9BBE8647E3B6}"/>
                </a:ext>
              </a:extLst>
            </p:cNvPr>
            <p:cNvSpPr/>
            <p:nvPr/>
          </p:nvSpPr>
          <p:spPr>
            <a:xfrm>
              <a:off x="10493925" y="4157345"/>
              <a:ext cx="852055" cy="374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Chat</a:t>
              </a:r>
            </a:p>
          </p:txBody>
        </p:sp>
        <p:sp>
          <p:nvSpPr>
            <p:cNvPr id="39" name="Flowchart: Magnetic Disk 38">
              <a:extLst>
                <a:ext uri="{FF2B5EF4-FFF2-40B4-BE49-F238E27FC236}">
                  <a16:creationId xmlns:a16="http://schemas.microsoft.com/office/drawing/2014/main" id="{5076F049-3F7A-C573-17AD-AE14D3CF9042}"/>
                </a:ext>
              </a:extLst>
            </p:cNvPr>
            <p:cNvSpPr/>
            <p:nvPr/>
          </p:nvSpPr>
          <p:spPr>
            <a:xfrm>
              <a:off x="10564727" y="4659116"/>
              <a:ext cx="739269" cy="527447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LLM</a:t>
              </a:r>
            </a:p>
          </p:txBody>
        </p:sp>
        <p:sp>
          <p:nvSpPr>
            <p:cNvPr id="40" name="TextBox 27">
              <a:extLst>
                <a:ext uri="{FF2B5EF4-FFF2-40B4-BE49-F238E27FC236}">
                  <a16:creationId xmlns:a16="http://schemas.microsoft.com/office/drawing/2014/main" id="{322691D6-BDA0-A931-F39B-6AE8F318E9A5}"/>
                </a:ext>
              </a:extLst>
            </p:cNvPr>
            <p:cNvSpPr txBox="1"/>
            <p:nvPr/>
          </p:nvSpPr>
          <p:spPr>
            <a:xfrm>
              <a:off x="1745500" y="5649966"/>
              <a:ext cx="10723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In Production</a:t>
              </a:r>
            </a:p>
          </p:txBody>
        </p:sp>
        <p:sp>
          <p:nvSpPr>
            <p:cNvPr id="41" name="TextBox 30">
              <a:extLst>
                <a:ext uri="{FF2B5EF4-FFF2-40B4-BE49-F238E27FC236}">
                  <a16:creationId xmlns:a16="http://schemas.microsoft.com/office/drawing/2014/main" id="{77CDB8EA-5D30-78A7-CD26-6B271CE634E8}"/>
                </a:ext>
              </a:extLst>
            </p:cNvPr>
            <p:cNvSpPr txBox="1"/>
            <p:nvPr/>
          </p:nvSpPr>
          <p:spPr>
            <a:xfrm>
              <a:off x="3957514" y="5635037"/>
              <a:ext cx="12378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In Development</a:t>
              </a:r>
            </a:p>
          </p:txBody>
        </p:sp>
        <p:sp>
          <p:nvSpPr>
            <p:cNvPr id="42" name="TextBox 32">
              <a:extLst>
                <a:ext uri="{FF2B5EF4-FFF2-40B4-BE49-F238E27FC236}">
                  <a16:creationId xmlns:a16="http://schemas.microsoft.com/office/drawing/2014/main" id="{6034FA40-6E80-37D9-8BB1-2154555B55B7}"/>
                </a:ext>
              </a:extLst>
            </p:cNvPr>
            <p:cNvSpPr txBox="1"/>
            <p:nvPr/>
          </p:nvSpPr>
          <p:spPr>
            <a:xfrm>
              <a:off x="6378121" y="5623418"/>
              <a:ext cx="1221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POC Evaluation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F613332-F9A4-A48B-49C2-77E1C576A987}"/>
                </a:ext>
              </a:extLst>
            </p:cNvPr>
            <p:cNvSpPr/>
            <p:nvPr/>
          </p:nvSpPr>
          <p:spPr>
            <a:xfrm>
              <a:off x="1269776" y="5719215"/>
              <a:ext cx="475724" cy="138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220F197-ABE1-B10D-943F-A253C83A9DA9}"/>
                </a:ext>
              </a:extLst>
            </p:cNvPr>
            <p:cNvSpPr/>
            <p:nvPr/>
          </p:nvSpPr>
          <p:spPr>
            <a:xfrm>
              <a:off x="3481790" y="5704286"/>
              <a:ext cx="475724" cy="1385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CF31887-08BD-362C-744A-FB3755DCFB89}"/>
                </a:ext>
              </a:extLst>
            </p:cNvPr>
            <p:cNvSpPr/>
            <p:nvPr/>
          </p:nvSpPr>
          <p:spPr>
            <a:xfrm>
              <a:off x="5916446" y="5692667"/>
              <a:ext cx="475724" cy="1385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3C514D5-AB9F-3428-AB5E-39466D93C374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 flipH="1" flipV="1">
              <a:off x="3628210" y="3924408"/>
              <a:ext cx="626005" cy="13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5CBF853-6887-B762-B08A-B34A3581B66B}"/>
                </a:ext>
              </a:extLst>
            </p:cNvPr>
            <p:cNvCxnSpPr>
              <a:cxnSpLocks/>
              <a:stCxn id="14" idx="3"/>
              <a:endCxn id="38" idx="1"/>
            </p:cNvCxnSpPr>
            <p:nvPr/>
          </p:nvCxnSpPr>
          <p:spPr>
            <a:xfrm>
              <a:off x="8290447" y="3937244"/>
              <a:ext cx="2203478" cy="40713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80B28AF-606E-765E-06DF-3E2FE115E5D7}"/>
                </a:ext>
              </a:extLst>
            </p:cNvPr>
            <p:cNvCxnSpPr>
              <a:stCxn id="29" idx="3"/>
              <a:endCxn id="6" idx="1"/>
            </p:cNvCxnSpPr>
            <p:nvPr/>
          </p:nvCxnSpPr>
          <p:spPr>
            <a:xfrm>
              <a:off x="6781212" y="3319526"/>
              <a:ext cx="397408" cy="52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3FC44B8-4BA6-AC89-B820-09989F269EA9}"/>
                </a:ext>
              </a:extLst>
            </p:cNvPr>
            <p:cNvSpPr/>
            <p:nvPr/>
          </p:nvSpPr>
          <p:spPr>
            <a:xfrm>
              <a:off x="2446828" y="2925312"/>
              <a:ext cx="852055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LLM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32CC94B-C87A-8456-9D07-491E585F55CB}"/>
                </a:ext>
              </a:extLst>
            </p:cNvPr>
            <p:cNvSpPr/>
            <p:nvPr/>
          </p:nvSpPr>
          <p:spPr>
            <a:xfrm>
              <a:off x="848500" y="2132158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Catalog Items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7357CE3-20C6-3328-38D1-52AB7018474C}"/>
                </a:ext>
              </a:extLst>
            </p:cNvPr>
            <p:cNvSpPr/>
            <p:nvPr/>
          </p:nvSpPr>
          <p:spPr>
            <a:xfrm>
              <a:off x="2325271" y="2359011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Now Assist</a:t>
              </a:r>
            </a:p>
          </p:txBody>
        </p:sp>
        <p:sp>
          <p:nvSpPr>
            <p:cNvPr id="52" name="Right Brace 51">
              <a:extLst>
                <a:ext uri="{FF2B5EF4-FFF2-40B4-BE49-F238E27FC236}">
                  <a16:creationId xmlns:a16="http://schemas.microsoft.com/office/drawing/2014/main" id="{81617AE2-FE97-5EAD-0878-DA8A55108DB4}"/>
                </a:ext>
              </a:extLst>
            </p:cNvPr>
            <p:cNvSpPr/>
            <p:nvPr/>
          </p:nvSpPr>
          <p:spPr>
            <a:xfrm>
              <a:off x="2093156" y="1691262"/>
              <a:ext cx="166784" cy="2245981"/>
            </a:xfrm>
            <a:prstGeom prst="rightBrace">
              <a:avLst>
                <a:gd name="adj1" fmla="val 8333"/>
                <a:gd name="adj2" fmla="val 37354"/>
              </a:avLst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48C3D7C-7B85-E350-D645-AEF6DD54D065}"/>
                </a:ext>
              </a:extLst>
            </p:cNvPr>
            <p:cNvCxnSpPr>
              <a:cxnSpLocks/>
              <a:stCxn id="51" idx="2"/>
              <a:endCxn id="49" idx="0"/>
            </p:cNvCxnSpPr>
            <p:nvPr/>
          </p:nvCxnSpPr>
          <p:spPr>
            <a:xfrm flipH="1">
              <a:off x="2872856" y="2733084"/>
              <a:ext cx="1" cy="19222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4" name="Straight Arrow Connector 127">
              <a:extLst>
                <a:ext uri="{FF2B5EF4-FFF2-40B4-BE49-F238E27FC236}">
                  <a16:creationId xmlns:a16="http://schemas.microsoft.com/office/drawing/2014/main" id="{DC7559DB-62A4-81C1-7159-DBA1D6C21A48}"/>
                </a:ext>
              </a:extLst>
            </p:cNvPr>
            <p:cNvCxnSpPr>
              <a:cxnSpLocks/>
              <a:stCxn id="8" idx="1"/>
              <a:endCxn id="51" idx="3"/>
            </p:cNvCxnSpPr>
            <p:nvPr/>
          </p:nvCxnSpPr>
          <p:spPr>
            <a:xfrm rot="10800000">
              <a:off x="3420443" y="2546048"/>
              <a:ext cx="833773" cy="1395354"/>
            </a:xfrm>
            <a:prstGeom prst="bentConnector3">
              <a:avLst>
                <a:gd name="adj1" fmla="val 28398"/>
              </a:avLst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B80CD62D-8C69-1F2C-834C-C5E2DFAE4A50}"/>
                </a:ext>
              </a:extLst>
            </p:cNvPr>
            <p:cNvCxnSpPr>
              <a:cxnSpLocks/>
              <a:stCxn id="20" idx="2"/>
              <a:endCxn id="34" idx="3"/>
            </p:cNvCxnSpPr>
            <p:nvPr/>
          </p:nvCxnSpPr>
          <p:spPr>
            <a:xfrm rot="10800000" flipV="1">
              <a:off x="8290448" y="2355278"/>
              <a:ext cx="2207783" cy="357089"/>
            </a:xfrm>
            <a:prstGeom prst="bentConnector3">
              <a:avLst>
                <a:gd name="adj1" fmla="val 7227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9B8E27F-D730-34FB-BDB2-13DC8E1D54D5}"/>
                </a:ext>
              </a:extLst>
            </p:cNvPr>
            <p:cNvSpPr/>
            <p:nvPr/>
          </p:nvSpPr>
          <p:spPr>
            <a:xfrm>
              <a:off x="841204" y="3567863"/>
              <a:ext cx="1095171" cy="37407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/>
                <a:t>Custom Agents</a:t>
              </a:r>
            </a:p>
          </p:txBody>
        </p: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A9CE1200-B692-180E-6CDD-9DFEE91BCBB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76459" y="2412910"/>
              <a:ext cx="242521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746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19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eing">
      <a:dk1>
        <a:srgbClr val="000000"/>
      </a:dk1>
      <a:lt1>
        <a:srgbClr val="FFFFFF"/>
      </a:lt1>
      <a:dk2>
        <a:srgbClr val="0A2240"/>
      </a:dk2>
      <a:lt2>
        <a:srgbClr val="DAD9D7"/>
      </a:lt2>
      <a:accent1>
        <a:srgbClr val="0033A1"/>
      </a:accent1>
      <a:accent2>
        <a:srgbClr val="009BDF"/>
      </a:accent2>
      <a:accent3>
        <a:srgbClr val="BADCE6"/>
      </a:accent3>
      <a:accent4>
        <a:srgbClr val="BFD857"/>
      </a:accent4>
      <a:accent5>
        <a:srgbClr val="F37120"/>
      </a:accent5>
      <a:accent6>
        <a:srgbClr val="85439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454938D12DA34FAB5E7AF0EF94B0E4" ma:contentTypeVersion="8" ma:contentTypeDescription="Create a new document." ma:contentTypeScope="" ma:versionID="46e184e74dcc2860e561df68a5faaa85">
  <xsd:schema xmlns:xsd="http://www.w3.org/2001/XMLSchema" xmlns:xs="http://www.w3.org/2001/XMLSchema" xmlns:p="http://schemas.microsoft.com/office/2006/metadata/properties" xmlns:ns2="03ac710f-42be-4c16-baa0-177ff0ef70be" xmlns:ns3="548933ca-b380-4a29-b4bd-fc01c0d24bbd" targetNamespace="http://schemas.microsoft.com/office/2006/metadata/properties" ma:root="true" ma:fieldsID="690be1a5fdb430f61e042087786c5a64" ns2:_="" ns3:_="">
    <xsd:import namespace="03ac710f-42be-4c16-baa0-177ff0ef70be"/>
    <xsd:import namespace="548933ca-b380-4a29-b4bd-fc01c0d24bbd"/>
    <xsd:element name="properties">
      <xsd:complexType>
        <xsd:sequence>
          <xsd:element name="documentManagement">
            <xsd:complexType>
              <xsd:all>
                <xsd:element ref="ns2:Projec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c710f-42be-4c16-baa0-177ff0ef70be" elementFormDefault="qualified">
    <xsd:import namespace="http://schemas.microsoft.com/office/2006/documentManagement/types"/>
    <xsd:import namespace="http://schemas.microsoft.com/office/infopath/2007/PartnerControls"/>
    <xsd:element name="ProjectID" ma:index="8" nillable="true" ma:displayName="Project ID" ma:format="Dropdown" ma:internalName="ProjectID">
      <xsd:simpleType>
        <xsd:restriction base="dms:Text">
          <xsd:maxLength value="3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933ca-b380-4a29-b4bd-fc01c0d24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jectID xmlns="03ac710f-42be-4c16-baa0-177ff0ef70b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F7BF5F-1980-47F2-A7ED-862A90FC537A}"/>
</file>

<file path=customXml/itemProps2.xml><?xml version="1.0" encoding="utf-8"?>
<ds:datastoreItem xmlns:ds="http://schemas.openxmlformats.org/officeDocument/2006/customXml" ds:itemID="{4B1DCD3B-BE3B-454F-8C3D-2C1F10973C65}">
  <ds:schemaRefs>
    <ds:schemaRef ds:uri="http://schemas.microsoft.com/office/infopath/2007/PartnerControls"/>
    <ds:schemaRef ds:uri="76d44599-1de7-4366-92cc-03e4d2791b8f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0824b409-a489-41b7-80ba-68913ff47d20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0AFD838-68A6-493A-B7C0-0D159C2383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cf48bba-4d6f-4dee-a0d2-7df59cc36629}" enabled="0" method="" siteId="{bcf48bba-4d6f-4dee-a0d2-7df59cc3662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14264</TotalTime>
  <Words>311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Calibri</vt:lpstr>
      <vt:lpstr>Arial</vt:lpstr>
      <vt:lpstr>BoeingMeso-Regular</vt:lpstr>
      <vt:lpstr>Aptos</vt:lpstr>
      <vt:lpstr>Office Theme</vt:lpstr>
      <vt:lpstr>Moveworks MIM Agent</vt:lpstr>
      <vt:lpstr>Agenda</vt:lpstr>
      <vt:lpstr>MIM Moveworks Plugin</vt:lpstr>
      <vt:lpstr>Find By Date Plugin</vt:lpstr>
      <vt:lpstr>Summarize Incident Plugin</vt:lpstr>
      <vt:lpstr>Add Comment to Incident VA Bot</vt:lpstr>
      <vt:lpstr>Example</vt:lpstr>
      <vt:lpstr>Example Result</vt:lpstr>
      <vt:lpstr>Integration Moveworks and SN VA API</vt:lpstr>
      <vt:lpstr>Moveworks Listeners (Webhooks)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EXI-Chaturvedi, Mayank</cp:lastModifiedBy>
  <cp:revision>675</cp:revision>
  <cp:lastPrinted>2025-09-29T19:36:32Z</cp:lastPrinted>
  <dcterms:created xsi:type="dcterms:W3CDTF">2025-07-23T19:03:15Z</dcterms:created>
  <dcterms:modified xsi:type="dcterms:W3CDTF">2025-11-10T11:56:37Z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0x010100A0454938D12DA34FAB5E7AF0EF94B0E4</vt:lpwstr>
  </property>
  <property fmtid="{D5CDD505-2E9C-101B-9397-08002B2CF9AE}" pid="3" name="MediaServiceImageTags">
    <vt:lpwstr/>
  </property>
</Properties>
</file>